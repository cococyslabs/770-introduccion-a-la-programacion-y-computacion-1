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12"/>
    <p:sldId id="301" r:id="rId11"/>
    <p:sldId id="281" r:id="rId31"/>
  </p:sldIdLst>
  <p:sldSz cy="10287000" cx="18288000"/>
  <p:notesSz cx="6858000" cy="9144000"/>
  <p:embeddedFontLst>
    <p:embeddedFont>
      <p:font typeface="Pacifico"/>
      <p:regular r:id="rId32"/>
    </p:embeddedFont>
    <p:embeddedFont>
      <p:font typeface="Open Sans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fDAikaUJEbXJkzQpxjHlQktNB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1" Type="http://schemas.openxmlformats.org/officeDocument/2006/relationships/slide" Target="slides/slide23.xml"/><Relationship Id="rId12" Type="http://schemas.openxmlformats.org/officeDocument/2006/relationships/slide" Target="slides/slide22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6.xml"/><Relationship Id="rId32" Type="http://schemas.openxmlformats.org/officeDocument/2006/relationships/font" Target="fonts/Pacifico-regular.fntdata"/><Relationship Id="rId33" Type="http://schemas.openxmlformats.org/officeDocument/2006/relationships/font" Target="fonts/OpenSans-bold.fntdata"/><Relationship Id="rId34" Type="http://schemas.openxmlformats.org/officeDocument/2006/relationships/font" Target="fonts/OpenSans-boldItalic.fntdata"/><Relationship Id="rId35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latin typeface="Calibri"/>
              </a:rPr>
              <a:t>Operaciones según 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O(n)</c:v>
                </c:pt>
              </c:strCache>
            </c:strRef>
          </c:tx>
          <c:spPr>
            <a:ln w="38100">
              <a:solidFill>
                <a:srgbClr val="2E8B57"/>
              </a:solidFill>
            </a:ln>
          </c:spPr>
          <c:marker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O(n²)</c:v>
                </c:pt>
              </c:strCache>
            </c:strRef>
          </c:tx>
          <c:spPr>
            <a:ln w="38100">
              <a:solidFill>
                <a:srgbClr val="1F4E79"/>
              </a:solidFill>
            </a:ln>
          </c:spPr>
          <c:marker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O(2ⁿ)</c:v>
                </c:pt>
              </c:strCache>
            </c:strRef>
          </c:tx>
          <c:spPr>
            <a:ln w="38100">
              <a:solidFill>
                <a:srgbClr val="E8772E"/>
              </a:solidFill>
            </a:ln>
          </c:spPr>
          <c:marker>
            <c:spPr>
              <a:solidFill>
                <a:srgbClr val="E8772E"/>
              </a:solidFill>
              <a:ln>
                <a:solidFill>
                  <a:srgbClr val="E8772E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  <c:pt idx="6">
                  <c:v>128</c:v>
                </c:pt>
                <c:pt idx="7">
                  <c:v>256</c:v>
                </c:pt>
                <c:pt idx="8">
                  <c:v>512</c:v>
                </c:pt>
                <c:pt idx="9">
                  <c:v>1024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600" b="0">
                    <a:latin typeface="Calibri"/>
                  </a:rPr>
                  <a:t>n (tamaño de la entrada)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59607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59607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8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5" name="Google Shape;105;p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Relacionar cada competencia con la actividad de ordenamiento burbuja.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minutos. Preguntar: ¿qué hacen cuando un error no se resuelve después de varios intentos?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la analogía de la fila: cada persona pregunta a la de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Señalar que n - 1 es lo que acerca la llamada al caso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Hacer la traza en la pizarra o con el depurador de NetBeans/IntelliJ (panel Call Stack).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Ejecutar el código sin caso base y mostrar el mensaje. Relacionar con el valor de la perseverancia.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Contar en el árbol cuántas veces se calcula fib(2). Introduce la idea de complejidad.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 algoritmo recursivo puede escribirse de forma iterativa (y viceversa).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en la gráfica cómo O(n²) y O(2ⁿ) se disparan aun con n pequeño.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la primera pasada paso a paso. Preguntar: ¿qué número queda en su lugar al final?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bandera huboCambio permite terminar antes si el arreglo ya está ordenado.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que los datos del arreglo se pierden al cerrar el programa; el archivo los conserva.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Crear datos.txt con un número por línea antes de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el archivo generado para verificar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Análisis y síntesis: pedir que un estudiante explique cada concepto con un ejemplo.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Ejercicio demostrativo (20 min). Une todos los temas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la actividad con la plantilla DTT. Resolver dudas antes de iniciar.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Compartir los enlaces en el foro semanal.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4" name="Google Shape;494;p2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oracle.com/javase/tutorial/essential/io/" TargetMode="External"/><Relationship Id="rId4" Type="http://schemas.openxmlformats.org/officeDocument/2006/relationships/hyperlink" Target="https://visualgo.net/en/sorting" TargetMode="External"/><Relationship Id="rId5" Type="http://schemas.openxmlformats.org/officeDocument/2006/relationships/hyperlink" Target="https://pythontutor.com/java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cs.oracle.com/javase/tutorial/essential/io/" TargetMode="External"/><Relationship Id="rId3" Type="http://schemas.openxmlformats.org/officeDocument/2006/relationships/hyperlink" Target="https://docs.oracle.com/javase/tutorial/essential/exceptions/" TargetMode="External"/><Relationship Id="rId4" Type="http://schemas.openxmlformats.org/officeDocument/2006/relationships/hyperlink" Target="https://visualgo.net/en/sorting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2541309" y="0"/>
            <a:ext cx="5746718" cy="1711738"/>
          </a:xfrm>
          <a:custGeom>
            <a:rect b="b" l="l" r="r" t="t"/>
            <a:pathLst>
              <a:path extrusionOk="0" h="2282317" w="7662291">
                <a:moveTo>
                  <a:pt x="0" y="0"/>
                </a:moveTo>
                <a:lnTo>
                  <a:pt x="7662291" y="0"/>
                </a:lnTo>
                <a:lnTo>
                  <a:pt x="7662291" y="2282317"/>
                </a:lnTo>
                <a:lnTo>
                  <a:pt x="0" y="2282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1081353" y="284324"/>
            <a:ext cx="11459956" cy="2018550"/>
            <a:chOff x="0" y="-228600"/>
            <a:chExt cx="17457600" cy="269140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7457600" cy="2462800"/>
            </a:xfrm>
            <a:custGeom>
              <a:rect b="b" l="l" r="r" t="t"/>
              <a:pathLst>
                <a:path extrusionOk="0" h="2462800" w="17457600">
                  <a:moveTo>
                    <a:pt x="0" y="0"/>
                  </a:moveTo>
                  <a:lnTo>
                    <a:pt x="17457600" y="0"/>
                  </a:lnTo>
                  <a:lnTo>
                    <a:pt x="17457600" y="2462800"/>
                  </a:lnTo>
                  <a:lnTo>
                    <a:pt x="0" y="246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228600"/>
              <a:ext cx="17457600" cy="26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9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Introducción a la Programación y Computación 1</a:t>
              </a:r>
              <a:endParaRPr/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2687399" y="3701337"/>
            <a:ext cx="13860001" cy="2813209"/>
            <a:chOff x="0" y="-285750"/>
            <a:chExt cx="18480001" cy="3750944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8480001" cy="3465194"/>
            </a:xfrm>
            <a:custGeom>
              <a:rect b="b" l="l" r="r" t="t"/>
              <a:pathLst>
                <a:path extrusionOk="0" h="3465194" w="18480001">
                  <a:moveTo>
                    <a:pt x="0" y="0"/>
                  </a:moveTo>
                  <a:lnTo>
                    <a:pt x="18480001" y="0"/>
                  </a:lnTo>
                  <a:lnTo>
                    <a:pt x="18480001" y="3465194"/>
                  </a:lnTo>
                  <a:lnTo>
                    <a:pt x="0" y="34651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285750"/>
              <a:ext cx="18480000" cy="3750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1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Recursividad y Archivos en Java</a:t>
              </a:r>
              <a:endParaRPr b="1" sz="6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1081353" y="8455051"/>
            <a:ext cx="6981300" cy="1547625"/>
            <a:chOff x="0" y="-114300"/>
            <a:chExt cx="9308400" cy="206350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9308400" cy="1949200"/>
            </a:xfrm>
            <a:custGeom>
              <a:rect b="b" l="l" r="r" t="t"/>
              <a:pathLst>
                <a:path extrusionOk="0" h="1949200" w="9308400">
                  <a:moveTo>
                    <a:pt x="0" y="0"/>
                  </a:moveTo>
                  <a:lnTo>
                    <a:pt x="9308400" y="0"/>
                  </a:lnTo>
                  <a:lnTo>
                    <a:pt x="9308400" y="1949200"/>
                  </a:lnTo>
                  <a:lnTo>
                    <a:pt x="0" y="194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-114300"/>
              <a:ext cx="9308400" cy="20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/>
            </a:p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Ingeniería</a:t>
              </a:r>
              <a:endParaRPr/>
            </a:p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Ciencias Y Sistemas</a:t>
              </a:r>
              <a:endParaRPr/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2688336" y="6400800"/>
            <a:ext cx="13862304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E8772E"/>
                </a:solidFill>
                <a:latin typeface="Open Sans"/>
              </a:rPr>
              <a:t>Semana 6  ·  Unidad 3: Avanzado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176619" y="4699462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1600200" y="4383037"/>
            <a:ext cx="9827590" cy="1002729"/>
            <a:chOff x="0" y="-209550"/>
            <a:chExt cx="13103453" cy="1336971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3103453" cy="1127421"/>
            </a:xfrm>
            <a:custGeom>
              <a:rect b="b" l="l" r="r" t="t"/>
              <a:pathLst>
                <a:path extrusionOk="0" h="1127421" w="13103453">
                  <a:moveTo>
                    <a:pt x="0" y="0"/>
                  </a:moveTo>
                  <a:lnTo>
                    <a:pt x="13103453" y="0"/>
                  </a:lnTo>
                  <a:lnTo>
                    <a:pt x="13103453" y="1127421"/>
                  </a:lnTo>
                  <a:lnTo>
                    <a:pt x="0" y="112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209550"/>
              <a:ext cx="13103453" cy="1336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¿Qué es la recursividad?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87865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866989" y="3303305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866989" y="2856821"/>
            <a:ext cx="3681207" cy="1713646"/>
            <a:chOff x="0" y="-209550"/>
            <a:chExt cx="4908276" cy="2284862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209550"/>
              <a:ext cx="4908276" cy="228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651754" y="3429735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" l="0" r="0" t="-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2"/>
          <p:cNvGrpSpPr/>
          <p:nvPr/>
        </p:nvGrpSpPr>
        <p:grpSpPr>
          <a:xfrm>
            <a:off x="380356" y="99554"/>
            <a:ext cx="7894893" cy="5241017"/>
            <a:chOff x="-246123" y="-257175"/>
            <a:chExt cx="10526524" cy="6988023"/>
          </a:xfrm>
        </p:grpSpPr>
        <p:sp>
          <p:nvSpPr>
            <p:cNvPr id="121" name="Google Shape;121;p2"/>
            <p:cNvSpPr/>
            <p:nvPr/>
          </p:nvSpPr>
          <p:spPr>
            <a:xfrm>
              <a:off x="-246123" y="1307948"/>
              <a:ext cx="10280401" cy="5422900"/>
            </a:xfrm>
            <a:custGeom>
              <a:rect b="b" l="l" r="r" t="t"/>
              <a:pathLst>
                <a:path extrusionOk="0" h="5422900" w="10280401">
                  <a:moveTo>
                    <a:pt x="0" y="0"/>
                  </a:moveTo>
                  <a:lnTo>
                    <a:pt x="10280401" y="0"/>
                  </a:lnTo>
                  <a:lnTo>
                    <a:pt x="10280401" y="5422900"/>
                  </a:lnTo>
                  <a:lnTo>
                    <a:pt x="0" y="542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257175"/>
              <a:ext cx="10280401" cy="568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7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131416"/>
                  </a:solidFill>
                  <a:latin typeface="Pacifico"/>
                  <a:ea typeface="Pacifico"/>
                  <a:cs typeface="Pacifico"/>
                  <a:sym typeface="Pacifico"/>
                </a:rPr>
                <a:t>Agenda</a:t>
              </a:r>
              <a:endParaRPr/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176619" y="5623280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1600200" y="5170645"/>
            <a:ext cx="7072456" cy="1002729"/>
            <a:chOff x="0" y="-209550"/>
            <a:chExt cx="9429941" cy="1336971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9429941" cy="1127421"/>
            </a:xfrm>
            <a:custGeom>
              <a:rect b="b" l="l" r="r" t="t"/>
              <a:pathLst>
                <a:path extrusionOk="0" h="1127421" w="9429941">
                  <a:moveTo>
                    <a:pt x="0" y="0"/>
                  </a:moveTo>
                  <a:lnTo>
                    <a:pt x="9429941" y="0"/>
                  </a:lnTo>
                  <a:lnTo>
                    <a:pt x="9429941" y="1127421"/>
                  </a:lnTo>
                  <a:lnTo>
                    <a:pt x="0" y="112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-209550"/>
              <a:ext cx="9429940" cy="1336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Caso base y caso recursivo</a:t>
              </a:r>
              <a:endParaRPr/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176625" y="6604851"/>
            <a:ext cx="5805583" cy="666369"/>
          </a:xfrm>
          <a:custGeom>
            <a:rect b="b" l="l" r="r" t="t"/>
            <a:pathLst>
              <a:path extrusionOk="0" h="888492" w="7740777">
                <a:moveTo>
                  <a:pt x="6940042" y="0"/>
                </a:moveTo>
                <a:lnTo>
                  <a:pt x="0" y="0"/>
                </a:lnTo>
                <a:lnTo>
                  <a:pt x="0" y="888492"/>
                </a:lnTo>
                <a:lnTo>
                  <a:pt x="6940042" y="888492"/>
                </a:lnTo>
                <a:lnTo>
                  <a:pt x="7740777" y="444246"/>
                </a:lnTo>
                <a:lnTo>
                  <a:pt x="694004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1600200" y="6066273"/>
            <a:ext cx="5805290" cy="1002731"/>
            <a:chOff x="0" y="-209550"/>
            <a:chExt cx="7740387" cy="1336974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7740387" cy="1127424"/>
            </a:xfrm>
            <a:custGeom>
              <a:rect b="b" l="l" r="r" t="t"/>
              <a:pathLst>
                <a:path extrusionOk="0" h="1127424" w="7740387">
                  <a:moveTo>
                    <a:pt x="0" y="0"/>
                  </a:moveTo>
                  <a:lnTo>
                    <a:pt x="7740387" y="0"/>
                  </a:lnTo>
                  <a:lnTo>
                    <a:pt x="7740387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209550"/>
              <a:ext cx="7740387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 pila de ejecución</a:t>
              </a:r>
              <a:endParaRPr/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148712" y="7528433"/>
            <a:ext cx="8213408" cy="666369"/>
          </a:xfrm>
          <a:custGeom>
            <a:rect b="b" l="l" r="r" t="t"/>
            <a:pathLst>
              <a:path extrusionOk="0" h="888492" w="10951210">
                <a:moveTo>
                  <a:pt x="9818243" y="0"/>
                </a:moveTo>
                <a:lnTo>
                  <a:pt x="0" y="0"/>
                </a:lnTo>
                <a:lnTo>
                  <a:pt x="0" y="888492"/>
                </a:lnTo>
                <a:lnTo>
                  <a:pt x="9818243" y="888492"/>
                </a:lnTo>
                <a:lnTo>
                  <a:pt x="10951210" y="444246"/>
                </a:lnTo>
                <a:lnTo>
                  <a:pt x="981824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1600200" y="7192111"/>
            <a:ext cx="8058586" cy="1002731"/>
            <a:chOff x="0" y="-209550"/>
            <a:chExt cx="10744782" cy="1336974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0744782" cy="1127424"/>
            </a:xfrm>
            <a:custGeom>
              <a:rect b="b" l="l" r="r" t="t"/>
              <a:pathLst>
                <a:path extrusionOk="0" h="1127424" w="10744782">
                  <a:moveTo>
                    <a:pt x="0" y="0"/>
                  </a:moveTo>
                  <a:lnTo>
                    <a:pt x="10744782" y="0"/>
                  </a:lnTo>
                  <a:lnTo>
                    <a:pt x="10744782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209550"/>
              <a:ext cx="10744782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Recursividad vs iteración</a:t>
              </a:r>
              <a:endParaRPr/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453114" y="8591895"/>
            <a:ext cx="12167330" cy="666369"/>
          </a:xfrm>
          <a:custGeom>
            <a:rect b="b" l="l" r="r" t="t"/>
            <a:pathLst>
              <a:path extrusionOk="0" h="888492" w="16223107">
                <a:moveTo>
                  <a:pt x="14544802" y="0"/>
                </a:moveTo>
                <a:lnTo>
                  <a:pt x="0" y="0"/>
                </a:lnTo>
                <a:lnTo>
                  <a:pt x="0" y="888492"/>
                </a:lnTo>
                <a:lnTo>
                  <a:pt x="14544802" y="888492"/>
                </a:lnTo>
                <a:lnTo>
                  <a:pt x="16223107" y="444246"/>
                </a:lnTo>
                <a:lnTo>
                  <a:pt x="145448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2"/>
          <p:cNvGrpSpPr/>
          <p:nvPr/>
        </p:nvGrpSpPr>
        <p:grpSpPr>
          <a:xfrm>
            <a:off x="1600200" y="8255762"/>
            <a:ext cx="11458587" cy="1002694"/>
            <a:chOff x="0" y="-209550"/>
            <a:chExt cx="15278116" cy="1336926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5278116" cy="1127376"/>
            </a:xfrm>
            <a:custGeom>
              <a:rect b="b" l="l" r="r" t="t"/>
              <a:pathLst>
                <a:path extrusionOk="0" h="1127376" w="15278116">
                  <a:moveTo>
                    <a:pt x="0" y="0"/>
                  </a:moveTo>
                  <a:lnTo>
                    <a:pt x="15278116" y="0"/>
                  </a:lnTo>
                  <a:lnTo>
                    <a:pt x="15278116" y="1127376"/>
                  </a:lnTo>
                  <a:lnTo>
                    <a:pt x="0" y="1127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0" y="-209550"/>
              <a:ext cx="15278115" cy="1336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Complejidad temporal (Big O)</a:t>
              </a:r>
              <a:endParaRPr/>
            </a:p>
          </p:txBody>
        </p:sp>
      </p:grpSp>
      <p:sp>
        <p:nvSpPr>
          <p:cNvPr id="139" name="Google Shape;139;p2"/>
          <p:cNvSpPr/>
          <p:nvPr/>
        </p:nvSpPr>
        <p:spPr>
          <a:xfrm>
            <a:off x="878654" y="562328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78654" y="66048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78654" y="760463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878654" y="860554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0177169" y="4699461"/>
            <a:ext cx="4613625" cy="666369"/>
          </a:xfrm>
          <a:custGeom>
            <a:rect b="b" l="l" r="r" t="t"/>
            <a:pathLst>
              <a:path extrusionOk="0" h="888492" w="6151499">
                <a:moveTo>
                  <a:pt x="5515102" y="0"/>
                </a:moveTo>
                <a:lnTo>
                  <a:pt x="0" y="0"/>
                </a:lnTo>
                <a:lnTo>
                  <a:pt x="0" y="888492"/>
                </a:lnTo>
                <a:lnTo>
                  <a:pt x="5515102" y="888492"/>
                </a:lnTo>
                <a:lnTo>
                  <a:pt x="6151499" y="444246"/>
                </a:lnTo>
                <a:lnTo>
                  <a:pt x="55151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2"/>
          <p:cNvGrpSpPr/>
          <p:nvPr/>
        </p:nvGrpSpPr>
        <p:grpSpPr>
          <a:xfrm>
            <a:off x="11430000" y="4383013"/>
            <a:ext cx="4613278" cy="1002731"/>
            <a:chOff x="0" y="-209550"/>
            <a:chExt cx="6151038" cy="1336974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6151038" cy="1127424"/>
            </a:xfrm>
            <a:custGeom>
              <a:rect b="b" l="l" r="r" t="t"/>
              <a:pathLst>
                <a:path extrusionOk="0" h="1127424" w="6151038">
                  <a:moveTo>
                    <a:pt x="0" y="0"/>
                  </a:moveTo>
                  <a:lnTo>
                    <a:pt x="6151038" y="0"/>
                  </a:lnTo>
                  <a:lnTo>
                    <a:pt x="6151038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0" y="-209550"/>
              <a:ext cx="6151038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Ordenamiento burbuja</a:t>
              </a:r>
              <a:endParaRPr/>
            </a:p>
          </p:txBody>
        </p:sp>
      </p:grpSp>
      <p:sp>
        <p:nvSpPr>
          <p:cNvPr id="147" name="Google Shape;147;p2"/>
          <p:cNvSpPr/>
          <p:nvPr/>
        </p:nvSpPr>
        <p:spPr>
          <a:xfrm>
            <a:off x="1072190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10019869" y="5632375"/>
            <a:ext cx="4613624" cy="666369"/>
          </a:xfrm>
          <a:custGeom>
            <a:rect b="b" l="l" r="r" t="t"/>
            <a:pathLst>
              <a:path extrusionOk="0" h="888492" w="6151499">
                <a:moveTo>
                  <a:pt x="5515102" y="0"/>
                </a:moveTo>
                <a:lnTo>
                  <a:pt x="0" y="0"/>
                </a:lnTo>
                <a:lnTo>
                  <a:pt x="0" y="888492"/>
                </a:lnTo>
                <a:lnTo>
                  <a:pt x="5515102" y="888492"/>
                </a:lnTo>
                <a:lnTo>
                  <a:pt x="6151499" y="444246"/>
                </a:lnTo>
                <a:lnTo>
                  <a:pt x="55151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2"/>
          <p:cNvGrpSpPr/>
          <p:nvPr/>
        </p:nvGrpSpPr>
        <p:grpSpPr>
          <a:xfrm>
            <a:off x="11430000" y="5228604"/>
            <a:ext cx="5095252" cy="1002731"/>
            <a:chOff x="0" y="-209550"/>
            <a:chExt cx="6793669" cy="1336974"/>
          </a:xfrm>
        </p:grpSpPr>
        <p:sp>
          <p:nvSpPr>
            <p:cNvPr id="150" name="Google Shape;150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 txBox="1"/>
            <p:nvPr/>
          </p:nvSpPr>
          <p:spPr>
            <a:xfrm>
              <a:off x="0" y="-209550"/>
              <a:ext cx="6793669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Archivos en Java</a:t>
              </a:r>
              <a:endParaRPr/>
            </a:p>
          </p:txBody>
        </p:sp>
      </p:grpSp>
      <p:sp>
        <p:nvSpPr>
          <p:cNvPr id="152" name="Google Shape;152;p2"/>
          <p:cNvSpPr/>
          <p:nvPr/>
        </p:nvSpPr>
        <p:spPr>
          <a:xfrm>
            <a:off x="10721904" y="56733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2"/>
          <p:cNvGrpSpPr/>
          <p:nvPr/>
        </p:nvGrpSpPr>
        <p:grpSpPr>
          <a:xfrm>
            <a:off x="11430000" y="6268529"/>
            <a:ext cx="5095252" cy="1002731"/>
            <a:chOff x="0" y="-209550"/>
            <a:chExt cx="6793669" cy="1336974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0" y="-209550"/>
              <a:ext cx="6793669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de archivos</a:t>
              </a:r>
              <a:endParaRPr/>
            </a:p>
          </p:txBody>
        </p:sp>
      </p:grpSp>
      <p:sp>
        <p:nvSpPr>
          <p:cNvPr id="156" name="Google Shape;156;p2"/>
          <p:cNvSpPr/>
          <p:nvPr/>
        </p:nvSpPr>
        <p:spPr>
          <a:xfrm>
            <a:off x="10721904" y="6713267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2"/>
          <p:cNvGrpSpPr/>
          <p:nvPr/>
        </p:nvGrpSpPr>
        <p:grpSpPr>
          <a:xfrm>
            <a:off x="11430000" y="7133148"/>
            <a:ext cx="5095252" cy="1002730"/>
            <a:chOff x="0" y="-209550"/>
            <a:chExt cx="6793669" cy="1336974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0" y="-209550"/>
              <a:ext cx="6793669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Escritura de archivos</a:t>
              </a:r>
              <a:endParaRPr/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10721904" y="757788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" name="Google Shape;161;p2"/>
          <p:cNvGrpSpPr/>
          <p:nvPr/>
        </p:nvGrpSpPr>
        <p:grpSpPr>
          <a:xfrm>
            <a:off x="11430000" y="8433181"/>
            <a:ext cx="6739153" cy="1002730"/>
            <a:chOff x="0" y="-209550"/>
            <a:chExt cx="8985538" cy="1336974"/>
          </a:xfrm>
        </p:grpSpPr>
        <p:sp>
          <p:nvSpPr>
            <p:cNvPr id="162" name="Google Shape;162;p2"/>
            <p:cNvSpPr/>
            <p:nvPr/>
          </p:nvSpPr>
          <p:spPr>
            <a:xfrm>
              <a:off x="0" y="0"/>
              <a:ext cx="8985538" cy="1127424"/>
            </a:xfrm>
            <a:custGeom>
              <a:rect b="b" l="l" r="r" t="t"/>
              <a:pathLst>
                <a:path extrusionOk="0" h="1127424" w="8985538">
                  <a:moveTo>
                    <a:pt x="0" y="0"/>
                  </a:moveTo>
                  <a:lnTo>
                    <a:pt x="8985538" y="0"/>
                  </a:lnTo>
                  <a:lnTo>
                    <a:pt x="8985538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0" y="-209550"/>
              <a:ext cx="8985538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 y actividad práctica</a:t>
              </a:r>
              <a:endParaRPr/>
            </a:p>
          </p:txBody>
        </p:sp>
      </p:grpSp>
      <p:sp>
        <p:nvSpPr>
          <p:cNvPr id="164" name="Google Shape;164;p2"/>
          <p:cNvSpPr/>
          <p:nvPr/>
        </p:nvSpPr>
        <p:spPr>
          <a:xfrm>
            <a:off x="10721904" y="87282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Competencias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0" i="0">
                <a:solidFill>
                  <a:srgbClr val="596070"/>
                </a:solidFill>
                <a:latin typeface="Calibri"/>
              </a:rPr>
              <a:t>Al finalizar esta sesión, el estudiante será capaz de: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108960"/>
            <a:ext cx="4937760" cy="5760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3474720"/>
            <a:ext cx="914400" cy="9144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572000"/>
            <a:ext cx="4206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 i="0">
                <a:solidFill>
                  <a:srgbClr val="E8772E"/>
                </a:solidFill>
                <a:latin typeface="Calibri"/>
              </a:rPr>
              <a:t>Analiza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5394960"/>
            <a:ext cx="42062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Estructuras de datos y algoritmos, estimando su complejidad temporal para optimizar el rendimiento y la eficiencia.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108960"/>
            <a:ext cx="4937760" cy="5760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0" y="3474720"/>
            <a:ext cx="914400" cy="9144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572000"/>
            <a:ext cx="4206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 i="0">
                <a:solidFill>
                  <a:srgbClr val="E8772E"/>
                </a:solidFill>
                <a:latin typeface="Calibri"/>
              </a:rPr>
              <a:t>Implementa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5394960"/>
            <a:ext cx="42062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Soluciones recursivas y programas que leen y escriben archivos en Java, cuidando la integridad de los datos.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0" y="3108960"/>
            <a:ext cx="4937760" cy="5760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44400" y="3474720"/>
            <a:ext cx="914400" cy="9144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0" y="4572000"/>
            <a:ext cx="4206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 i="0">
                <a:solidFill>
                  <a:srgbClr val="E8772E"/>
                </a:solidFill>
                <a:latin typeface="Calibri"/>
              </a:rPr>
              <a:t>Compara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5394960"/>
            <a:ext cx="42062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Soluciones recursivas e iterativas para elegir la más adecuada según memoria, claridad y rendimiento.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Valor de la semana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94560"/>
            <a:ext cx="6035040" cy="7132320"/>
          </a:xfrm>
          <a:prstGeom prst="roundRect">
            <a:avLst>
              <a:gd name="adj" fmla="val 5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VALOR DE LA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5600" b="1" i="0">
                <a:solidFill>
                  <a:srgbClr val="FFFFFF"/>
                </a:solidFill>
                <a:latin typeface="Impact"/>
              </a:rPr>
              <a:t>Perseverancia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512064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900" b="0" i="0">
                <a:solidFill>
                  <a:srgbClr val="FFFFFF"/>
                </a:solidFill>
                <a:latin typeface="Calibri"/>
              </a:rPr>
              <a:t>Mantener el esfuerzo ante las dificultades hasta alcanzar la meta.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94560"/>
            <a:ext cx="8869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¿Cómo se relaciona con el tema?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926080"/>
            <a:ext cx="88696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Entender la recursividad y depurar la pila de ejecución suele causar frustración al inicio. Dominar estos temas requiere paciencia y práctica constante.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394960"/>
            <a:ext cx="8869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En la práctica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126480"/>
            <a:ext cx="88696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lnSpc>
                <a:spcPct val="105000"/>
              </a:lnSpc>
              <a:spcAft>
                <a:spcPts val="800"/>
              </a:spcAft>
              <a:buClr>
                <a:srgbClr val="E8772E"/>
              </a:buClr>
              <a:buFont typeface="Arial"/>
              <a:buChar char="•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No rendirse ante un StackOverflowError: es una pista, no un fracaso.</a:t>
            </a:r>
          </a:p>
          <a:p>
            <a:pPr algn="l" marL="365760" indent="-365760">
              <a:lnSpc>
                <a:spcPct val="105000"/>
              </a:lnSpc>
              <a:spcAft>
                <a:spcPts val="800"/>
              </a:spcAft>
              <a:buClr>
                <a:srgbClr val="E8772E"/>
              </a:buClr>
              <a:buFont typeface="Arial"/>
              <a:buChar char="•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Rastrear con paciencia cada llamada hasta encontrar el caso base correcto.</a:t>
            </a:r>
          </a:p>
          <a:p>
            <a:pPr algn="l" marL="365760" indent="-365760">
              <a:lnSpc>
                <a:spcPct val="105000"/>
              </a:lnSpc>
              <a:spcAft>
                <a:spcPts val="800"/>
              </a:spcAft>
              <a:buClr>
                <a:srgbClr val="E8772E"/>
              </a:buClr>
              <a:buFont typeface="Arial"/>
              <a:buChar char="•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Iterar sobre el código buscando la solución más eficiente, no solo la primera que funciona.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¿Qué es la recursividad?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84124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900" b="0" i="0">
                <a:solidFill>
                  <a:srgbClr val="131416"/>
                </a:solidFill>
                <a:latin typeface="Calibri"/>
              </a:rPr>
              <a:t>Un método es </a:t>
            </a:r>
            <a:r>
              <a:rPr sz="2900" b="1" i="0">
                <a:solidFill>
                  <a:srgbClr val="E8772E"/>
                </a:solidFill>
                <a:latin typeface="Calibri"/>
              </a:rPr>
              <a:t>recursivo</a:t>
            </a:r>
            <a:r>
              <a:rPr sz="2900" b="0" i="0">
                <a:solidFill>
                  <a:srgbClr val="131416"/>
                </a:solidFill>
                <a:latin typeface="Calibri"/>
              </a:rPr>
              <a:t> cuando se llama a sí mismo para resolver una versión </a:t>
            </a:r>
            <a:r>
              <a:rPr sz="2900" b="1" i="0">
                <a:solidFill>
                  <a:srgbClr val="E8772E"/>
                </a:solidFill>
                <a:latin typeface="Calibri"/>
              </a:rPr>
              <a:t>más pequeña</a:t>
            </a:r>
            <a:r>
              <a:rPr sz="2900" b="0" i="0">
                <a:solidFill>
                  <a:srgbClr val="131416"/>
                </a:solidFill>
                <a:latin typeface="Calibri"/>
              </a:rPr>
              <a:t> del mismo problema, hasta llegar a un caso tan simple que se resuelve directamente.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937760"/>
            <a:ext cx="8412480" cy="43891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31416"/>
                </a:solidFill>
                <a:latin typeface="Calibri"/>
              </a:rPr>
              <a:t>Analogía: la fila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¿Cuántas personas hay delante de mí? Le pregunto a quien está adelante; esa persona pregunta a la siguiente…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La primera de la fila responde «0» (caso base) y cada quien suma 1 al regresar la respuesta.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2194560"/>
            <a:ext cx="6400800" cy="71323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19" y="228600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31416"/>
                </a:solidFill>
                <a:latin typeface="Courier New"/>
              </a:rP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47120" y="3017520"/>
            <a:ext cx="5120640" cy="5943600"/>
          </a:xfrm>
          <a:prstGeom prst="roundRect">
            <a:avLst>
              <a:gd name="adj" fmla="val 8000"/>
            </a:avLst>
          </a:prstGeom>
          <a:solidFill>
            <a:srgbClr val="FAD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310896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31416"/>
                </a:solidFill>
                <a:latin typeface="Courier New"/>
              </a:rPr>
              <a:t>n - 1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0" y="3840480"/>
            <a:ext cx="3840480" cy="4754880"/>
          </a:xfrm>
          <a:prstGeom prst="roundRect">
            <a:avLst>
              <a:gd name="adj" fmla="val 8000"/>
            </a:avLst>
          </a:prstGeom>
          <a:solidFill>
            <a:srgbClr val="F6B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0" y="393192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31416"/>
                </a:solidFill>
                <a:latin typeface="Courier New"/>
              </a:rPr>
              <a:t>n - 2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527280" y="4663440"/>
            <a:ext cx="2560320" cy="3566160"/>
          </a:xfrm>
          <a:prstGeom prst="roundRect">
            <a:avLst>
              <a:gd name="adj" fmla="val 8000"/>
            </a:avLst>
          </a:prstGeom>
          <a:solidFill>
            <a:srgbClr val="F2A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59" y="4754879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31416"/>
                </a:solidFill>
                <a:latin typeface="Courier New"/>
              </a:rPr>
              <a:t>…</a:t>
            </a:r>
          </a:p>
        </p:txBody>
      </p:sp>
      <p:sp>
        <p:nvSpPr>
          <p:cNvPr id="13" name="Oval 12"/>
          <p:cNvSpPr/>
          <p:nvPr/>
        </p:nvSpPr>
        <p:spPr>
          <a:xfrm>
            <a:off x="13167360" y="6035040"/>
            <a:ext cx="1280160" cy="1280160"/>
          </a:xfrm>
          <a:prstGeom prst="ellipse">
            <a:avLst/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Caso base y caso recursivo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94560"/>
            <a:ext cx="9509760" cy="420624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A657"/>
                </a:solidFill>
                <a:latin typeface="Courier New"/>
              </a:rPr>
              <a:t>public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static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factorial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{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              </a:t>
            </a:r>
            <a:r>
              <a:rPr sz="2200" b="0" i="1">
                <a:solidFill>
                  <a:srgbClr val="8B95A7"/>
                </a:solidFill>
                <a:latin typeface="Courier New"/>
              </a:rPr>
              <a:t>// caso base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*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factorial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</a:t>
            </a:r>
            <a:r>
              <a:rPr sz="2200" b="0" i="1">
                <a:solidFill>
                  <a:srgbClr val="8B95A7"/>
                </a:solidFill>
                <a:latin typeface="Courier New"/>
              </a:rPr>
              <a:t>// caso recursivo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766560"/>
            <a:ext cx="9509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Definición matemática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7498079"/>
            <a:ext cx="9509760" cy="1828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n! = 1</a:t>
            </a:r>
            <a:r>
              <a:rPr sz="2600" b="0" i="0">
                <a:solidFill>
                  <a:srgbClr val="596070"/>
                </a:solidFill>
                <a:latin typeface="Calibri"/>
              </a:rPr>
              <a:t>   si n ≤ 1</a:t>
            </a:r>
          </a:p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n! = n × (n - 1)!</a:t>
            </a:r>
            <a:r>
              <a:rPr sz="2600" b="0" i="0">
                <a:solidFill>
                  <a:srgbClr val="596070"/>
                </a:solidFill>
                <a:latin typeface="Calibri"/>
              </a:rPr>
              <a:t>   si n &gt;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219456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E8B57"/>
                </a:solidFill>
                <a:latin typeface="Calibri"/>
              </a:rPr>
              <a:t>Caso base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Condición que detiene la recursión y devuelve un valor directo.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0" y="461772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E8772E"/>
                </a:solidFill>
                <a:latin typeface="Calibri"/>
              </a:rPr>
              <a:t>Caso recursivo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El método se llama a sí mismo con un problema más pequeño.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0" y="7040879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B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Regla de oro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Cada llamada debe acercarse al caso base. Si no, la recursión nunca termina.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La pila de ejecución (call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786384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0" i="0">
                <a:solidFill>
                  <a:srgbClr val="131416"/>
                </a:solidFill>
                <a:latin typeface="Calibri"/>
              </a:rPr>
              <a:t>Cada llamada a un método crea un marco (frame) con sus parámetros y variables locales.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0" i="0">
                <a:solidFill>
                  <a:srgbClr val="131416"/>
                </a:solidFill>
                <a:latin typeface="Calibri"/>
              </a:rPr>
              <a:t>Los marcos se apilan: el último en entrar es el primero en salir (</a:t>
            </a:r>
            <a:r>
              <a:rPr sz="2600" b="1" i="0">
                <a:solidFill>
                  <a:srgbClr val="E8772E"/>
                </a:solidFill>
                <a:latin typeface="Calibri"/>
              </a:rPr>
              <a:t>LIFO</a:t>
            </a:r>
            <a:r>
              <a:rPr sz="2600" b="0" i="0">
                <a:solidFill>
                  <a:srgbClr val="131416"/>
                </a:solidFill>
                <a:latin typeface="Calibri"/>
              </a:rPr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120640"/>
            <a:ext cx="7863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31416"/>
                </a:solidFill>
                <a:latin typeface="Calibri"/>
              </a:rPr>
              <a:t>Traza de factorial(4)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852160"/>
            <a:ext cx="78638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1900" b="0" i="0">
                <a:solidFill>
                  <a:srgbClr val="131416"/>
                </a:solidFill>
                <a:latin typeface="Courier New"/>
              </a:rPr>
              <a:t>factorial(4) espera a factorial(3)</a:t>
            </a:r>
          </a:p>
          <a:p>
            <a:pPr algn="l" marL="365760" indent="-365760">
              <a:spcAft>
                <a:spcPts val="10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1900" b="0" i="0">
                <a:solidFill>
                  <a:srgbClr val="131416"/>
                </a:solidFill>
                <a:latin typeface="Courier New"/>
              </a:rPr>
              <a:t>factorial(3) espera a factorial(2)</a:t>
            </a:r>
          </a:p>
          <a:p>
            <a:pPr algn="l" marL="365760" indent="-365760">
              <a:spcAft>
                <a:spcPts val="10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1900" b="0" i="0">
                <a:solidFill>
                  <a:srgbClr val="131416"/>
                </a:solidFill>
                <a:latin typeface="Courier New"/>
              </a:rPr>
              <a:t>factorial(2) espera a factorial(1)</a:t>
            </a:r>
          </a:p>
          <a:p>
            <a:pPr algn="l" marL="365760" indent="-365760">
              <a:spcAft>
                <a:spcPts val="10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1900" b="0" i="0">
                <a:solidFill>
                  <a:srgbClr val="131416"/>
                </a:solidFill>
                <a:latin typeface="Courier New"/>
              </a:rPr>
              <a:t>factorial(1) devuelve 1  ←  caso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8686800"/>
            <a:ext cx="7863840" cy="73152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E8B57"/>
                </a:solidFill>
                <a:latin typeface="Calibri"/>
              </a:rPr>
              <a:t>Al regresar: </a:t>
            </a:r>
            <a:r>
              <a:rPr sz="2200" b="1" i="0">
                <a:solidFill>
                  <a:srgbClr val="131416"/>
                </a:solidFill>
                <a:latin typeface="Courier New"/>
              </a:rPr>
              <a:t>1 → 2 → 6 →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2377440"/>
            <a:ext cx="5943600" cy="1143000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urier New"/>
              </a:rPr>
              <a:t>factorial(1)   </a:t>
            </a:r>
            <a:r>
              <a:rPr sz="1700" b="0" i="0">
                <a:solidFill>
                  <a:srgbClr val="FFFFFF"/>
                </a:solidFill>
                <a:latin typeface="Courier New"/>
              </a:rPr>
              <a:t>return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3703320"/>
            <a:ext cx="5943600" cy="1143000"/>
          </a:xfrm>
          <a:prstGeom prst="rect">
            <a:avLst/>
          </a:prstGeom>
          <a:solidFill>
            <a:srgbClr val="FDEBDD"/>
          </a:solidFill>
          <a:ln w="127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31416"/>
                </a:solidFill>
                <a:latin typeface="Courier New"/>
              </a:rPr>
              <a:t>factorial(2)   </a:t>
            </a:r>
            <a:r>
              <a:rPr sz="1700" b="0" i="0">
                <a:solidFill>
                  <a:srgbClr val="131416"/>
                </a:solidFill>
                <a:latin typeface="Courier New"/>
              </a:rPr>
              <a:t>return 2 * factorial(1)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5029200"/>
            <a:ext cx="5943600" cy="1143000"/>
          </a:xfrm>
          <a:prstGeom prst="rect">
            <a:avLst/>
          </a:prstGeom>
          <a:solidFill>
            <a:srgbClr val="FDEBDD"/>
          </a:solidFill>
          <a:ln w="127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31416"/>
                </a:solidFill>
                <a:latin typeface="Courier New"/>
              </a:rPr>
              <a:t>factorial(3)   </a:t>
            </a:r>
            <a:r>
              <a:rPr sz="1700" b="0" i="0">
                <a:solidFill>
                  <a:srgbClr val="131416"/>
                </a:solidFill>
                <a:latin typeface="Courier New"/>
              </a:rPr>
              <a:t>return 3 * factorial(2)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6355079"/>
            <a:ext cx="5943600" cy="1143000"/>
          </a:xfrm>
          <a:prstGeom prst="rect">
            <a:avLst/>
          </a:prstGeom>
          <a:solidFill>
            <a:srgbClr val="FDEBDD"/>
          </a:solidFill>
          <a:ln w="127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31416"/>
                </a:solidFill>
                <a:latin typeface="Courier New"/>
              </a:rPr>
              <a:t>factorial(4)   </a:t>
            </a:r>
            <a:r>
              <a:rPr sz="1700" b="0" i="0">
                <a:solidFill>
                  <a:srgbClr val="131416"/>
                </a:solidFill>
                <a:latin typeface="Courier New"/>
              </a:rPr>
              <a:t>return 4 * factorial(3)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0" y="7680960"/>
            <a:ext cx="5943600" cy="1143000"/>
          </a:xfrm>
          <a:prstGeom prst="rect">
            <a:avLst/>
          </a:prstGeom>
          <a:solidFill>
            <a:srgbClr val="F2F3F5"/>
          </a:solidFill>
          <a:ln w="127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31416"/>
                </a:solidFill>
                <a:latin typeface="Courier New"/>
              </a:rPr>
              <a:t>main()   </a:t>
            </a:r>
            <a:r>
              <a:rPr sz="1700" b="0" i="0">
                <a:solidFill>
                  <a:srgbClr val="131416"/>
                </a:solidFill>
                <a:latin typeface="Courier New"/>
              </a:rPr>
              <a:t>factorial(4)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905256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 i="0">
                <a:solidFill>
                  <a:srgbClr val="596070"/>
                </a:solidFill>
                <a:latin typeface="Calibri"/>
              </a:rPr>
              <a:t>tope de la pila arriba  ·  base abajo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0424160" y="2468880"/>
            <a:ext cx="0" cy="6309360"/>
          </a:xfrm>
          <a:prstGeom prst="line">
            <a:avLst/>
          </a:prstGeom>
          <a:ln w="38100">
            <a:solidFill>
              <a:srgbClr val="E8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0" y="5120640"/>
            <a:ext cx="822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1" i="0">
                <a:solidFill>
                  <a:srgbClr val="E8772E"/>
                </a:solidFill>
                <a:latin typeface="Calibri"/>
              </a:rPr>
              <a:t>apilar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27880" y="2468880"/>
            <a:ext cx="0" cy="6309360"/>
          </a:xfrm>
          <a:prstGeom prst="line">
            <a:avLst/>
          </a:prstGeom>
          <a:ln w="3810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373600" y="5120640"/>
            <a:ext cx="914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8B57"/>
                </a:solidFill>
                <a:latin typeface="Calibri"/>
              </a:rPr>
              <a:t>resolver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StackOverflowError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94560"/>
            <a:ext cx="8778240" cy="2743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ctr">
              <a:spcAft>
                <a:spcPts val="600"/>
              </a:spcAft>
            </a:pPr>
            <a:r>
              <a:rPr sz="2100" b="1" i="0">
                <a:solidFill>
                  <a:srgbClr val="8B95A7"/>
                </a:solidFill>
                <a:latin typeface="Calibri"/>
              </a:rPr>
              <a:t>Sin caso base: la pila crece hasta desbordarse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A657"/>
                </a:solidFill>
                <a:latin typeface="Courier New"/>
              </a:rPr>
              <a:t>public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static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contar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contar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</a:t>
            </a:r>
            <a:r>
              <a:rPr sz="2300" b="0" i="1">
                <a:solidFill>
                  <a:srgbClr val="8B95A7"/>
                </a:solidFill>
                <a:latin typeface="Courier New"/>
              </a:rPr>
              <a:t>// ¡sin caso base!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303520"/>
            <a:ext cx="8778240" cy="1097280"/>
          </a:xfrm>
          <a:prstGeom prst="roundRect">
            <a:avLst>
              <a:gd name="adj" fmla="val 8000"/>
            </a:avLst>
          </a:prstGeom>
          <a:solidFill>
            <a:srgbClr val="FB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ourier New"/>
              </a:rPr>
              <a:t>Exception in thread "main" java.lang.StackOverflowError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766560"/>
            <a:ext cx="8778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31416"/>
                </a:solidFill>
                <a:latin typeface="Calibri"/>
              </a:rPr>
              <a:t>Causas frecuentes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06640"/>
            <a:ext cx="87782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sz="2300" b="0" i="0">
                <a:solidFill>
                  <a:srgbClr val="131416"/>
                </a:solidFill>
                <a:latin typeface="Calibri"/>
              </a:rPr>
              <a:t>Falta el caso base.</a:t>
            </a:r>
          </a:p>
          <a:p>
            <a:pPr algn="l" marL="365760" indent="-365760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sz="2300" b="0" i="0">
                <a:solidFill>
                  <a:srgbClr val="131416"/>
                </a:solidFill>
                <a:latin typeface="Calibri"/>
              </a:rPr>
              <a:t>El caso base nunca se alcanza (ej.: n -= 2 empezando en un impar con if (n == 0)).</a:t>
            </a:r>
          </a:p>
          <a:p>
            <a:pPr algn="l" marL="365760" indent="-365760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sz="2300" b="0" i="0">
                <a:solidFill>
                  <a:srgbClr val="131416"/>
                </a:solidFill>
                <a:latin typeface="Calibri"/>
              </a:rPr>
              <a:t>Recursión demasiado profunda para el tamaño de la entrada.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194560"/>
            <a:ext cx="6126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Cómo depurarlo</a:t>
            </a:r>
          </a:p>
        </p:txBody>
      </p:sp>
      <p:sp>
        <p:nvSpPr>
          <p:cNvPr id="8" name="Oval 7"/>
          <p:cNvSpPr/>
          <p:nvPr/>
        </p:nvSpPr>
        <p:spPr>
          <a:xfrm>
            <a:off x="10789920" y="3017520"/>
            <a:ext cx="822960" cy="82296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0" y="2971800"/>
            <a:ext cx="50292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Imprime el parámetro al inicio de cada llamada.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0" y="4617720"/>
            <a:ext cx="822960" cy="82296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0" y="4572000"/>
            <a:ext cx="50292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Prueba primero con valores pequeños (n = 0, 1, 2).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0" y="6217920"/>
            <a:ext cx="822960" cy="82296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6172200"/>
            <a:ext cx="50292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Usa el depurador y observa el panel Call Stack.</a:t>
            </a:r>
          </a:p>
        </p:txBody>
      </p:sp>
      <p:sp>
        <p:nvSpPr>
          <p:cNvPr id="14" name="Oval 13"/>
          <p:cNvSpPr/>
          <p:nvPr/>
        </p:nvSpPr>
        <p:spPr>
          <a:xfrm>
            <a:off x="10789920" y="7818120"/>
            <a:ext cx="822960" cy="82296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7772400"/>
            <a:ext cx="50292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Verifica que cada llamada reduzca el problema.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Fibonacci: el costo de repetir trabajo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94560"/>
            <a:ext cx="7680960" cy="30175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public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static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fib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2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</a:t>
            </a:r>
            <a:r>
              <a:rPr sz="2600" b="0" i="1">
                <a:solidFill>
                  <a:srgbClr val="8B95A7"/>
                </a:solidFill>
                <a:latin typeface="Courier New"/>
              </a:rPr>
              <a:t>// base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fib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fib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2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577840"/>
            <a:ext cx="7680960" cy="3749039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31416"/>
                </a:solidFill>
                <a:latin typeface="Calibri"/>
              </a:rPr>
              <a:t>¿Qué observamos?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772E"/>
                </a:solidFill>
                <a:latin typeface="Courier New"/>
              </a:rPr>
              <a:t>fib(2)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se calcula dos veces solo para fib(4).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31416"/>
                </a:solidFill>
                <a:latin typeface="Courier New"/>
              </a:rPr>
              <a:t>fib(40)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hace más de </a:t>
            </a:r>
            <a:r>
              <a:rPr sz="2400" b="1" i="0">
                <a:solidFill>
                  <a:srgbClr val="C0392B"/>
                </a:solidFill>
                <a:latin typeface="Calibri"/>
              </a:rPr>
              <a:t>300 millones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de llamadas.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El número de llamadas crece de forma exponencial: </a:t>
            </a:r>
            <a:r>
              <a:rPr sz="2400" b="1" i="0">
                <a:solidFill>
                  <a:srgbClr val="131416"/>
                </a:solidFill>
                <a:latin typeface="Calibri"/>
              </a:rPr>
              <a:t>O(2ⁿ)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1155680" y="2628900"/>
            <a:ext cx="2103120" cy="777239"/>
          </a:xfrm>
          <a:prstGeom prst="line">
            <a:avLst/>
          </a:prstGeom>
          <a:ln w="25400">
            <a:solidFill>
              <a:srgbClr val="D9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258800" y="2628900"/>
            <a:ext cx="2103120" cy="777239"/>
          </a:xfrm>
          <a:prstGeom prst="line">
            <a:avLst/>
          </a:prstGeom>
          <a:ln w="25400">
            <a:solidFill>
              <a:srgbClr val="D9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058400" y="4091939"/>
            <a:ext cx="1097280" cy="777241"/>
          </a:xfrm>
          <a:prstGeom prst="line">
            <a:avLst/>
          </a:prstGeom>
          <a:ln w="25400">
            <a:solidFill>
              <a:srgbClr val="D9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155680" y="4091939"/>
            <a:ext cx="1097280" cy="777241"/>
          </a:xfrm>
          <a:prstGeom prst="line">
            <a:avLst/>
          </a:prstGeom>
          <a:ln w="25400">
            <a:solidFill>
              <a:srgbClr val="D9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4356080" y="4091939"/>
            <a:ext cx="1005840" cy="777241"/>
          </a:xfrm>
          <a:prstGeom prst="line">
            <a:avLst/>
          </a:prstGeom>
          <a:ln w="25400">
            <a:solidFill>
              <a:srgbClr val="D9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61920" y="4091939"/>
            <a:ext cx="1005839" cy="777241"/>
          </a:xfrm>
          <a:prstGeom prst="line">
            <a:avLst/>
          </a:prstGeom>
          <a:ln w="25400">
            <a:solidFill>
              <a:srgbClr val="D9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418320" y="5554980"/>
            <a:ext cx="640080" cy="777240"/>
          </a:xfrm>
          <a:prstGeom prst="line">
            <a:avLst/>
          </a:prstGeom>
          <a:ln w="25400">
            <a:solidFill>
              <a:srgbClr val="D9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5554980"/>
            <a:ext cx="822960" cy="777240"/>
          </a:xfrm>
          <a:prstGeom prst="line">
            <a:avLst/>
          </a:prstGeom>
          <a:ln w="25400">
            <a:solidFill>
              <a:srgbClr val="D9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573000" y="1943100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ourier New"/>
              </a:rPr>
              <a:t>fib(4)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3406139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ourier New"/>
              </a:rPr>
              <a:t>fib(3)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76120" y="3406139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ourier New"/>
              </a:rPr>
              <a:t>fib(2)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4869180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ourier New"/>
              </a:rPr>
              <a:t>fib(2)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67160" y="4869180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31416"/>
                </a:solidFill>
                <a:latin typeface="Courier New"/>
              </a:rPr>
              <a:t>fib(1)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670280" y="4869180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31416"/>
                </a:solidFill>
                <a:latin typeface="Courier New"/>
              </a:rPr>
              <a:t>fib(1)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681959" y="4869180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31416"/>
                </a:solidFill>
                <a:latin typeface="Courier New"/>
              </a:rPr>
              <a:t>fib(0)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6332220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31416"/>
                </a:solidFill>
                <a:latin typeface="Courier New"/>
              </a:rPr>
              <a:t>fib(1)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6332220"/>
            <a:ext cx="1371600" cy="685800"/>
          </a:xfrm>
          <a:prstGeom prst="roundRect">
            <a:avLst>
              <a:gd name="adj" fmla="val 3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31416"/>
                </a:solidFill>
                <a:latin typeface="Courier New"/>
              </a:rPr>
              <a:t>fib(0)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7863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7818120"/>
            <a:ext cx="6858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Cálculo repetido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8503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190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8458200"/>
            <a:ext cx="6858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Caso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Recursividad vs iteración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749807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 i="0">
                <a:solidFill>
                  <a:srgbClr val="E8772E"/>
                </a:solidFill>
                <a:latin typeface="Calibri"/>
              </a:rPr>
              <a:t>Recursiva</a:t>
            </a:r>
          </a:p>
        </p:txBody>
      </p:sp>
      <p:sp>
        <p:nvSpPr>
          <p:cNvPr id="4" name="Codigo"/>
          <p:cNvSpPr/>
          <p:nvPr/>
        </p:nvSpPr>
        <p:spPr>
          <a:xfrm>
            <a:off x="1371600" y="2926080"/>
            <a:ext cx="7498079" cy="25603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factorial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*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factorial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7498079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2E8B57"/>
                </a:solidFill>
                <a:latin typeface="Calibri"/>
              </a:rPr>
              <a:t>✔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Código corto y expresivo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2E8B57"/>
                </a:solidFill>
                <a:latin typeface="Calibri"/>
              </a:rPr>
              <a:t>✔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Natural para árboles y «divide y vencerás»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✘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Usa memoria de pila: O(n)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✘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Riesgo de StackOverflowError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103120"/>
            <a:ext cx="749807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 i="0">
                <a:solidFill>
                  <a:srgbClr val="E8772E"/>
                </a:solidFill>
                <a:latin typeface="Calibri"/>
              </a:rPr>
              <a:t>Iterativa</a:t>
            </a:r>
          </a:p>
        </p:txBody>
      </p:sp>
      <p:sp>
        <p:nvSpPr>
          <p:cNvPr id="7" name="Codigo"/>
          <p:cNvSpPr/>
          <p:nvPr/>
        </p:nvSpPr>
        <p:spPr>
          <a:xfrm>
            <a:off x="9418320" y="2926080"/>
            <a:ext cx="7498079" cy="25603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factorial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r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79C0FF"/>
                </a:solidFill>
                <a:latin typeface="Courier New"/>
              </a:rPr>
              <a:t>2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r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*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r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5760720"/>
            <a:ext cx="7498079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2E8B57"/>
                </a:solidFill>
                <a:latin typeface="Calibri"/>
              </a:rPr>
              <a:t>✔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Memoria constante: O(1)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2E8B57"/>
                </a:solidFill>
                <a:latin typeface="Calibri"/>
              </a:rPr>
              <a:t>✔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Sin riesgo de desbordar la pila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✘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Puede ser menos clara en problemas recursivos por naturaleza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Complejidad temporal (notación Big 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131416"/>
                </a:solidFill>
                <a:latin typeface="Calibri"/>
              </a:rPr>
              <a:t>Describe cómo crece el número de operaciones de un algoritmo cuando crece el tamaño de la entrada n.</a:t>
            </a:r>
          </a:p>
        </p:txBody>
      </p:sp>
      <p:graphicFrame>
        <p:nvGraphicFramePr>
          <p:cNvPr id="4" name="Tabla"/>
          <p:cNvGraphicFramePr>
            <a:graphicFrameLocks noGrp="1"/>
          </p:cNvGraphicFramePr>
          <p:nvPr/>
        </p:nvGraphicFramePr>
        <p:xfrm>
          <a:off x="1371600" y="3200400"/>
          <a:ext cx="7863840" cy="6035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2377440"/>
                <a:gridCol w="3474720"/>
              </a:tblGrid>
              <a:tr h="100584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Orden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Nombre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31416"/>
                          </a:solidFill>
                          <a:latin typeface="Courier New"/>
                        </a:rPr>
                        <a:t>O(1)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Constante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Acceder a arreglo[i]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31416"/>
                          </a:solidFill>
                          <a:latin typeface="Courier New"/>
                        </a:rPr>
                        <a:t>O(log n)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Logarítmica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Búsqueda binaria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31416"/>
                          </a:solidFill>
                          <a:latin typeface="Courier New"/>
                        </a:rPr>
                        <a:t>O(n)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Lineal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Recorrer un arreglo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31416"/>
                          </a:solidFill>
                          <a:latin typeface="Courier New"/>
                        </a:rPr>
                        <a:t>O(n²)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Cuadrática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Ordenamiento burbuja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131416"/>
                          </a:solidFill>
                          <a:latin typeface="Courier New"/>
                        </a:rPr>
                        <a:t>O(2ⁿ)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Exponencial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Fibonacci recursivo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afica crecimiento"/>
          <p:cNvGraphicFramePr>
            <a:graphicFrameLocks noGrp="1"/>
          </p:cNvGraphicFramePr>
          <p:nvPr/>
        </p:nvGraphicFramePr>
        <p:xfrm>
          <a:off x="9692640" y="3108960"/>
          <a:ext cx="7223760" cy="6309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Ordenamiento burbuja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694944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0" i="0">
                <a:solidFill>
                  <a:srgbClr val="131416"/>
                </a:solidFill>
                <a:latin typeface="Calibri"/>
              </a:rPr>
              <a:t>Compara pares de elementos adyacentes y los intercambia si están en desorden.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600" b="0" i="0">
                <a:solidFill>
                  <a:srgbClr val="131416"/>
                </a:solidFill>
                <a:latin typeface="Calibri"/>
              </a:rPr>
              <a:t>En cada pasada, el mayor «sube» al final del arreglo, </a:t>
            </a:r>
            <a:r>
              <a:rPr sz="2600" b="1" i="0">
                <a:solidFill>
                  <a:srgbClr val="E8772E"/>
                </a:solidFill>
                <a:latin typeface="Calibri"/>
              </a:rPr>
              <a:t>como una burbuja</a:t>
            </a:r>
            <a:r>
              <a:rPr sz="2600" b="0" i="0">
                <a:solidFill>
                  <a:srgbClr val="131416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760720"/>
            <a:ext cx="6949440" cy="35661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31416"/>
                </a:solidFill>
                <a:latin typeface="Calibri"/>
              </a:rPr>
              <a:t>Para n elementos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Se necesitan como máximo n - 1 pasadas.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Cada pasada revisa un elemento menos, porque el final ya está ordenado.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031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Pasada 1 sobre {5, 1, 4, 2, 8}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2834640"/>
            <a:ext cx="777240" cy="77724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6919" y="2834640"/>
            <a:ext cx="777240" cy="77724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0" y="283464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84280" y="283464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252959" y="283464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283464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E8772E"/>
                </a:solidFill>
                <a:latin typeface="Calibri"/>
              </a:rPr>
              <a:t>5 &gt; 1  → intercambia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411480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19" y="4114800"/>
            <a:ext cx="777240" cy="77724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4114800"/>
            <a:ext cx="777240" cy="77724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84280" y="411480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52959" y="411480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0" y="411480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E8772E"/>
                </a:solidFill>
                <a:latin typeface="Calibri"/>
              </a:rPr>
              <a:t>5 &gt; 4  → intercambia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539496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19" y="539496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5394960"/>
            <a:ext cx="777240" cy="77724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84280" y="5394960"/>
            <a:ext cx="777240" cy="77724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252959" y="539496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0" y="539496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E8772E"/>
                </a:solidFill>
                <a:latin typeface="Calibri"/>
              </a:rPr>
              <a:t>5 &gt; 2  → intercambia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667511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19" y="667511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667511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84280" y="6675119"/>
            <a:ext cx="777240" cy="77724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252959" y="6675119"/>
            <a:ext cx="777240" cy="77724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0" y="6675119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596070"/>
                </a:solidFill>
                <a:latin typeface="Calibri"/>
              </a:rPr>
              <a:t>5 &lt; 8  → sin cambio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795527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19" y="795527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795527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84280" y="795527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252959" y="7955279"/>
            <a:ext cx="777240" cy="777240"/>
          </a:xfrm>
          <a:prstGeom prst="rect">
            <a:avLst/>
          </a:prstGeom>
          <a:solidFill>
            <a:srgbClr val="131416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50240" y="7955279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2E8B57"/>
                </a:solidFill>
                <a:latin typeface="Calibri"/>
              </a:rPr>
              <a:t>8 quedó en su lugar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Burbuja en Java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94560"/>
            <a:ext cx="10058400" cy="71323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A657"/>
                </a:solidFill>
                <a:latin typeface="Courier New"/>
              </a:rPr>
              <a:t>public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static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void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burbuja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boolean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huboCambio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false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   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&gt;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       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temp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</a:t>
            </a:r>
            <a:r>
              <a:rPr sz="2300" b="0" i="1">
                <a:solidFill>
                  <a:srgbClr val="8B95A7"/>
                </a:solidFill>
                <a:latin typeface="Courier New"/>
              </a:rPr>
              <a:t>// intercambio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       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       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j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temp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       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huboCambio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true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   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!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huboCambio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break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</a:t>
            </a:r>
            <a:r>
              <a:rPr sz="2300" b="0" i="1">
                <a:solidFill>
                  <a:srgbClr val="8B95A7"/>
                </a:solidFill>
                <a:latin typeface="Courier New"/>
              </a:rPr>
              <a:t>// ya está ordenado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0" y="2194560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Análisis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78640" y="3017520"/>
            <a:ext cx="4937760" cy="192024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772E"/>
                </a:solidFill>
                <a:latin typeface="Courier New"/>
              </a:rPr>
              <a:t>O(n²)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Peor caso: arreglo en orden inverso.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0" y="5166360"/>
            <a:ext cx="4937760" cy="1920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772E"/>
                </a:solidFill>
                <a:latin typeface="Courier New"/>
              </a:rPr>
              <a:t>O(n)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Mejor caso: ya ordenado, gracias a la bandera.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7315200"/>
            <a:ext cx="4937760" cy="1920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772E"/>
                </a:solidFill>
                <a:latin typeface="Courier New"/>
              </a:rPr>
              <a:t>O(1)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Memoria extra: ordena en el mismo arreglo.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Archivos en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131416"/>
                </a:solidFill>
                <a:latin typeface="Calibri"/>
              </a:rPr>
              <a:t>Los arreglos viven en la memoria RAM y se pierden al cerrar el programa. Los archivos permiten </a:t>
            </a:r>
            <a:r>
              <a:rPr sz="2600" b="1" i="0">
                <a:solidFill>
                  <a:srgbClr val="E8772E"/>
                </a:solidFill>
                <a:latin typeface="Calibri"/>
              </a:rPr>
              <a:t>persistir</a:t>
            </a:r>
            <a:r>
              <a:rPr sz="2600" b="0" i="0">
                <a:solidFill>
                  <a:srgbClr val="131416"/>
                </a:solidFill>
                <a:latin typeface="Calibri"/>
              </a:rPr>
              <a:t> los datos.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657600"/>
            <a:ext cx="3840480" cy="2377440"/>
          </a:xfrm>
          <a:prstGeom prst="roundRect">
            <a:avLst>
              <a:gd name="adj" fmla="val 8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Programa</a:t>
            </a:r>
          </a:p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BBBBBB"/>
                </a:solidFill>
                <a:latin typeface="Calibri"/>
              </a:rPr>
              <a:t>Java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11887200" y="3657600"/>
            <a:ext cx="3840480" cy="2377440"/>
          </a:xfrm>
          <a:prstGeom prst="foldedCorner">
            <a:avLst/>
          </a:prstGeom>
          <a:solidFill>
            <a:srgbClr val="FDEBDD"/>
          </a:solidFill>
          <a:ln w="19050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31416"/>
                </a:solidFill>
                <a:latin typeface="Courier New"/>
              </a:rPr>
              <a:t>datos.txt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5303520" y="4297680"/>
            <a:ext cx="6492240" cy="0"/>
          </a:xfrm>
          <a:prstGeom prst="line">
            <a:avLst/>
          </a:prstGeom>
          <a:ln w="3810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0" y="3520440"/>
            <a:ext cx="6217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2E8B57"/>
                </a:solidFill>
                <a:latin typeface="Calibri"/>
              </a:rPr>
              <a:t>Lectura: </a:t>
            </a:r>
            <a:r>
              <a:rPr sz="2000" b="0" i="0">
                <a:solidFill>
                  <a:srgbClr val="131416"/>
                </a:solidFill>
                <a:latin typeface="Courier New"/>
              </a:rPr>
              <a:t>FileReader + BufferedReader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0" y="5394960"/>
            <a:ext cx="6492240" cy="0"/>
          </a:xfrm>
          <a:prstGeom prst="line">
            <a:avLst/>
          </a:prstGeom>
          <a:ln w="38100">
            <a:solidFill>
              <a:srgbClr val="E87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0" y="5532120"/>
            <a:ext cx="6217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E8772E"/>
                </a:solidFill>
                <a:latin typeface="Calibri"/>
              </a:rPr>
              <a:t>Escritura: </a:t>
            </a:r>
            <a:r>
              <a:rPr sz="2000" b="0" i="0">
                <a:solidFill>
                  <a:srgbClr val="131416"/>
                </a:solidFill>
                <a:latin typeface="Courier New"/>
              </a:rPr>
              <a:t>FileWriter + PrintWriter</a:t>
            </a:r>
          </a:p>
        </p:txBody>
      </p:sp>
      <p:graphicFrame>
        <p:nvGraphicFramePr>
          <p:cNvPr id="10" name="Tabla"/>
          <p:cNvGraphicFramePr>
            <a:graphicFrameLocks noGrp="1"/>
          </p:cNvGraphicFramePr>
          <p:nvPr/>
        </p:nvGraphicFramePr>
        <p:xfrm>
          <a:off x="1371600" y="6583680"/>
          <a:ext cx="1024128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69494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FFFFFF"/>
                          </a:solidFill>
                          <a:latin typeface="Calibri"/>
                        </a:rPr>
                        <a:t>Clase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sirve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900" b="1" i="0">
                          <a:solidFill>
                            <a:srgbClr val="131416"/>
                          </a:solidFill>
                          <a:latin typeface="Courier New"/>
                        </a:rPr>
                        <a:t>BufferedReader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 i="0">
                          <a:solidFill>
                            <a:srgbClr val="131416"/>
                          </a:solidFill>
                          <a:latin typeface="Calibri"/>
                        </a:rPr>
                        <a:t>Leer texto línea por línea (readLine)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900" b="1" i="0">
                          <a:solidFill>
                            <a:srgbClr val="131416"/>
                          </a:solidFill>
                          <a:latin typeface="Courier New"/>
                        </a:rPr>
                        <a:t>PrintWriter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 i="0">
                          <a:solidFill>
                            <a:srgbClr val="131416"/>
                          </a:solidFill>
                          <a:latin typeface="Calibri"/>
                        </a:rPr>
                        <a:t>Escribir texto con print / println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900" b="1" i="0">
                          <a:solidFill>
                            <a:srgbClr val="131416"/>
                          </a:solidFill>
                          <a:latin typeface="Courier New"/>
                        </a:rPr>
                        <a:t>IOException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 i="0">
                          <a:solidFill>
                            <a:srgbClr val="131416"/>
                          </a:solidFill>
                          <a:latin typeface="Calibri"/>
                        </a:rPr>
                        <a:t>Error de entrada/salida (archivo inexistente, permisos)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2070080" y="6583680"/>
            <a:ext cx="4846320" cy="265176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E8B57"/>
                </a:solidFill>
                <a:latin typeface="Courier New"/>
              </a:rPr>
              <a:t>try-with-resources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Cierra el archivo automáticamente, aunque ocurra un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Lectura de archivos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94560"/>
            <a:ext cx="10424160" cy="71323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A657"/>
                </a:solidFill>
                <a:latin typeface="Courier New"/>
              </a:rPr>
              <a:t>import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java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io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*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A657"/>
                </a:solidFill>
                <a:latin typeface="Courier New"/>
              </a:rPr>
              <a:t>try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BufferedReader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br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BufferedReader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1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FileReader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A5D6A7"/>
                </a:solidFill>
                <a:latin typeface="Courier New"/>
              </a:rPr>
              <a:t>"datos.txt"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String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linea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100" b="1" i="0">
                <a:solidFill>
                  <a:srgbClr val="FFA657"/>
                </a:solidFill>
                <a:latin typeface="Courier New"/>
              </a:rPr>
              <a:t>while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linea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br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readLine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!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1" i="0">
                <a:solidFill>
                  <a:srgbClr val="FFA657"/>
                </a:solidFill>
                <a:latin typeface="Courier New"/>
              </a:rPr>
              <a:t>null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1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valor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Integer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parseInt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linea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trim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valor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1" i="0">
                <a:solidFill>
                  <a:srgbClr val="FFA657"/>
                </a:solidFill>
                <a:latin typeface="Courier New"/>
              </a:rPr>
              <a:t>catch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IOException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e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A5D6A7"/>
                </a:solidFill>
                <a:latin typeface="Courier New"/>
              </a:rPr>
              <a:t>"Error al leer: "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e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getMessage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0" y="2194560"/>
            <a:ext cx="4572000" cy="21945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8772E"/>
                </a:solidFill>
                <a:latin typeface="Courier New"/>
              </a:rPr>
              <a:t>readLine()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Devuelve la siguiente línea, o null al llegar al final.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0" y="4617720"/>
            <a:ext cx="4572000" cy="21945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8772E"/>
                </a:solidFill>
                <a:latin typeface="Courier New"/>
              </a:rPr>
              <a:t>while + null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Patrón clásico para leer un archivo completo.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0" y="7040879"/>
            <a:ext cx="4572000" cy="2194560"/>
          </a:xfrm>
          <a:prstGeom prst="roundRect">
            <a:avLst>
              <a:gd name="adj" fmla="val 8000"/>
            </a:avLst>
          </a:prstGeom>
          <a:solidFill>
            <a:srgbClr val="FB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0392B"/>
                </a:solidFill>
                <a:latin typeface="Courier New"/>
              </a:rPr>
              <a:t>parseInt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Convierte texto a número. Si la línea no es numérica lanza NumberFormatException.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Escritura de archivos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94560"/>
            <a:ext cx="10424160" cy="45720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numeros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{</a:t>
            </a:r>
            <a:r>
              <a:rPr sz="20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79C0FF"/>
                </a:solidFill>
                <a:latin typeface="Courier New"/>
              </a:rPr>
              <a:t>2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79C0FF"/>
                </a:solidFill>
                <a:latin typeface="Courier New"/>
              </a:rPr>
              <a:t>4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79C0FF"/>
                </a:solidFill>
                <a:latin typeface="Courier New"/>
              </a:rPr>
              <a:t>5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79C0FF"/>
                </a:solidFill>
                <a:latin typeface="Courier New"/>
              </a:rPr>
              <a:t>8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A657"/>
                </a:solidFill>
                <a:latin typeface="Courier New"/>
              </a:rPr>
              <a:t>try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D2A8FF"/>
                </a:solidFill>
                <a:latin typeface="Courier New"/>
              </a:rPr>
              <a:t>PrintWriter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pw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D2A8FF"/>
                </a:solidFill>
                <a:latin typeface="Courier New"/>
              </a:rPr>
              <a:t>PrintWriter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D2A8FF"/>
                </a:solidFill>
                <a:latin typeface="Courier New"/>
              </a:rPr>
              <a:t>FileWriter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A5D6A7"/>
                </a:solidFill>
                <a:latin typeface="Courier New"/>
              </a:rPr>
              <a:t>"ordenados.txt"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: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numeros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pw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catch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D2A8FF"/>
                </a:solidFill>
                <a:latin typeface="Courier New"/>
              </a:rPr>
              <a:t>IOException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e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0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A5D6A7"/>
                </a:solidFill>
                <a:latin typeface="Courier New"/>
              </a:rPr>
              <a:t>"Error al escribir: "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e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getMessage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132320"/>
            <a:ext cx="104241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31416"/>
                </a:solidFill>
                <a:latin typeface="Calibri"/>
              </a:rPr>
              <a:t>Sobrescribir vs agregar</a:t>
            </a:r>
          </a:p>
        </p:txBody>
      </p:sp>
      <p:graphicFrame>
        <p:nvGraphicFramePr>
          <p:cNvPr id="5" name="Tabla"/>
          <p:cNvGraphicFramePr>
            <a:graphicFrameLocks noGrp="1"/>
          </p:cNvGraphicFramePr>
          <p:nvPr/>
        </p:nvGraphicFramePr>
        <p:xfrm>
          <a:off x="1371600" y="7863840"/>
          <a:ext cx="10424160" cy="1508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20640"/>
                <a:gridCol w="53035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Constructor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Efecto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31416"/>
                          </a:solidFill>
                          <a:latin typeface="Courier New"/>
                        </a:rPr>
                        <a:t>new FileWriter("x.txt")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alibri"/>
                        </a:rPr>
                        <a:t>Borra el contenido y escribe desde cero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800" b="0" i="0">
                          <a:solidFill>
                            <a:srgbClr val="131416"/>
                          </a:solidFill>
                          <a:latin typeface="Courier New"/>
                        </a:rPr>
                        <a:t>new FileWriter("x.txt", true)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alibri"/>
                        </a:rPr>
                        <a:t>Agrega al final (append)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2344400" y="2194560"/>
            <a:ext cx="4572000" cy="329184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772E"/>
                </a:solidFill>
                <a:latin typeface="Calibri"/>
              </a:rPr>
              <a:t>Ruta del archivo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Una ruta relativa se busca en la carpeta desde donde se ejecuta el programa (raíz del proyecto).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0" y="5852160"/>
            <a:ext cx="4572000" cy="34747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31416"/>
                </a:solidFill>
                <a:latin typeface="Calibri"/>
              </a:rPr>
              <a:t>Integridad de datos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Captura IOException e informa al usuario: nunca ignores un error de escritura.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Conceptos clave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Recursividad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Un método que se llama a sí mismo con un problema más pequeño.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Caso base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Condición que detiene la recursión.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7864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Pila de ejecución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Estructura LIFO que guarda un marco por cada llamada activa.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212079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StackOverflowError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Error cuando la pila se llena por recursión sin fin.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5212079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Big O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Cómo crecen las operaciones de un algoritmo según 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978640" y="5212079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Persistencia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Guardar datos en archivos para que sobrevivan al programa.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8412480"/>
            <a:ext cx="15544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E8772E"/>
                </a:solidFill>
                <a:latin typeface="Calibri"/>
              </a:rPr>
              <a:t>Síntesis: </a:t>
            </a:r>
            <a:r>
              <a:rPr sz="2600" b="0" i="0">
                <a:solidFill>
                  <a:srgbClr val="131416"/>
                </a:solidFill>
                <a:latin typeface="Calibri"/>
              </a:rPr>
              <a:t>pensar en casos base, medir la eficiencia y persistir los datos hace al software confiable.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Ejemplo práctico: ordenar datos de un archivo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945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Leer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datos.txt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33087" y="3063240"/>
            <a:ext cx="374905" cy="0"/>
          </a:xfrm>
          <a:prstGeom prst="line">
            <a:avLst/>
          </a:prstGeom>
          <a:ln w="31750">
            <a:solidFill>
              <a:srgbClr val="59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26280" y="21945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Guardar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en un int[]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287768" y="3063240"/>
            <a:ext cx="374904" cy="0"/>
          </a:xfrm>
          <a:prstGeom prst="line">
            <a:avLst/>
          </a:prstGeom>
          <a:ln w="31750">
            <a:solidFill>
              <a:srgbClr val="59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680960" y="21945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Ordenar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con burbuja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442448" y="3063240"/>
            <a:ext cx="374904" cy="0"/>
          </a:xfrm>
          <a:prstGeom prst="line">
            <a:avLst/>
          </a:prstGeom>
          <a:ln w="31750">
            <a:solidFill>
              <a:srgbClr val="59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835640" y="21945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Sumar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recursivamente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597128" y="3063240"/>
            <a:ext cx="374904" cy="0"/>
          </a:xfrm>
          <a:prstGeom prst="line">
            <a:avLst/>
          </a:prstGeom>
          <a:ln w="31750">
            <a:solidFill>
              <a:srgbClr val="596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990320" y="21945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Escribir</a:t>
            </a:r>
          </a:p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ordenados.txt</a:t>
            </a:r>
          </a:p>
        </p:txBody>
      </p:sp>
      <p:sp>
        <p:nvSpPr>
          <p:cNvPr id="12" name="Codigo"/>
          <p:cNvSpPr/>
          <p:nvPr/>
        </p:nvSpPr>
        <p:spPr>
          <a:xfrm>
            <a:off x="1371600" y="4389120"/>
            <a:ext cx="9509760" cy="493776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8B95A7"/>
                </a:solidFill>
                <a:latin typeface="Calibri"/>
              </a:rPr>
              <a:t>Suma recursiva de un arreglo</a:t>
            </a:r>
          </a:p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A657"/>
                </a:solidFill>
                <a:latin typeface="Courier New"/>
              </a:rPr>
              <a:t>public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static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sumar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   </a:t>
            </a:r>
            <a:r>
              <a:rPr sz="2000" b="0" i="1">
                <a:solidFill>
                  <a:srgbClr val="8B95A7"/>
                </a:solidFill>
                <a:latin typeface="Courier New"/>
              </a:rPr>
              <a:t>// caso base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000" b="1" i="0">
                <a:solidFill>
                  <a:srgbClr val="FFA657"/>
                </a:solidFill>
                <a:latin typeface="Courier New"/>
              </a:rPr>
              <a:t>return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sumar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a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    </a:t>
            </a:r>
            <a:r>
              <a:rPr sz="2000" b="0" i="1">
                <a:solidFill>
                  <a:srgbClr val="8B95A7"/>
                </a:solidFill>
                <a:latin typeface="Courier New"/>
              </a:rPr>
              <a:t>// caso recursivo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8B95A7"/>
                </a:solidFill>
                <a:latin typeface="Courier New"/>
              </a:rPr>
              <a:t>// en main: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6E6E6"/>
                </a:solidFill>
                <a:latin typeface="Courier New"/>
              </a:rPr>
              <a:t>burbuja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numeros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A5D6A7"/>
                </a:solidFill>
                <a:latin typeface="Courier New"/>
              </a:rPr>
              <a:t>"Suma: "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sumar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numeros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0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000" b="0" i="0">
                <a:solidFill>
                  <a:srgbClr val="E6E6E6"/>
                </a:solidFill>
                <a:latin typeface="Courier New"/>
              </a:rPr>
              <a:t>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0" y="438912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Entrada  →  salida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31416"/>
                </a:solidFill>
                <a:latin typeface="Calibri"/>
              </a:rPr>
              <a:t>datos.txt:  </a:t>
            </a:r>
            <a:r>
              <a:rPr sz="2100" b="0" i="0">
                <a:solidFill>
                  <a:srgbClr val="131416"/>
                </a:solidFill>
                <a:latin typeface="Courier New"/>
              </a:rPr>
              <a:t>5 1 4 2 8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31416"/>
                </a:solidFill>
                <a:latin typeface="Calibri"/>
              </a:rPr>
              <a:t>ordenados.txt:  </a:t>
            </a:r>
            <a:r>
              <a:rPr sz="2100" b="0" i="0">
                <a:solidFill>
                  <a:srgbClr val="131416"/>
                </a:solidFill>
                <a:latin typeface="Courier New"/>
              </a:rPr>
              <a:t>1 2 4 5 8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131416"/>
                </a:solidFill>
                <a:latin typeface="Calibri"/>
              </a:rPr>
              <a:t>Suma:  </a:t>
            </a:r>
            <a:r>
              <a:rPr sz="2100" b="0" i="0">
                <a:solidFill>
                  <a:srgbClr val="131416"/>
                </a:solidFill>
                <a:latin typeface="Courier New"/>
              </a:rPr>
              <a:t>20</a:t>
            </a:r>
          </a:p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596070"/>
                </a:solidFill>
                <a:latin typeface="Calibri"/>
              </a:rPr>
              <a:t>Tip: imprime el arreglo después de cada pasada para ver cómo «sube» la burbuja.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Actividad: ordenamiento burbuja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03120"/>
            <a:ext cx="5120640" cy="7223760"/>
          </a:xfrm>
          <a:prstGeom prst="roundRect">
            <a:avLst>
              <a:gd name="adj" fmla="val 5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246888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TIPO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Ejercicio práctico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79476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TIEMPO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512064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PONDERACIÓN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0 pts (formativa)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644652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MODALIDAD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777240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COMPETENCIA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Implementa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9875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Implementa el ordenamiento burbuja y analiza su comportamiento.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108960"/>
            <a:ext cx="987552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lnSpc>
                <a:spcPct val="105000"/>
              </a:lnSpc>
              <a:spcAft>
                <a:spcPts val="12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Crea un arreglo de 10 enteros aleatorios (</a:t>
            </a:r>
            <a:r>
              <a:rPr sz="2200" b="1" i="0">
                <a:solidFill>
                  <a:srgbClr val="131416"/>
                </a:solidFill>
                <a:latin typeface="Courier New"/>
              </a:rPr>
              <a:t>Random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) y muéstralo.</a:t>
            </a:r>
          </a:p>
          <a:p>
            <a:pPr algn="l" marL="365760" indent="-365760">
              <a:lnSpc>
                <a:spcPct val="105000"/>
              </a:lnSpc>
              <a:spcAft>
                <a:spcPts val="12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Ordénalo con burbuja e imprime el arreglo después de cada pasada.</a:t>
            </a:r>
          </a:p>
          <a:p>
            <a:pPr algn="l" marL="365760" indent="-365760">
              <a:lnSpc>
                <a:spcPct val="105000"/>
              </a:lnSpc>
              <a:spcAft>
                <a:spcPts val="12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Cuenta comparaciones e intercambios; compara un arreglo desordenado con uno ya ordenado.</a:t>
            </a:r>
          </a:p>
          <a:p>
            <a:pPr algn="l" marL="365760" indent="-365760">
              <a:lnSpc>
                <a:spcPct val="105000"/>
              </a:lnSpc>
              <a:spcAft>
                <a:spcPts val="12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2400" b="1" i="0">
                <a:solidFill>
                  <a:srgbClr val="E8772E"/>
                </a:solidFill>
                <a:latin typeface="Calibri"/>
              </a:rPr>
              <a:t>Reto: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escribe una versión recursiva (cada llamada hace una pasada) o guarda el resultado en un archivo.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8138160"/>
            <a:ext cx="9875520" cy="11887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772E"/>
                </a:solidFill>
                <a:latin typeface="Calibri"/>
              </a:rPr>
              <a:t>Pregunta de análisis: </a:t>
            </a:r>
            <a:r>
              <a:rPr sz="2200" b="0" i="0">
                <a:solidFill>
                  <a:srgbClr val="131416"/>
                </a:solidFill>
                <a:latin typeface="Calibri"/>
              </a:rPr>
              <a:t>¿cuántas comparaciones hace con 10 elementos en el peor caso?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Recursos de la sesión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9456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4688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8772E"/>
                </a:solidFill>
                <a:latin typeface="Impact"/>
              </a:rPr>
              <a:t>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32004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31416"/>
                </a:solidFill>
                <a:latin typeface="Calibri"/>
              </a:rPr>
              <a:t>Esta presentación: recursividad, pila de ejecución y archivos.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6080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Obligatorio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19456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59" y="24688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8772E"/>
                </a:solidFill>
                <a:latin typeface="Impact"/>
              </a:rPr>
              <a:t>4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4114800"/>
            <a:ext cx="32004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31416"/>
                </a:solidFill>
                <a:latin typeface="Calibri"/>
              </a:rPr>
              <a:t>Video corto sobre recursividad y la pila de llamadas (enlace en la plataforma del curso).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59" y="6080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Obligatorio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19456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4688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8772E"/>
                </a:solidFill>
                <a:latin typeface="Impact"/>
              </a:rPr>
              <a:t>4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114800"/>
            <a:ext cx="32004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31416"/>
                </a:solidFill>
                <a:latin typeface="Calibri"/>
              </a:rPr>
              <a:t>Oracle Java Tutorials: Basic I/O.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31416"/>
                </a:solidFill>
                <a:latin typeface="Calibri"/>
              </a:rPr>
              <a:t>Optativo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04519" y="219456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78840" y="24688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8772E"/>
                </a:solidFill>
                <a:latin typeface="Impact"/>
              </a:rPr>
              <a:t>20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78840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Ejercicio demostrativo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4114800"/>
            <a:ext cx="32004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31416"/>
                </a:solidFill>
                <a:latin typeface="Calibri"/>
              </a:rPr>
              <a:t>Ordenar datos de un archivo, desarrollado en vivo.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78840" y="6080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Obligatorio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7223760"/>
            <a:ext cx="15544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Enlaces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7772400"/>
            <a:ext cx="155448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sz="2200" b="1" i="0">
                <a:solidFill>
                  <a:srgbClr val="131416"/>
                </a:solidFill>
                <a:latin typeface="Calibri"/>
              </a:rPr>
              <a:t>Basic I/O: </a:t>
            </a:r>
            <a:r>
              <a:rPr sz="2200" b="0" i="0">
                <a:solidFill>
                  <a:srgbClr val="1A5FB4"/>
                </a:solidFill>
                <a:latin typeface="Calibri"/>
                <a:hlinkClick r:id="rId3"/>
              </a:rPr>
              <a:t>docs.oracle.com/javase/tutorial/essential/io/</a:t>
            </a:r>
          </a:p>
          <a:p>
            <a:pPr algn="l" marL="365760" indent="-365760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sz="2200" b="1" i="0">
                <a:solidFill>
                  <a:srgbClr val="131416"/>
                </a:solidFill>
                <a:latin typeface="Calibri"/>
              </a:rPr>
              <a:t>Visualizar ordenamientos: </a:t>
            </a:r>
            <a:r>
              <a:rPr sz="2200" b="0" i="0">
                <a:solidFill>
                  <a:srgbClr val="1A5FB4"/>
                </a:solidFill>
                <a:latin typeface="Calibri"/>
                <a:hlinkClick r:id="rId4"/>
              </a:rPr>
              <a:t>visualgo.net/en/sorting</a:t>
            </a:r>
            <a:r>
              <a:rPr sz="2200" b="1" i="0">
                <a:solidFill>
                  <a:srgbClr val="131416"/>
                </a:solidFill>
                <a:latin typeface="Calibri"/>
              </a:rPr>
              <a:t>   ·   Ver la pila paso a paso: </a:t>
            </a:r>
            <a:r>
              <a:rPr sz="2200" b="0" i="0">
                <a:solidFill>
                  <a:srgbClr val="1A5FB4"/>
                </a:solidFill>
                <a:latin typeface="Calibri"/>
                <a:hlinkClick r:id="rId5"/>
              </a:rPr>
              <a:t>pythontutor.com (modo Java)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1280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0" i="0">
                <a:solidFill>
                  <a:srgbClr val="E8772E"/>
                </a:solidFill>
                <a:latin typeface="Impac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331720"/>
            <a:ext cx="6126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0" i="0">
                <a:solidFill>
                  <a:srgbClr val="131416"/>
                </a:solidFill>
                <a:latin typeface="Calibri"/>
              </a:rPr>
              <a:t>Toda solución recursiva necesita un caso base y llamadas que se acerquen a él.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194560"/>
            <a:ext cx="1280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0" i="0">
                <a:solidFill>
                  <a:srgbClr val="E8772E"/>
                </a:solidFill>
                <a:latin typeface="Impac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2331720"/>
            <a:ext cx="6126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0" i="0">
                <a:solidFill>
                  <a:srgbClr val="131416"/>
                </a:solidFill>
                <a:latin typeface="Calibri"/>
              </a:rPr>
              <a:t>La pila de ejecución guarda cada llamada; sin caso base se desborda (StackOverflowError).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1280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0" i="0">
                <a:solidFill>
                  <a:srgbClr val="E8772E"/>
                </a:solidFill>
                <a:latin typeface="Impac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5897880"/>
            <a:ext cx="6126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0" i="0">
                <a:solidFill>
                  <a:srgbClr val="131416"/>
                </a:solidFill>
                <a:latin typeface="Calibri"/>
              </a:rPr>
              <a:t>Big O permite comparar algoritmos: burbuja es O(n²), útil para aprender pero lento con muchos datos.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5760720"/>
            <a:ext cx="1280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0" i="0">
                <a:solidFill>
                  <a:srgbClr val="E8772E"/>
                </a:solidFill>
                <a:latin typeface="Impact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5897880"/>
            <a:ext cx="6126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0" i="0">
                <a:solidFill>
                  <a:srgbClr val="131416"/>
                </a:solidFill>
                <a:latin typeface="Calibri"/>
              </a:rPr>
              <a:t>Los archivos persisten la información; try-with-resources asegura que se cierren correctamente.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15544800" cy="7132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Oracle. (s.f.). </a:t>
            </a:r>
            <a:r>
              <a:rPr sz="2400" b="0" i="1">
                <a:solidFill>
                  <a:srgbClr val="131416"/>
                </a:solidFill>
                <a:latin typeface="Calibri"/>
              </a:rPr>
              <a:t>The Java Tutorials: Basic I/O. </a:t>
            </a:r>
            <a:r>
              <a:rPr sz="2400" b="0" i="0">
                <a:solidFill>
                  <a:srgbClr val="1A5FB4"/>
                </a:solidFill>
                <a:latin typeface="Calibri"/>
                <a:hlinkClick r:id="rId2"/>
              </a:rPr>
              <a:t>docs.oracle.com/javase/tutorial/essential/io/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Oracle. (s.f.).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Lesson: Exceptions. </a:t>
            </a:r>
            <a:r>
              <a:rPr sz="2400" b="0" i="0">
                <a:solidFill>
                  <a:srgbClr val="1A5FB4"/>
                </a:solidFill>
                <a:latin typeface="Calibri"/>
                <a:hlinkClick r:id="rId3"/>
              </a:rPr>
              <a:t>docs.oracle.com/javase/tutorial/essential/exceptions/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Cormen, T. H., Leiserson, C. E., Rivest, R. L. y Stein, C. (2022). </a:t>
            </a:r>
            <a:r>
              <a:rPr sz="2400" b="0" i="1">
                <a:solidFill>
                  <a:srgbClr val="131416"/>
                </a:solidFill>
                <a:latin typeface="Calibri"/>
              </a:rPr>
              <a:t>Introduction to Algorithms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(4.ª ed.). MIT Press.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Deitel, P. y Deitel, H. (2016). </a:t>
            </a:r>
            <a:r>
              <a:rPr sz="2400" b="0" i="1">
                <a:solidFill>
                  <a:srgbClr val="131416"/>
                </a:solidFill>
                <a:latin typeface="Calibri"/>
              </a:rPr>
              <a:t>Cómo programar en Java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(10.ª ed.). Pearson.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Halim, S. (s.f.).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VisuAlgo: Sorting. </a:t>
            </a:r>
            <a:r>
              <a:rPr sz="2400" b="0" i="0">
                <a:solidFill>
                  <a:srgbClr val="1A5FB4"/>
                </a:solidFill>
                <a:latin typeface="Calibri"/>
                <a:hlinkClick r:id="rId4"/>
              </a:rPr>
              <a:t>visualgo.net/en/sorting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23"/>
          <p:cNvGrpSpPr/>
          <p:nvPr/>
        </p:nvGrpSpPr>
        <p:grpSpPr>
          <a:xfrm>
            <a:off x="4437795" y="3274804"/>
            <a:ext cx="8658900" cy="2029500"/>
            <a:chOff x="0" y="-152400"/>
            <a:chExt cx="11545200" cy="2706000"/>
          </a:xfrm>
        </p:grpSpPr>
        <p:sp>
          <p:nvSpPr>
            <p:cNvPr id="500" name="Google Shape;500;p23"/>
            <p:cNvSpPr/>
            <p:nvPr/>
          </p:nvSpPr>
          <p:spPr>
            <a:xfrm>
              <a:off x="0" y="0"/>
              <a:ext cx="11545200" cy="2553600"/>
            </a:xfrm>
            <a:custGeom>
              <a:rect b="b" l="l" r="r" t="t"/>
              <a:pathLst>
                <a:path extrusionOk="0" h="2553600" w="11545200">
                  <a:moveTo>
                    <a:pt x="0" y="0"/>
                  </a:moveTo>
                  <a:lnTo>
                    <a:pt x="11545200" y="0"/>
                  </a:lnTo>
                  <a:lnTo>
                    <a:pt x="11545200" y="2553600"/>
                  </a:lnTo>
                  <a:lnTo>
                    <a:pt x="0" y="25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3"/>
            <p:cNvSpPr txBox="1"/>
            <p:nvPr/>
          </p:nvSpPr>
          <p:spPr>
            <a:xfrm>
              <a:off x="0" y="-152400"/>
              <a:ext cx="11545200" cy="27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48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¡GRACIAS POR SU  ATENCIÓN!</a:t>
              </a:r>
              <a:endParaRPr/>
            </a:p>
            <a:p>
              <a:pPr indent="0" lvl="0" marL="0" marR="0" rtl="0" algn="just">
                <a:lnSpc>
                  <a:spcPct val="286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502" name="Google Shape;502;p23"/>
          <p:cNvGrpSpPr/>
          <p:nvPr/>
        </p:nvGrpSpPr>
        <p:grpSpPr>
          <a:xfrm>
            <a:off x="5414714" y="5679497"/>
            <a:ext cx="6704991" cy="1177131"/>
            <a:chOff x="0" y="-371475"/>
            <a:chExt cx="8939988" cy="1569508"/>
          </a:xfrm>
        </p:grpSpPr>
        <p:sp>
          <p:nvSpPr>
            <p:cNvPr id="503" name="Google Shape;503;p23"/>
            <p:cNvSpPr/>
            <p:nvPr/>
          </p:nvSpPr>
          <p:spPr>
            <a:xfrm>
              <a:off x="0" y="0"/>
              <a:ext cx="8939988" cy="1198033"/>
            </a:xfrm>
            <a:custGeom>
              <a:rect b="b" l="l" r="r" t="t"/>
              <a:pathLst>
                <a:path extrusionOk="0" h="1198033" w="8939988">
                  <a:moveTo>
                    <a:pt x="0" y="0"/>
                  </a:moveTo>
                  <a:lnTo>
                    <a:pt x="8939988" y="0"/>
                  </a:lnTo>
                  <a:lnTo>
                    <a:pt x="8939988" y="1198033"/>
                  </a:lnTo>
                  <a:lnTo>
                    <a:pt x="0" y="1198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3"/>
            <p:cNvSpPr txBox="1"/>
            <p:nvPr/>
          </p:nvSpPr>
          <p:spPr>
            <a:xfrm>
              <a:off x="0" y="-371475"/>
              <a:ext cx="8939988" cy="156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99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/>
            </a:p>
          </p:txBody>
        </p:sp>
      </p:grpSp>
      <p:sp>
        <p:nvSpPr>
          <p:cNvPr id="505" name="Google Shape;505;p23"/>
          <p:cNvSpPr/>
          <p:nvPr/>
        </p:nvSpPr>
        <p:spPr>
          <a:xfrm>
            <a:off x="13963751" y="1028700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" r="-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6" name="Google Shape;506;p23"/>
          <p:cNvGrpSpPr/>
          <p:nvPr/>
        </p:nvGrpSpPr>
        <p:grpSpPr>
          <a:xfrm>
            <a:off x="2411098" y="7785435"/>
            <a:ext cx="13465804" cy="833755"/>
            <a:chOff x="0" y="-152400"/>
            <a:chExt cx="17954405" cy="1111673"/>
          </a:xfrm>
        </p:grpSpPr>
        <p:sp>
          <p:nvSpPr>
            <p:cNvPr id="507" name="Google Shape;507;p23"/>
            <p:cNvSpPr/>
            <p:nvPr/>
          </p:nvSpPr>
          <p:spPr>
            <a:xfrm>
              <a:off x="0" y="0"/>
              <a:ext cx="17954405" cy="959273"/>
            </a:xfrm>
            <a:custGeom>
              <a:rect b="b" l="l" r="r" t="t"/>
              <a:pathLst>
                <a:path extrusionOk="0" h="959273" w="17954405">
                  <a:moveTo>
                    <a:pt x="0" y="0"/>
                  </a:moveTo>
                  <a:lnTo>
                    <a:pt x="17954405" y="0"/>
                  </a:lnTo>
                  <a:lnTo>
                    <a:pt x="17954405" y="959273"/>
                  </a:lnTo>
                  <a:lnTo>
                    <a:pt x="0" y="959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23"/>
            <p:cNvSpPr txBox="1"/>
            <p:nvPr/>
          </p:nvSpPr>
          <p:spPr>
            <a:xfrm>
              <a:off x="0" y="-152400"/>
              <a:ext cx="17954405" cy="1111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RECUERDA QUE TENEMOS NUESTRO FORO SEMANAL DONDE PUEDES CONSULTAR CUALQUIER DUDA QUE TE SURJA EN LA SEMANA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