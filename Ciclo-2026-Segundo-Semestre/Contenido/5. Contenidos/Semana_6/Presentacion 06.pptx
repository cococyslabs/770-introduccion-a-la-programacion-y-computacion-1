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Lst>
  <p:sldSz cy="10287000" cx="18288000"/>
  <p:notesSz cx="6858000" cy="9144000"/>
  <p:embeddedFontLst>
    <p:embeddedFont>
      <p:font typeface="Play"/>
      <p:regular r:id="rId49"/>
      <p:bold r:id="rId50"/>
    </p:embeddedFont>
    <p:embeddedFont>
      <p:font typeface="PT Sans"/>
      <p:regular r:id="rId51"/>
      <p:bold r:id="rId52"/>
      <p:italic r:id="rId53"/>
      <p:boldItalic r:id="rId54"/>
    </p:embeddedFont>
    <p:embeddedFont>
      <p:font typeface="Open Sans"/>
      <p:regular r:id="rId55"/>
      <p:bold r:id="rId56"/>
      <p:italic r:id="rId57"/>
      <p:boldItalic r:id="rId5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59" roundtripDataSignature="AMtx7mjNXR5VRLsJ+nK9ur1RyvIB+BRUo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font" Target="fonts/Play-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PTSans-regular.fntdata"/><Relationship Id="rId50" Type="http://schemas.openxmlformats.org/officeDocument/2006/relationships/font" Target="fonts/Play-bold.fntdata"/><Relationship Id="rId53" Type="http://schemas.openxmlformats.org/officeDocument/2006/relationships/font" Target="fonts/PTSans-italic.fntdata"/><Relationship Id="rId52" Type="http://schemas.openxmlformats.org/officeDocument/2006/relationships/font" Target="fonts/PTSans-bold.fntdata"/><Relationship Id="rId11" Type="http://schemas.openxmlformats.org/officeDocument/2006/relationships/slide" Target="slides/slide6.xml"/><Relationship Id="rId55" Type="http://schemas.openxmlformats.org/officeDocument/2006/relationships/font" Target="fonts/OpenSans-regular.fntdata"/><Relationship Id="rId10" Type="http://schemas.openxmlformats.org/officeDocument/2006/relationships/slide" Target="slides/slide5.xml"/><Relationship Id="rId54" Type="http://schemas.openxmlformats.org/officeDocument/2006/relationships/font" Target="fonts/PTSans-boldItalic.fntdata"/><Relationship Id="rId13" Type="http://schemas.openxmlformats.org/officeDocument/2006/relationships/slide" Target="slides/slide8.xml"/><Relationship Id="rId57" Type="http://schemas.openxmlformats.org/officeDocument/2006/relationships/font" Target="fonts/OpenSans-italic.fntdata"/><Relationship Id="rId12" Type="http://schemas.openxmlformats.org/officeDocument/2006/relationships/slide" Target="slides/slide7.xml"/><Relationship Id="rId56" Type="http://schemas.openxmlformats.org/officeDocument/2006/relationships/font" Target="fonts/OpenSans-bold.fntdata"/><Relationship Id="rId15" Type="http://schemas.openxmlformats.org/officeDocument/2006/relationships/slide" Target="slides/slide10.xml"/><Relationship Id="rId59" Type="http://customschemas.google.com/relationships/presentationmetadata" Target="metadata"/><Relationship Id="rId14" Type="http://schemas.openxmlformats.org/officeDocument/2006/relationships/slide" Target="slides/slide9.xml"/><Relationship Id="rId58" Type="http://schemas.openxmlformats.org/officeDocument/2006/relationships/font" Target="fonts/OpenSans-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2" name="Google Shape;92;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3" name="Google Shape;123;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9" name="Google Shape;12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5" name="Google Shape;145;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9" name="Google Shape;159;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3" name="Google Shape;173;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7" name="Google Shape;187;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1" name="Google Shape;201;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5" name="Google Shape;215;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0" name="Google Shape;230;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2" name="Google Shape;242;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6" name="Google Shape;256;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0" name="Google Shape;270;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2" name="Google Shape;292;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1" name="Google Shape;321;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5" name="Google Shape;335;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0" name="Google Shape;350;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6" name="Google Shape;366;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2" name="Google Shape;382;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6" name="Google Shape;396;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4" name="Google Shape;414;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7" name="Google Shape;447;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61" name="Google Shape;461;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7" name="Google Shape;477;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91" name="Google Shape;491;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09" name="Google Shape;509;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30" name="Google Shape;530;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44" name="Google Shape;544;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58" name="Google Shape;558;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74" name="Google Shape;574;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89" name="Google Shape;589;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03" name="Google Shape;603;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16" name="Google Shape;616;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30" name="Google Shape;630;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45" name="Google Shape;645;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60" name="Google Shape;660;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75" name="Google Shape;675;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90" name="Google Shape;690;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95" name="Google Shape;695;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01" name="Google Shape;701;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06" name="Google Shape;706;p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0" name="Shape 710"/>
        <p:cNvGrpSpPr/>
        <p:nvPr/>
      </p:nvGrpSpPr>
      <p:grpSpPr>
        <a:xfrm>
          <a:off x="0" y="0"/>
          <a:ext cx="0" cy="0"/>
          <a:chOff x="0" y="0"/>
          <a:chExt cx="0" cy="0"/>
        </a:xfrm>
      </p:grpSpPr>
      <p:sp>
        <p:nvSpPr>
          <p:cNvPr id="711" name="Google Shape;711;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12" name="Google Shape;712;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4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4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4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46"/>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46"/>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4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4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4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48"/>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8"/>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4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4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4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49"/>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49"/>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5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50"/>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50"/>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50"/>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50"/>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5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5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5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5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5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5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5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52"/>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52"/>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52"/>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5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5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5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53"/>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53"/>
          <p:cNvSpPr/>
          <p:nvPr>
            <p:ph idx="2" type="pic"/>
          </p:nvPr>
        </p:nvSpPr>
        <p:spPr>
          <a:xfrm>
            <a:off x="1792288" y="612775"/>
            <a:ext cx="5486400" cy="4114800"/>
          </a:xfrm>
          <a:prstGeom prst="rect">
            <a:avLst/>
          </a:prstGeom>
          <a:noFill/>
          <a:ln>
            <a:noFill/>
          </a:ln>
        </p:spPr>
      </p:sp>
      <p:sp>
        <p:nvSpPr>
          <p:cNvPr id="64" name="Google Shape;64;p53"/>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5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5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5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5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54"/>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5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5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5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55"/>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55"/>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5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5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5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4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4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7.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8.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7.pn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6.png"/><Relationship Id="rId4" Type="http://schemas.openxmlformats.org/officeDocument/2006/relationships/image" Target="../media/image19.png"/><Relationship Id="rId5" Type="http://schemas.openxmlformats.org/officeDocument/2006/relationships/image" Target="../media/image25.png"/><Relationship Id="rId6"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0.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1.png"/><Relationship Id="rId4" Type="http://schemas.openxmlformats.org/officeDocument/2006/relationships/image" Target="../media/image2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3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4.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6.png"/><Relationship Id="rId4" Type="http://schemas.openxmlformats.org/officeDocument/2006/relationships/image" Target="../media/image2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9.png"/><Relationship Id="rId4" Type="http://schemas.openxmlformats.org/officeDocument/2006/relationships/image" Target="../media/image31.png"/><Relationship Id="rId5" Type="http://schemas.openxmlformats.org/officeDocument/2006/relationships/image" Target="../media/image3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33.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3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3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3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35.png"/><Relationship Id="rId4" Type="http://schemas.openxmlformats.org/officeDocument/2006/relationships/image" Target="../media/image4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3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3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4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4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4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4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12541309" y="0"/>
            <a:ext cx="5746691" cy="171178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sp>
      <p:sp>
        <p:nvSpPr>
          <p:cNvPr id="85" name="Google Shape;85;p1"/>
          <p:cNvSpPr txBox="1"/>
          <p:nvPr/>
        </p:nvSpPr>
        <p:spPr>
          <a:xfrm>
            <a:off x="0" y="7834026"/>
            <a:ext cx="17558604" cy="8636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5000"/>
              <a:buFont typeface="Arial"/>
              <a:buNone/>
            </a:pPr>
            <a:r>
              <a:rPr b="1" i="0" lang="en-US" sz="5000" u="none" cap="none" strike="noStrike">
                <a:solidFill>
                  <a:srgbClr val="131416"/>
                </a:solidFill>
                <a:latin typeface="Open Sans"/>
                <a:ea typeface="Open Sans"/>
                <a:cs typeface="Open Sans"/>
                <a:sym typeface="Open Sans"/>
              </a:rPr>
              <a:t>Introducción a la Programación y Computación 1</a:t>
            </a:r>
            <a:endParaRPr b="0" i="0" sz="1400" u="none" cap="none" strike="noStrike">
              <a:solidFill>
                <a:srgbClr val="000000"/>
              </a:solidFill>
              <a:latin typeface="Arial"/>
              <a:ea typeface="Arial"/>
              <a:cs typeface="Arial"/>
              <a:sym typeface="Arial"/>
            </a:endParaRPr>
          </a:p>
        </p:txBody>
      </p:sp>
      <p:sp>
        <p:nvSpPr>
          <p:cNvPr id="86" name="Google Shape;86;p1"/>
          <p:cNvSpPr txBox="1"/>
          <p:nvPr/>
        </p:nvSpPr>
        <p:spPr>
          <a:xfrm>
            <a:off x="122709" y="2359833"/>
            <a:ext cx="17749800" cy="53811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9200"/>
              <a:buFont typeface="Arial"/>
              <a:buNone/>
            </a:pPr>
            <a:r>
              <a:rPr b="1" lang="en-US" sz="9200">
                <a:solidFill>
                  <a:srgbClr val="131416"/>
                </a:solidFill>
                <a:latin typeface="Open Sans"/>
                <a:ea typeface="Open Sans"/>
                <a:cs typeface="Open Sans"/>
                <a:sym typeface="Open Sans"/>
              </a:rPr>
              <a:t>Métodos de Ordenamiento, Pilas de ordenamiento y Recursividad</a:t>
            </a:r>
            <a:endParaRPr b="0" i="0" sz="1400" u="none" cap="none" strike="noStrike">
              <a:solidFill>
                <a:srgbClr val="000000"/>
              </a:solidFill>
              <a:latin typeface="Arial"/>
              <a:ea typeface="Arial"/>
              <a:cs typeface="Arial"/>
              <a:sym typeface="Arial"/>
            </a:endParaRPr>
          </a:p>
        </p:txBody>
      </p:sp>
      <p:sp>
        <p:nvSpPr>
          <p:cNvPr id="87" name="Google Shape;87;p1"/>
          <p:cNvSpPr txBox="1"/>
          <p:nvPr/>
        </p:nvSpPr>
        <p:spPr>
          <a:xfrm>
            <a:off x="1063303" y="8745251"/>
            <a:ext cx="6981379" cy="422275"/>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Escuela de Ingenieria de Ciencias Y Sistemas</a:t>
            </a:r>
            <a:endParaRPr b="0" i="0" sz="1400" u="none" cap="none" strike="noStrike">
              <a:solidFill>
                <a:srgbClr val="000000"/>
              </a:solidFill>
              <a:latin typeface="Arial"/>
              <a:ea typeface="Arial"/>
              <a:cs typeface="Arial"/>
              <a:sym typeface="Arial"/>
            </a:endParaRPr>
          </a:p>
        </p:txBody>
      </p:sp>
      <p:sp>
        <p:nvSpPr>
          <p:cNvPr id="88" name="Google Shape;88;p1"/>
          <p:cNvSpPr txBox="1"/>
          <p:nvPr/>
        </p:nvSpPr>
        <p:spPr>
          <a:xfrm>
            <a:off x="1028700" y="9210675"/>
            <a:ext cx="3525292" cy="422275"/>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Facultad de Ingenieria</a:t>
            </a:r>
            <a:endParaRPr b="0" i="0" sz="1400" u="none" cap="none" strike="noStrike">
              <a:solidFill>
                <a:srgbClr val="000000"/>
              </a:solidFill>
              <a:latin typeface="Arial"/>
              <a:ea typeface="Arial"/>
              <a:cs typeface="Arial"/>
              <a:sym typeface="Arial"/>
            </a:endParaRPr>
          </a:p>
        </p:txBody>
      </p:sp>
      <p:sp>
        <p:nvSpPr>
          <p:cNvPr id="89" name="Google Shape;89;p1"/>
          <p:cNvSpPr txBox="1"/>
          <p:nvPr/>
        </p:nvSpPr>
        <p:spPr>
          <a:xfrm>
            <a:off x="1028700" y="9585325"/>
            <a:ext cx="6407944" cy="422275"/>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131416"/>
                </a:solidFill>
                <a:latin typeface="Open Sans"/>
                <a:ea typeface="Open Sans"/>
                <a:cs typeface="Open Sans"/>
                <a:sym typeface="Open Sans"/>
              </a:rPr>
              <a:t>Universidad de San Carlos de Guatemala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descr="Una página en un planificador" id="94" name="Google Shape;94;p2"/>
          <p:cNvSpPr/>
          <p:nvPr/>
        </p:nvSpPr>
        <p:spPr>
          <a:xfrm>
            <a:off x="4602" y="0"/>
            <a:ext cx="18283428" cy="10287000"/>
          </a:xfrm>
          <a:custGeom>
            <a:rect b="b" l="l" r="r" t="t"/>
            <a:pathLst>
              <a:path extrusionOk="0" h="13716000" w="24377904">
                <a:moveTo>
                  <a:pt x="0" y="0"/>
                </a:moveTo>
                <a:lnTo>
                  <a:pt x="24377904" y="0"/>
                </a:lnTo>
                <a:lnTo>
                  <a:pt x="24377904" y="13716000"/>
                </a:lnTo>
                <a:lnTo>
                  <a:pt x="0" y="13716000"/>
                </a:lnTo>
                <a:lnTo>
                  <a:pt x="0" y="0"/>
                </a:lnTo>
                <a:close/>
              </a:path>
            </a:pathLst>
          </a:custGeom>
          <a:blipFill rotWithShape="1">
            <a:blip r:embed="rId3">
              <a:alphaModFix/>
            </a:blip>
            <a:stretch>
              <a:fillRect b="-25270" l="0" r="-10165" t="-5229"/>
            </a:stretch>
          </a:blipFill>
          <a:ln>
            <a:noFill/>
          </a:ln>
        </p:spPr>
      </p:sp>
      <p:grpSp>
        <p:nvGrpSpPr>
          <p:cNvPr id="95" name="Google Shape;95;p2"/>
          <p:cNvGrpSpPr/>
          <p:nvPr/>
        </p:nvGrpSpPr>
        <p:grpSpPr>
          <a:xfrm>
            <a:off x="472524" y="4437585"/>
            <a:ext cx="7947148" cy="976829"/>
            <a:chOff x="0" y="-76200"/>
            <a:chExt cx="3383502" cy="415886"/>
          </a:xfrm>
        </p:grpSpPr>
        <p:sp>
          <p:nvSpPr>
            <p:cNvPr id="96" name="Google Shape;96;p2"/>
            <p:cNvSpPr/>
            <p:nvPr/>
          </p:nvSpPr>
          <p:spPr>
            <a:xfrm>
              <a:off x="0" y="0"/>
              <a:ext cx="3383502" cy="339686"/>
            </a:xfrm>
            <a:custGeom>
              <a:rect b="b" l="l" r="r" t="t"/>
              <a:pathLst>
                <a:path extrusionOk="0" h="339686" w="3383502">
                  <a:moveTo>
                    <a:pt x="3180302" y="0"/>
                  </a:moveTo>
                  <a:lnTo>
                    <a:pt x="0" y="0"/>
                  </a:lnTo>
                  <a:lnTo>
                    <a:pt x="0" y="339686"/>
                  </a:lnTo>
                  <a:lnTo>
                    <a:pt x="3180302" y="339686"/>
                  </a:lnTo>
                  <a:lnTo>
                    <a:pt x="3383502" y="169843"/>
                  </a:lnTo>
                  <a:lnTo>
                    <a:pt x="3180302" y="0"/>
                  </a:lnTo>
                  <a:close/>
                </a:path>
              </a:pathLst>
            </a:custGeom>
            <a:solidFill>
              <a:srgbClr val="FFFFFF"/>
            </a:solidFill>
            <a:ln>
              <a:noFill/>
            </a:ln>
          </p:spPr>
        </p:sp>
        <p:sp>
          <p:nvSpPr>
            <p:cNvPr id="97" name="Google Shape;97;p2"/>
            <p:cNvSpPr txBox="1"/>
            <p:nvPr/>
          </p:nvSpPr>
          <p:spPr>
            <a:xfrm>
              <a:off x="0" y="-76200"/>
              <a:ext cx="3269202" cy="415886"/>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Métodos de ordenamiento</a:t>
              </a:r>
              <a:endParaRPr b="0" i="0" sz="1400" u="none" cap="none" strike="noStrike">
                <a:solidFill>
                  <a:srgbClr val="000000"/>
                </a:solidFill>
                <a:latin typeface="Arial"/>
                <a:ea typeface="Arial"/>
                <a:cs typeface="Arial"/>
                <a:sym typeface="Arial"/>
              </a:endParaRPr>
            </a:p>
          </p:txBody>
        </p:sp>
      </p:grpSp>
      <p:sp>
        <p:nvSpPr>
          <p:cNvPr id="98" name="Google Shape;98;p2"/>
          <p:cNvSpPr/>
          <p:nvPr/>
        </p:nvSpPr>
        <p:spPr>
          <a:xfrm>
            <a:off x="878654" y="4740441"/>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4">
              <a:alphaModFix/>
            </a:blip>
            <a:stretch>
              <a:fillRect b="0" l="0" r="0" t="0"/>
            </a:stretch>
          </a:blipFill>
          <a:ln>
            <a:noFill/>
          </a:ln>
        </p:spPr>
      </p:sp>
      <p:grpSp>
        <p:nvGrpSpPr>
          <p:cNvPr id="99" name="Google Shape;99;p2"/>
          <p:cNvGrpSpPr/>
          <p:nvPr/>
        </p:nvGrpSpPr>
        <p:grpSpPr>
          <a:xfrm>
            <a:off x="1866989" y="3013983"/>
            <a:ext cx="4115190" cy="1556484"/>
            <a:chOff x="0" y="-76200"/>
            <a:chExt cx="1083836" cy="409938"/>
          </a:xfrm>
        </p:grpSpPr>
        <p:sp>
          <p:nvSpPr>
            <p:cNvPr id="100" name="Google Shape;100;p2"/>
            <p:cNvSpPr/>
            <p:nvPr/>
          </p:nvSpPr>
          <p:spPr>
            <a:xfrm>
              <a:off x="0" y="0"/>
              <a:ext cx="1083836" cy="333738"/>
            </a:xfrm>
            <a:custGeom>
              <a:rect b="b" l="l" r="r" t="t"/>
              <a:pathLst>
                <a:path extrusionOk="0" h="333738" w="1083836">
                  <a:moveTo>
                    <a:pt x="880636" y="0"/>
                  </a:moveTo>
                  <a:lnTo>
                    <a:pt x="0" y="0"/>
                  </a:lnTo>
                  <a:lnTo>
                    <a:pt x="0" y="333738"/>
                  </a:lnTo>
                  <a:lnTo>
                    <a:pt x="880636" y="333738"/>
                  </a:lnTo>
                  <a:lnTo>
                    <a:pt x="1083836" y="166869"/>
                  </a:lnTo>
                  <a:lnTo>
                    <a:pt x="880636" y="0"/>
                  </a:lnTo>
                  <a:close/>
                </a:path>
              </a:pathLst>
            </a:custGeom>
            <a:solidFill>
              <a:srgbClr val="FFFFFF"/>
            </a:solidFill>
            <a:ln>
              <a:noFill/>
            </a:ln>
          </p:spPr>
        </p:sp>
        <p:sp>
          <p:nvSpPr>
            <p:cNvPr id="101" name="Google Shape;101;p2"/>
            <p:cNvSpPr txBox="1"/>
            <p:nvPr/>
          </p:nvSpPr>
          <p:spPr>
            <a:xfrm>
              <a:off x="0" y="-76200"/>
              <a:ext cx="969536" cy="409938"/>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RECORDATORIOS</a:t>
              </a:r>
              <a:endParaRPr b="0" i="0" sz="1400" u="none" cap="none" strike="noStrike">
                <a:solidFill>
                  <a:srgbClr val="000000"/>
                </a:solidFill>
                <a:latin typeface="Arial"/>
                <a:ea typeface="Arial"/>
                <a:cs typeface="Arial"/>
                <a:sym typeface="Arial"/>
              </a:endParaRPr>
            </a:p>
          </p:txBody>
        </p:sp>
      </p:grpSp>
      <p:sp>
        <p:nvSpPr>
          <p:cNvPr id="102" name="Google Shape;102;p2"/>
          <p:cNvSpPr/>
          <p:nvPr/>
        </p:nvSpPr>
        <p:spPr>
          <a:xfrm>
            <a:off x="651754" y="3429735"/>
            <a:ext cx="753892" cy="872928"/>
          </a:xfrm>
          <a:custGeom>
            <a:rect b="b" l="l" r="r" t="t"/>
            <a:pathLst>
              <a:path extrusionOk="0" h="872928" w="753892">
                <a:moveTo>
                  <a:pt x="0" y="0"/>
                </a:moveTo>
                <a:lnTo>
                  <a:pt x="753892" y="0"/>
                </a:lnTo>
                <a:lnTo>
                  <a:pt x="753892" y="872927"/>
                </a:lnTo>
                <a:lnTo>
                  <a:pt x="0" y="872927"/>
                </a:lnTo>
                <a:lnTo>
                  <a:pt x="0" y="0"/>
                </a:lnTo>
                <a:close/>
              </a:path>
            </a:pathLst>
          </a:custGeom>
          <a:blipFill rotWithShape="1">
            <a:blip r:embed="rId5">
              <a:alphaModFix/>
            </a:blip>
            <a:stretch>
              <a:fillRect b="0" l="0" r="0" t="0"/>
            </a:stretch>
          </a:blipFill>
          <a:ln>
            <a:noFill/>
          </a:ln>
        </p:spPr>
      </p:sp>
      <p:grpSp>
        <p:nvGrpSpPr>
          <p:cNvPr id="103" name="Google Shape;103;p2"/>
          <p:cNvGrpSpPr/>
          <p:nvPr/>
        </p:nvGrpSpPr>
        <p:grpSpPr>
          <a:xfrm>
            <a:off x="651754" y="-320617"/>
            <a:ext cx="6140237" cy="3052280"/>
            <a:chOff x="0" y="-95250"/>
            <a:chExt cx="8186982" cy="4069708"/>
          </a:xfrm>
        </p:grpSpPr>
        <p:sp>
          <p:nvSpPr>
            <p:cNvPr id="104" name="Google Shape;104;p2"/>
            <p:cNvSpPr txBox="1"/>
            <p:nvPr/>
          </p:nvSpPr>
          <p:spPr>
            <a:xfrm>
              <a:off x="0" y="986783"/>
              <a:ext cx="8186982" cy="2987675"/>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5000"/>
                <a:buFont typeface="Arial"/>
                <a:buNone/>
              </a:pPr>
              <a:r>
                <a:rPr b="0" i="0" lang="en-US" sz="15000" u="none" cap="none" strike="noStrike">
                  <a:solidFill>
                    <a:srgbClr val="131416"/>
                  </a:solidFill>
                  <a:latin typeface="Play"/>
                  <a:ea typeface="Play"/>
                  <a:cs typeface="Play"/>
                  <a:sym typeface="Play"/>
                </a:rPr>
                <a:t>Agenda</a:t>
              </a:r>
              <a:endParaRPr b="0" i="0" sz="1400" u="none" cap="none" strike="noStrike">
                <a:solidFill>
                  <a:srgbClr val="000000"/>
                </a:solidFill>
                <a:latin typeface="Arial"/>
                <a:ea typeface="Arial"/>
                <a:cs typeface="Arial"/>
                <a:sym typeface="Arial"/>
              </a:endParaRPr>
            </a:p>
          </p:txBody>
        </p:sp>
        <p:sp>
          <p:nvSpPr>
            <p:cNvPr id="105" name="Google Shape;105;p2"/>
            <p:cNvSpPr txBox="1"/>
            <p:nvPr/>
          </p:nvSpPr>
          <p:spPr>
            <a:xfrm>
              <a:off x="0" y="-95250"/>
              <a:ext cx="8186982" cy="927435"/>
            </a:xfrm>
            <a:prstGeom prst="rect">
              <a:avLst/>
            </a:prstGeom>
            <a:noFill/>
            <a:ln>
              <a:noFill/>
            </a:ln>
          </p:spPr>
          <p:txBody>
            <a:bodyPr anchorCtr="0" anchor="t" bIns="0" lIns="0" spcFirstLastPara="1" rIns="0" wrap="square" tIns="0">
              <a:spAutoFit/>
            </a:bodyPr>
            <a:lstStyle/>
            <a:p>
              <a:pPr indent="0" lvl="0" marL="0" marR="0" rtl="0" algn="l">
                <a:lnSpc>
                  <a:spcPct val="3185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06" name="Google Shape;106;p2"/>
          <p:cNvGrpSpPr/>
          <p:nvPr/>
        </p:nvGrpSpPr>
        <p:grpSpPr>
          <a:xfrm>
            <a:off x="11131715" y="97566"/>
            <a:ext cx="8416862" cy="2901857"/>
            <a:chOff x="0" y="-76200"/>
            <a:chExt cx="11222483" cy="3869143"/>
          </a:xfrm>
        </p:grpSpPr>
        <p:sp>
          <p:nvSpPr>
            <p:cNvPr id="107" name="Google Shape;107;p2"/>
            <p:cNvSpPr txBox="1"/>
            <p:nvPr/>
          </p:nvSpPr>
          <p:spPr>
            <a:xfrm>
              <a:off x="0" y="805268"/>
              <a:ext cx="11222483" cy="2987675"/>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5000"/>
                <a:buFont typeface="Arial"/>
                <a:buNone/>
              </a:pPr>
              <a:r>
                <a:rPr b="0" i="0" lang="en-US" sz="15000" u="none" cap="none" strike="noStrike">
                  <a:solidFill>
                    <a:srgbClr val="131416"/>
                  </a:solidFill>
                  <a:latin typeface="Play"/>
                  <a:ea typeface="Play"/>
                  <a:cs typeface="Play"/>
                  <a:sym typeface="Play"/>
                </a:rPr>
                <a:t>Recursos</a:t>
              </a:r>
              <a:endParaRPr b="0" i="0" sz="1400" u="none" cap="none" strike="noStrike">
                <a:solidFill>
                  <a:srgbClr val="000000"/>
                </a:solidFill>
                <a:latin typeface="Arial"/>
                <a:ea typeface="Arial"/>
                <a:cs typeface="Arial"/>
                <a:sym typeface="Arial"/>
              </a:endParaRPr>
            </a:p>
          </p:txBody>
        </p:sp>
        <p:sp>
          <p:nvSpPr>
            <p:cNvPr id="108" name="Google Shape;108;p2"/>
            <p:cNvSpPr txBox="1"/>
            <p:nvPr/>
          </p:nvSpPr>
          <p:spPr>
            <a:xfrm>
              <a:off x="0" y="-76200"/>
              <a:ext cx="11222483" cy="747545"/>
            </a:xfrm>
            <a:prstGeom prst="rect">
              <a:avLst/>
            </a:prstGeom>
            <a:noFill/>
            <a:ln>
              <a:noFill/>
            </a:ln>
          </p:spPr>
          <p:txBody>
            <a:bodyPr anchorCtr="0" anchor="t" bIns="0" lIns="0" spcFirstLastPara="1" rIns="0" wrap="square" tIns="0">
              <a:spAutoFit/>
            </a:bodyPr>
            <a:lstStyle/>
            <a:p>
              <a:pPr indent="0" lvl="0" marL="0" marR="0" rtl="0" algn="l">
                <a:lnSpc>
                  <a:spcPct val="256944"/>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09" name="Google Shape;109;p2"/>
          <p:cNvGrpSpPr/>
          <p:nvPr/>
        </p:nvGrpSpPr>
        <p:grpSpPr>
          <a:xfrm>
            <a:off x="472524" y="5444302"/>
            <a:ext cx="6270124" cy="845385"/>
            <a:chOff x="0" y="-76200"/>
            <a:chExt cx="2669508" cy="359923"/>
          </a:xfrm>
        </p:grpSpPr>
        <p:sp>
          <p:nvSpPr>
            <p:cNvPr id="110" name="Google Shape;110;p2"/>
            <p:cNvSpPr/>
            <p:nvPr/>
          </p:nvSpPr>
          <p:spPr>
            <a:xfrm>
              <a:off x="0" y="0"/>
              <a:ext cx="2669508" cy="283723"/>
            </a:xfrm>
            <a:custGeom>
              <a:rect b="b" l="l" r="r" t="t"/>
              <a:pathLst>
                <a:path extrusionOk="0" h="283723" w="2669508">
                  <a:moveTo>
                    <a:pt x="2466308" y="0"/>
                  </a:moveTo>
                  <a:lnTo>
                    <a:pt x="0" y="0"/>
                  </a:lnTo>
                  <a:lnTo>
                    <a:pt x="0" y="283723"/>
                  </a:lnTo>
                  <a:lnTo>
                    <a:pt x="2466308" y="283723"/>
                  </a:lnTo>
                  <a:lnTo>
                    <a:pt x="2669508" y="141862"/>
                  </a:lnTo>
                  <a:lnTo>
                    <a:pt x="2466308" y="0"/>
                  </a:lnTo>
                  <a:close/>
                </a:path>
              </a:pathLst>
            </a:custGeom>
            <a:solidFill>
              <a:srgbClr val="FFFFFF"/>
            </a:solidFill>
            <a:ln>
              <a:noFill/>
            </a:ln>
          </p:spPr>
        </p:sp>
        <p:sp>
          <p:nvSpPr>
            <p:cNvPr id="111" name="Google Shape;111;p2"/>
            <p:cNvSpPr txBox="1"/>
            <p:nvPr/>
          </p:nvSpPr>
          <p:spPr>
            <a:xfrm>
              <a:off x="0" y="-76200"/>
              <a:ext cx="2555208" cy="359923"/>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Pila de Ejecución</a:t>
              </a:r>
              <a:endParaRPr b="0" i="0" sz="1400" u="none" cap="none" strike="noStrike">
                <a:solidFill>
                  <a:srgbClr val="000000"/>
                </a:solidFill>
                <a:latin typeface="Arial"/>
                <a:ea typeface="Arial"/>
                <a:cs typeface="Arial"/>
                <a:sym typeface="Arial"/>
              </a:endParaRPr>
            </a:p>
          </p:txBody>
        </p:sp>
      </p:grpSp>
      <p:grpSp>
        <p:nvGrpSpPr>
          <p:cNvPr id="112" name="Google Shape;112;p2"/>
          <p:cNvGrpSpPr/>
          <p:nvPr/>
        </p:nvGrpSpPr>
        <p:grpSpPr>
          <a:xfrm>
            <a:off x="472524" y="6425875"/>
            <a:ext cx="6270124" cy="845385"/>
            <a:chOff x="0" y="-76200"/>
            <a:chExt cx="2669508" cy="359923"/>
          </a:xfrm>
        </p:grpSpPr>
        <p:sp>
          <p:nvSpPr>
            <p:cNvPr id="113" name="Google Shape;113;p2"/>
            <p:cNvSpPr/>
            <p:nvPr/>
          </p:nvSpPr>
          <p:spPr>
            <a:xfrm>
              <a:off x="0" y="0"/>
              <a:ext cx="2669508" cy="283723"/>
            </a:xfrm>
            <a:custGeom>
              <a:rect b="b" l="l" r="r" t="t"/>
              <a:pathLst>
                <a:path extrusionOk="0" h="283723" w="2669508">
                  <a:moveTo>
                    <a:pt x="2466308" y="0"/>
                  </a:moveTo>
                  <a:lnTo>
                    <a:pt x="0" y="0"/>
                  </a:lnTo>
                  <a:lnTo>
                    <a:pt x="0" y="283723"/>
                  </a:lnTo>
                  <a:lnTo>
                    <a:pt x="2466308" y="283723"/>
                  </a:lnTo>
                  <a:lnTo>
                    <a:pt x="2669508" y="141862"/>
                  </a:lnTo>
                  <a:lnTo>
                    <a:pt x="2466308" y="0"/>
                  </a:lnTo>
                  <a:close/>
                </a:path>
              </a:pathLst>
            </a:custGeom>
            <a:solidFill>
              <a:srgbClr val="FFFFFF"/>
            </a:solidFill>
            <a:ln>
              <a:noFill/>
            </a:ln>
          </p:spPr>
        </p:sp>
        <p:sp>
          <p:nvSpPr>
            <p:cNvPr id="114" name="Google Shape;114;p2"/>
            <p:cNvSpPr txBox="1"/>
            <p:nvPr/>
          </p:nvSpPr>
          <p:spPr>
            <a:xfrm>
              <a:off x="0" y="-76200"/>
              <a:ext cx="2555208" cy="359923"/>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Recursividad</a:t>
              </a:r>
              <a:endParaRPr b="0" i="0" sz="1400" u="none" cap="none" strike="noStrike">
                <a:solidFill>
                  <a:srgbClr val="000000"/>
                </a:solidFill>
                <a:latin typeface="Arial"/>
                <a:ea typeface="Arial"/>
                <a:cs typeface="Arial"/>
                <a:sym typeface="Arial"/>
              </a:endParaRPr>
            </a:p>
          </p:txBody>
        </p:sp>
      </p:grpSp>
      <p:grpSp>
        <p:nvGrpSpPr>
          <p:cNvPr id="115" name="Google Shape;115;p2"/>
          <p:cNvGrpSpPr/>
          <p:nvPr/>
        </p:nvGrpSpPr>
        <p:grpSpPr>
          <a:xfrm>
            <a:off x="472524" y="7425657"/>
            <a:ext cx="6904120" cy="845385"/>
            <a:chOff x="0" y="-76200"/>
            <a:chExt cx="2939432" cy="359923"/>
          </a:xfrm>
        </p:grpSpPr>
        <p:sp>
          <p:nvSpPr>
            <p:cNvPr id="116" name="Google Shape;116;p2"/>
            <p:cNvSpPr/>
            <p:nvPr/>
          </p:nvSpPr>
          <p:spPr>
            <a:xfrm>
              <a:off x="0" y="0"/>
              <a:ext cx="2939432" cy="283723"/>
            </a:xfrm>
            <a:custGeom>
              <a:rect b="b" l="l" r="r" t="t"/>
              <a:pathLst>
                <a:path extrusionOk="0" h="283723" w="2939432">
                  <a:moveTo>
                    <a:pt x="2736232" y="0"/>
                  </a:moveTo>
                  <a:lnTo>
                    <a:pt x="0" y="0"/>
                  </a:lnTo>
                  <a:lnTo>
                    <a:pt x="0" y="283723"/>
                  </a:lnTo>
                  <a:lnTo>
                    <a:pt x="2736232" y="283723"/>
                  </a:lnTo>
                  <a:lnTo>
                    <a:pt x="2939432" y="141862"/>
                  </a:lnTo>
                  <a:lnTo>
                    <a:pt x="2736232" y="0"/>
                  </a:lnTo>
                  <a:close/>
                </a:path>
              </a:pathLst>
            </a:custGeom>
            <a:solidFill>
              <a:srgbClr val="FFFFFF"/>
            </a:solidFill>
            <a:ln>
              <a:noFill/>
            </a:ln>
          </p:spPr>
        </p:sp>
        <p:sp>
          <p:nvSpPr>
            <p:cNvPr id="117" name="Google Shape;117;p2"/>
            <p:cNvSpPr txBox="1"/>
            <p:nvPr/>
          </p:nvSpPr>
          <p:spPr>
            <a:xfrm>
              <a:off x="0" y="-76200"/>
              <a:ext cx="2825132" cy="359923"/>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Archivos de Texto Plano</a:t>
              </a:r>
              <a:endParaRPr b="0" i="0" sz="1400" u="none" cap="none" strike="noStrike">
                <a:solidFill>
                  <a:srgbClr val="000000"/>
                </a:solidFill>
                <a:latin typeface="Arial"/>
                <a:ea typeface="Arial"/>
                <a:cs typeface="Arial"/>
                <a:sym typeface="Arial"/>
              </a:endParaRPr>
            </a:p>
          </p:txBody>
        </p:sp>
      </p:grpSp>
      <p:sp>
        <p:nvSpPr>
          <p:cNvPr id="118" name="Google Shape;118;p2"/>
          <p:cNvSpPr/>
          <p:nvPr/>
        </p:nvSpPr>
        <p:spPr>
          <a:xfrm>
            <a:off x="878654" y="5623280"/>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4">
              <a:alphaModFix/>
            </a:blip>
            <a:stretch>
              <a:fillRect b="0" l="0" r="0" t="0"/>
            </a:stretch>
          </a:blipFill>
          <a:ln>
            <a:noFill/>
          </a:ln>
        </p:spPr>
      </p:sp>
      <p:sp>
        <p:nvSpPr>
          <p:cNvPr id="119" name="Google Shape;119;p2"/>
          <p:cNvSpPr/>
          <p:nvPr/>
        </p:nvSpPr>
        <p:spPr>
          <a:xfrm>
            <a:off x="878654" y="6604853"/>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4">
              <a:alphaModFix/>
            </a:blip>
            <a:stretch>
              <a:fillRect b="0" l="0" r="0" t="0"/>
            </a:stretch>
          </a:blipFill>
          <a:ln>
            <a:noFill/>
          </a:ln>
        </p:spPr>
      </p:sp>
      <p:sp>
        <p:nvSpPr>
          <p:cNvPr id="120" name="Google Shape;120;p2"/>
          <p:cNvSpPr/>
          <p:nvPr/>
        </p:nvSpPr>
        <p:spPr>
          <a:xfrm>
            <a:off x="878654" y="7604635"/>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3"/>
          <p:cNvSpPr txBox="1"/>
          <p:nvPr/>
        </p:nvSpPr>
        <p:spPr>
          <a:xfrm>
            <a:off x="1374889" y="654364"/>
            <a:ext cx="13991174" cy="180102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Arial"/>
                <a:ea typeface="Arial"/>
                <a:cs typeface="Arial"/>
                <a:sym typeface="Arial"/>
              </a:rPr>
              <a:t>COMPETENCIA(S) QUE DESARROLLAREMOS</a:t>
            </a:r>
            <a:endParaRPr b="0" i="0" sz="1400" u="none" cap="none" strike="noStrike">
              <a:solidFill>
                <a:srgbClr val="000000"/>
              </a:solidFill>
              <a:latin typeface="Arial"/>
              <a:ea typeface="Arial"/>
              <a:cs typeface="Arial"/>
              <a:sym typeface="Arial"/>
            </a:endParaRPr>
          </a:p>
        </p:txBody>
      </p:sp>
      <p:sp>
        <p:nvSpPr>
          <p:cNvPr id="126" name="Google Shape;126;p3"/>
          <p:cNvSpPr txBox="1"/>
          <p:nvPr/>
        </p:nvSpPr>
        <p:spPr>
          <a:xfrm>
            <a:off x="265870" y="3003657"/>
            <a:ext cx="17756261" cy="582676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4000"/>
              <a:buFont typeface="Arial"/>
              <a:buNone/>
            </a:pPr>
            <a:r>
              <a:rPr b="0" i="0" lang="en-US" sz="4000" u="none" cap="none" strike="noStrike">
                <a:solidFill>
                  <a:srgbClr val="131416"/>
                </a:solidFill>
                <a:latin typeface="Open Sans"/>
                <a:ea typeface="Open Sans"/>
                <a:cs typeface="Open Sans"/>
                <a:sym typeface="Open Sans"/>
              </a:rPr>
              <a:t>Analiza Estructuras de datos complejas y algoritmos de ordenamiento Utilizando técnicas de análisis de complejidad temporal y Para optimizar el rendimiento y eficiencia de aplicaciones.</a:t>
            </a:r>
            <a:endParaRPr b="0" i="0" sz="1400" u="none" cap="none" strike="noStrike">
              <a:solidFill>
                <a:srgbClr val="000000"/>
              </a:solidFill>
              <a:latin typeface="Arial"/>
              <a:ea typeface="Arial"/>
              <a:cs typeface="Arial"/>
              <a:sym typeface="Arial"/>
            </a:endParaRPr>
          </a:p>
          <a:p>
            <a:pPr indent="0" lvl="0" marL="0" marR="0" rtl="0" algn="ctr">
              <a:lnSpc>
                <a:spcPct val="140000"/>
              </a:lnSpc>
              <a:spcBef>
                <a:spcPts val="0"/>
              </a:spcBef>
              <a:spcAft>
                <a:spcPts val="0"/>
              </a:spcAft>
              <a:buClr>
                <a:srgbClr val="000000"/>
              </a:buClr>
              <a:buSzPts val="4000"/>
              <a:buFont typeface="Arial"/>
              <a:buNone/>
            </a:pPr>
            <a:r>
              <a:t/>
            </a:r>
            <a:endParaRPr b="0" i="0" sz="4000" u="none" cap="none" strike="noStrike">
              <a:solidFill>
                <a:srgbClr val="131416"/>
              </a:solidFill>
              <a:latin typeface="Open Sans"/>
              <a:ea typeface="Open Sans"/>
              <a:cs typeface="Open Sans"/>
              <a:sym typeface="Open Sans"/>
            </a:endParaRPr>
          </a:p>
          <a:p>
            <a:pPr indent="0" lvl="0" marL="0" marR="0" rtl="0" algn="ctr">
              <a:lnSpc>
                <a:spcPct val="140000"/>
              </a:lnSpc>
              <a:spcBef>
                <a:spcPts val="0"/>
              </a:spcBef>
              <a:spcAft>
                <a:spcPts val="0"/>
              </a:spcAft>
              <a:buClr>
                <a:srgbClr val="000000"/>
              </a:buClr>
              <a:buSzPts val="4000"/>
              <a:buFont typeface="Arial"/>
              <a:buNone/>
            </a:pPr>
            <a:r>
              <a:rPr b="0" i="0" lang="en-US" sz="4000" u="none" cap="none" strike="noStrike">
                <a:solidFill>
                  <a:srgbClr val="131416"/>
                </a:solidFill>
                <a:latin typeface="Open Sans"/>
                <a:ea typeface="Open Sans"/>
                <a:cs typeface="Open Sans"/>
                <a:sym typeface="Open Sans"/>
              </a:rPr>
              <a:t>Comunica Soluciones técnicas complejas a audiencias diversas Utilizando documentación técnica, presentaciones y demostraciones interactivas Adaptando el nivel de detalle según el contexto y audiencia objetivo</a:t>
            </a:r>
            <a:endParaRPr b="0" i="0" sz="1400" u="none" cap="none" strike="noStrike">
              <a:solidFill>
                <a:srgbClr val="000000"/>
              </a:solidFill>
              <a:latin typeface="Arial"/>
              <a:ea typeface="Arial"/>
              <a:cs typeface="Arial"/>
              <a:sym typeface="Arial"/>
            </a:endParaRPr>
          </a:p>
          <a:p>
            <a:pPr indent="0" lvl="0" marL="0" marR="0" rtl="0" algn="ctr">
              <a:lnSpc>
                <a:spcPct val="181974"/>
              </a:lnSpc>
              <a:spcBef>
                <a:spcPts val="0"/>
              </a:spcBef>
              <a:spcAft>
                <a:spcPts val="0"/>
              </a:spcAft>
              <a:buClr>
                <a:srgbClr val="000000"/>
              </a:buClr>
              <a:buSzPts val="4000"/>
              <a:buFont typeface="Arial"/>
              <a:buNone/>
            </a:pPr>
            <a:r>
              <a:t/>
            </a:r>
            <a:endParaRPr b="0" i="0" sz="4000" u="none" cap="none" strike="noStrike">
              <a:solidFill>
                <a:srgbClr val="131416"/>
              </a:solidFill>
              <a:latin typeface="Open Sans"/>
              <a:ea typeface="Open Sans"/>
              <a:cs typeface="Open Sans"/>
              <a:sym typeface="Open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4"/>
          <p:cNvSpPr/>
          <p:nvPr/>
        </p:nvSpPr>
        <p:spPr>
          <a:xfrm>
            <a:off x="1" y="1138428"/>
            <a:ext cx="5165408" cy="7996428"/>
          </a:xfrm>
          <a:custGeom>
            <a:rect b="b" l="l" r="r" t="t"/>
            <a:pathLst>
              <a:path extrusionOk="0" h="10661904" w="6887210">
                <a:moveTo>
                  <a:pt x="0" y="0"/>
                </a:moveTo>
                <a:lnTo>
                  <a:pt x="6887210" y="0"/>
                </a:lnTo>
                <a:lnTo>
                  <a:pt x="6887210" y="10661904"/>
                </a:lnTo>
                <a:lnTo>
                  <a:pt x="0" y="10661904"/>
                </a:lnTo>
                <a:close/>
              </a:path>
            </a:pathLst>
          </a:custGeom>
          <a:solidFill>
            <a:srgbClr val="40BAD2"/>
          </a:solidFill>
          <a:ln>
            <a:noFill/>
          </a:ln>
        </p:spPr>
      </p:sp>
      <p:sp>
        <p:nvSpPr>
          <p:cNvPr id="132" name="Google Shape;132;p4"/>
          <p:cNvSpPr/>
          <p:nvPr/>
        </p:nvSpPr>
        <p:spPr>
          <a:xfrm>
            <a:off x="17723796" y="1138428"/>
            <a:ext cx="576072" cy="7996428"/>
          </a:xfrm>
          <a:custGeom>
            <a:rect b="b" l="l" r="r" t="t"/>
            <a:pathLst>
              <a:path extrusionOk="0" h="10661904" w="768096">
                <a:moveTo>
                  <a:pt x="0" y="0"/>
                </a:moveTo>
                <a:lnTo>
                  <a:pt x="768096" y="0"/>
                </a:lnTo>
                <a:lnTo>
                  <a:pt x="768096" y="10661904"/>
                </a:lnTo>
                <a:lnTo>
                  <a:pt x="0" y="10661904"/>
                </a:lnTo>
                <a:close/>
              </a:path>
            </a:pathLst>
          </a:custGeom>
          <a:solidFill>
            <a:srgbClr val="C8C8C8">
              <a:alpha val="24706"/>
            </a:srgbClr>
          </a:solidFill>
          <a:ln>
            <a:noFill/>
          </a:ln>
        </p:spPr>
      </p:sp>
      <p:sp>
        <p:nvSpPr>
          <p:cNvPr id="133" name="Google Shape;133;p4"/>
          <p:cNvSpPr/>
          <p:nvPr/>
        </p:nvSpPr>
        <p:spPr>
          <a:xfrm>
            <a:off x="0" y="4114800"/>
            <a:ext cx="18288000" cy="10287000"/>
          </a:xfrm>
          <a:custGeom>
            <a:rect b="b" l="l" r="r" t="t"/>
            <a:pathLst>
              <a:path extrusionOk="0" h="13716000" w="24384000">
                <a:moveTo>
                  <a:pt x="0" y="0"/>
                </a:moveTo>
                <a:lnTo>
                  <a:pt x="24384000" y="0"/>
                </a:lnTo>
                <a:lnTo>
                  <a:pt x="24384000" y="13716000"/>
                </a:lnTo>
                <a:lnTo>
                  <a:pt x="0" y="13716000"/>
                </a:lnTo>
                <a:close/>
              </a:path>
            </a:pathLst>
          </a:custGeom>
          <a:solidFill>
            <a:srgbClr val="FFFFFF"/>
          </a:solidFill>
          <a:ln>
            <a:noFill/>
          </a:ln>
        </p:spPr>
      </p:sp>
      <p:sp>
        <p:nvSpPr>
          <p:cNvPr id="134" name="Google Shape;134;p4"/>
          <p:cNvSpPr/>
          <p:nvPr/>
        </p:nvSpPr>
        <p:spPr>
          <a:xfrm>
            <a:off x="1296774" y="6319064"/>
            <a:ext cx="16147352" cy="2810923"/>
          </a:xfrm>
          <a:custGeom>
            <a:rect b="b" l="l" r="r" t="t"/>
            <a:pathLst>
              <a:path extrusionOk="0" h="3747897" w="21529802">
                <a:moveTo>
                  <a:pt x="0" y="0"/>
                </a:moveTo>
                <a:lnTo>
                  <a:pt x="21529802" y="0"/>
                </a:lnTo>
                <a:lnTo>
                  <a:pt x="21529802" y="3747897"/>
                </a:lnTo>
                <a:lnTo>
                  <a:pt x="0" y="3747897"/>
                </a:lnTo>
                <a:close/>
              </a:path>
            </a:pathLst>
          </a:custGeom>
          <a:solidFill>
            <a:srgbClr val="40BAD2"/>
          </a:solidFill>
          <a:ln>
            <a:noFill/>
          </a:ln>
        </p:spPr>
      </p:sp>
      <p:grpSp>
        <p:nvGrpSpPr>
          <p:cNvPr id="135" name="Google Shape;135;p4"/>
          <p:cNvGrpSpPr/>
          <p:nvPr/>
        </p:nvGrpSpPr>
        <p:grpSpPr>
          <a:xfrm>
            <a:off x="1545609" y="6579086"/>
            <a:ext cx="6100549" cy="2290866"/>
            <a:chOff x="0" y="0"/>
            <a:chExt cx="8134066" cy="3054488"/>
          </a:xfrm>
        </p:grpSpPr>
        <p:sp>
          <p:nvSpPr>
            <p:cNvPr id="136" name="Google Shape;136;p4"/>
            <p:cNvSpPr/>
            <p:nvPr/>
          </p:nvSpPr>
          <p:spPr>
            <a:xfrm>
              <a:off x="0" y="0"/>
              <a:ext cx="8134066" cy="3054488"/>
            </a:xfrm>
            <a:custGeom>
              <a:rect b="b" l="l" r="r" t="t"/>
              <a:pathLst>
                <a:path extrusionOk="0" h="3054488" w="8134066">
                  <a:moveTo>
                    <a:pt x="0" y="0"/>
                  </a:moveTo>
                  <a:lnTo>
                    <a:pt x="8134066" y="0"/>
                  </a:lnTo>
                  <a:lnTo>
                    <a:pt x="8134066" y="3054488"/>
                  </a:lnTo>
                  <a:lnTo>
                    <a:pt x="0" y="3054488"/>
                  </a:lnTo>
                  <a:close/>
                </a:path>
              </a:pathLst>
            </a:custGeom>
            <a:solidFill>
              <a:srgbClr val="000000">
                <a:alpha val="0"/>
              </a:srgbClr>
            </a:solidFill>
            <a:ln>
              <a:noFill/>
            </a:ln>
          </p:spPr>
        </p:sp>
        <p:sp>
          <p:nvSpPr>
            <p:cNvPr id="137" name="Google Shape;137;p4"/>
            <p:cNvSpPr txBox="1"/>
            <p:nvPr/>
          </p:nvSpPr>
          <p:spPr>
            <a:xfrm>
              <a:off x="0" y="57150"/>
              <a:ext cx="8134066" cy="2997338"/>
            </a:xfrm>
            <a:prstGeom prst="rect">
              <a:avLst/>
            </a:prstGeom>
            <a:noFill/>
            <a:ln>
              <a:noFill/>
            </a:ln>
          </p:spPr>
          <p:txBody>
            <a:bodyPr anchorCtr="0" anchor="ctr" bIns="0" lIns="0" spcFirstLastPara="1" rIns="0" wrap="square" tIns="0">
              <a:noAutofit/>
            </a:bodyPr>
            <a:lstStyle/>
            <a:p>
              <a:pPr indent="0" lvl="0" marL="0" marR="0" rtl="0" algn="r">
                <a:lnSpc>
                  <a:spcPct val="108000"/>
                </a:lnSpc>
                <a:spcBef>
                  <a:spcPts val="0"/>
                </a:spcBef>
                <a:spcAft>
                  <a:spcPts val="0"/>
                </a:spcAft>
                <a:buClr>
                  <a:srgbClr val="000000"/>
                </a:buClr>
                <a:buSzPts val="4800"/>
                <a:buFont typeface="Arial"/>
                <a:buNone/>
              </a:pPr>
              <a:r>
                <a:rPr b="0" i="0" lang="en-US" sz="4800" u="none" cap="none" strike="noStrike">
                  <a:solidFill>
                    <a:srgbClr val="FFFFFF"/>
                  </a:solidFill>
                  <a:latin typeface="PT Sans"/>
                  <a:ea typeface="PT Sans"/>
                  <a:cs typeface="PT Sans"/>
                  <a:sym typeface="PT Sans"/>
                </a:rPr>
                <a:t>Ordenamiento</a:t>
              </a:r>
              <a:endParaRPr b="0" i="0" sz="1400" u="none" cap="none" strike="noStrike">
                <a:solidFill>
                  <a:srgbClr val="000000"/>
                </a:solidFill>
                <a:latin typeface="Arial"/>
                <a:ea typeface="Arial"/>
                <a:cs typeface="Arial"/>
                <a:sym typeface="Arial"/>
              </a:endParaRPr>
            </a:p>
          </p:txBody>
        </p:sp>
      </p:grpSp>
      <p:sp>
        <p:nvSpPr>
          <p:cNvPr id="138" name="Google Shape;138;p4"/>
          <p:cNvSpPr/>
          <p:nvPr/>
        </p:nvSpPr>
        <p:spPr>
          <a:xfrm>
            <a:off x="0" y="1138428"/>
            <a:ext cx="576072" cy="7996428"/>
          </a:xfrm>
          <a:custGeom>
            <a:rect b="b" l="l" r="r" t="t"/>
            <a:pathLst>
              <a:path extrusionOk="0" h="10661904" w="768096">
                <a:moveTo>
                  <a:pt x="0" y="0"/>
                </a:moveTo>
                <a:lnTo>
                  <a:pt x="768096" y="0"/>
                </a:lnTo>
                <a:lnTo>
                  <a:pt x="768096" y="10661904"/>
                </a:lnTo>
                <a:lnTo>
                  <a:pt x="0" y="10661904"/>
                </a:lnTo>
                <a:close/>
              </a:path>
            </a:pathLst>
          </a:custGeom>
          <a:solidFill>
            <a:srgbClr val="C8C8C8">
              <a:alpha val="24706"/>
            </a:srgbClr>
          </a:solidFill>
          <a:ln>
            <a:noFill/>
          </a:ln>
        </p:spPr>
      </p:sp>
      <p:sp>
        <p:nvSpPr>
          <p:cNvPr descr="Algoritmos de ordenamiento" id="139" name="Google Shape;139;p4"/>
          <p:cNvSpPr/>
          <p:nvPr/>
        </p:nvSpPr>
        <p:spPr>
          <a:xfrm>
            <a:off x="5886980" y="1135989"/>
            <a:ext cx="6966966" cy="4778502"/>
          </a:xfrm>
          <a:custGeom>
            <a:rect b="b" l="l" r="r" t="t"/>
            <a:pathLst>
              <a:path extrusionOk="0" h="6371336" w="9289288">
                <a:moveTo>
                  <a:pt x="0" y="0"/>
                </a:moveTo>
                <a:lnTo>
                  <a:pt x="9289288" y="0"/>
                </a:lnTo>
                <a:lnTo>
                  <a:pt x="9289288" y="6371336"/>
                </a:lnTo>
                <a:lnTo>
                  <a:pt x="0" y="6371336"/>
                </a:lnTo>
                <a:lnTo>
                  <a:pt x="0" y="0"/>
                </a:lnTo>
                <a:close/>
              </a:path>
            </a:pathLst>
          </a:custGeom>
          <a:blipFill rotWithShape="1">
            <a:blip r:embed="rId3">
              <a:alphaModFix/>
            </a:blip>
            <a:stretch>
              <a:fillRect b="0" l="-5423" r="-16507" t="0"/>
            </a:stretch>
          </a:blipFill>
          <a:ln>
            <a:noFill/>
          </a:ln>
        </p:spPr>
      </p:sp>
      <p:grpSp>
        <p:nvGrpSpPr>
          <p:cNvPr id="140" name="Google Shape;140;p4"/>
          <p:cNvGrpSpPr/>
          <p:nvPr/>
        </p:nvGrpSpPr>
        <p:grpSpPr>
          <a:xfrm>
            <a:off x="8156085" y="6580080"/>
            <a:ext cx="8988915" cy="2289873"/>
            <a:chOff x="0" y="0"/>
            <a:chExt cx="11985220" cy="3053164"/>
          </a:xfrm>
        </p:grpSpPr>
        <p:sp>
          <p:nvSpPr>
            <p:cNvPr id="141" name="Google Shape;141;p4"/>
            <p:cNvSpPr/>
            <p:nvPr/>
          </p:nvSpPr>
          <p:spPr>
            <a:xfrm>
              <a:off x="0" y="0"/>
              <a:ext cx="11985220" cy="3053164"/>
            </a:xfrm>
            <a:custGeom>
              <a:rect b="b" l="l" r="r" t="t"/>
              <a:pathLst>
                <a:path extrusionOk="0" h="3053164" w="11985220">
                  <a:moveTo>
                    <a:pt x="0" y="0"/>
                  </a:moveTo>
                  <a:lnTo>
                    <a:pt x="11985220" y="0"/>
                  </a:lnTo>
                  <a:lnTo>
                    <a:pt x="11985220" y="3053164"/>
                  </a:lnTo>
                  <a:lnTo>
                    <a:pt x="0" y="3053164"/>
                  </a:lnTo>
                  <a:close/>
                </a:path>
              </a:pathLst>
            </a:custGeom>
            <a:solidFill>
              <a:srgbClr val="000000">
                <a:alpha val="0"/>
              </a:srgbClr>
            </a:solidFill>
            <a:ln>
              <a:noFill/>
            </a:ln>
          </p:spPr>
        </p:sp>
        <p:sp>
          <p:nvSpPr>
            <p:cNvPr id="142" name="Google Shape;142;p4"/>
            <p:cNvSpPr txBox="1"/>
            <p:nvPr/>
          </p:nvSpPr>
          <p:spPr>
            <a:xfrm>
              <a:off x="0" y="28575"/>
              <a:ext cx="11985220" cy="3024589"/>
            </a:xfrm>
            <a:prstGeom prst="rect">
              <a:avLst/>
            </a:prstGeom>
            <a:noFill/>
            <a:ln>
              <a:noFill/>
            </a:ln>
          </p:spPr>
          <p:txBody>
            <a:bodyPr anchorCtr="0" anchor="ctr" bIns="0" lIns="0" spcFirstLastPara="1" rIns="0" wrap="square" tIns="0">
              <a:noAutofit/>
            </a:bodyPr>
            <a:lstStyle/>
            <a:p>
              <a:pPr indent="-217170" lvl="1" marL="434340" marR="0" rtl="0" algn="l">
                <a:lnSpc>
                  <a:spcPct val="108000"/>
                </a:lnSpc>
                <a:spcBef>
                  <a:spcPts val="0"/>
                </a:spcBef>
                <a:spcAft>
                  <a:spcPts val="0"/>
                </a:spcAft>
                <a:buClr>
                  <a:srgbClr val="FFFFFF"/>
                </a:buClr>
                <a:buSzPts val="2400"/>
                <a:buFont typeface="Arial"/>
                <a:buChar char="•"/>
              </a:pPr>
              <a:r>
                <a:rPr b="0" i="0" lang="en-US" sz="2400" u="none" cap="none" strike="noStrike">
                  <a:solidFill>
                    <a:srgbClr val="FFFFFF"/>
                  </a:solidFill>
                  <a:latin typeface="PT Sans"/>
                  <a:ea typeface="PT Sans"/>
                  <a:cs typeface="PT Sans"/>
                  <a:sym typeface="PT Sans"/>
                </a:rPr>
                <a:t>Es la operación de arreglar los elementos en algún orden secuencial de acuerdo a un criterio de ordenamiento. El propósito principal de un ordenamiento es el de facilitar las búsquedas de los miembros del conjunto ordenado. Ordenar un grupo de datos significa mover los datos o sus referencias para que queden en una secuencia por categorías y en forma ascendente o descendente.</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5"/>
          <p:cNvSpPr/>
          <p:nvPr/>
        </p:nvSpPr>
        <p:spPr>
          <a:xfrm>
            <a:off x="1" y="1138428"/>
            <a:ext cx="5165408" cy="7996428"/>
          </a:xfrm>
          <a:custGeom>
            <a:rect b="b" l="l" r="r" t="t"/>
            <a:pathLst>
              <a:path extrusionOk="0" h="10661904" w="6887210">
                <a:moveTo>
                  <a:pt x="0" y="0"/>
                </a:moveTo>
                <a:lnTo>
                  <a:pt x="6887210" y="0"/>
                </a:lnTo>
                <a:lnTo>
                  <a:pt x="6887210" y="10661904"/>
                </a:lnTo>
                <a:lnTo>
                  <a:pt x="0" y="10661904"/>
                </a:lnTo>
                <a:close/>
              </a:path>
            </a:pathLst>
          </a:custGeom>
          <a:solidFill>
            <a:srgbClr val="40BAD2"/>
          </a:solidFill>
          <a:ln>
            <a:noFill/>
          </a:ln>
        </p:spPr>
      </p:sp>
      <p:sp>
        <p:nvSpPr>
          <p:cNvPr id="148" name="Google Shape;148;p5"/>
          <p:cNvSpPr/>
          <p:nvPr/>
        </p:nvSpPr>
        <p:spPr>
          <a:xfrm>
            <a:off x="17723796" y="1138428"/>
            <a:ext cx="576072" cy="7996428"/>
          </a:xfrm>
          <a:custGeom>
            <a:rect b="b" l="l" r="r" t="t"/>
            <a:pathLst>
              <a:path extrusionOk="0" h="10661904" w="768096">
                <a:moveTo>
                  <a:pt x="0" y="0"/>
                </a:moveTo>
                <a:lnTo>
                  <a:pt x="768096" y="0"/>
                </a:lnTo>
                <a:lnTo>
                  <a:pt x="768096" y="10661904"/>
                </a:lnTo>
                <a:lnTo>
                  <a:pt x="0" y="10661904"/>
                </a:lnTo>
                <a:close/>
              </a:path>
            </a:pathLst>
          </a:custGeom>
          <a:solidFill>
            <a:srgbClr val="C8C8C8">
              <a:alpha val="24706"/>
            </a:srgbClr>
          </a:solidFill>
          <a:ln>
            <a:noFill/>
          </a:ln>
        </p:spPr>
      </p:sp>
      <p:sp>
        <p:nvSpPr>
          <p:cNvPr id="149" name="Google Shape;149;p5"/>
          <p:cNvSpPr/>
          <p:nvPr/>
        </p:nvSpPr>
        <p:spPr>
          <a:xfrm>
            <a:off x="0" y="0"/>
            <a:ext cx="18288000" cy="10287000"/>
          </a:xfrm>
          <a:custGeom>
            <a:rect b="b" l="l" r="r" t="t"/>
            <a:pathLst>
              <a:path extrusionOk="0" h="13716000" w="24384000">
                <a:moveTo>
                  <a:pt x="0" y="0"/>
                </a:moveTo>
                <a:lnTo>
                  <a:pt x="24384000" y="0"/>
                </a:lnTo>
                <a:lnTo>
                  <a:pt x="24384000" y="13716000"/>
                </a:lnTo>
                <a:lnTo>
                  <a:pt x="0" y="13716000"/>
                </a:lnTo>
                <a:close/>
              </a:path>
            </a:pathLst>
          </a:custGeom>
          <a:solidFill>
            <a:srgbClr val="FFFFFF"/>
          </a:solidFill>
          <a:ln>
            <a:noFill/>
          </a:ln>
        </p:spPr>
      </p:sp>
      <p:sp>
        <p:nvSpPr>
          <p:cNvPr id="150" name="Google Shape;150;p5"/>
          <p:cNvSpPr/>
          <p:nvPr/>
        </p:nvSpPr>
        <p:spPr>
          <a:xfrm>
            <a:off x="11775180" y="1135988"/>
            <a:ext cx="6512814" cy="7993952"/>
          </a:xfrm>
          <a:custGeom>
            <a:rect b="b" l="l" r="r" t="t"/>
            <a:pathLst>
              <a:path extrusionOk="0" h="10658602" w="8683752">
                <a:moveTo>
                  <a:pt x="0" y="0"/>
                </a:moveTo>
                <a:lnTo>
                  <a:pt x="8683752" y="0"/>
                </a:lnTo>
                <a:lnTo>
                  <a:pt x="8683752" y="10658602"/>
                </a:lnTo>
                <a:lnTo>
                  <a:pt x="0" y="10658602"/>
                </a:lnTo>
                <a:close/>
              </a:path>
            </a:pathLst>
          </a:custGeom>
          <a:solidFill>
            <a:srgbClr val="40BAD2"/>
          </a:solidFill>
          <a:ln>
            <a:noFill/>
          </a:ln>
        </p:spPr>
      </p:sp>
      <p:grpSp>
        <p:nvGrpSpPr>
          <p:cNvPr id="151" name="Google Shape;151;p5"/>
          <p:cNvGrpSpPr/>
          <p:nvPr/>
        </p:nvGrpSpPr>
        <p:grpSpPr>
          <a:xfrm>
            <a:off x="12242085" y="1619655"/>
            <a:ext cx="5482286" cy="2290866"/>
            <a:chOff x="0" y="0"/>
            <a:chExt cx="7309714" cy="3054488"/>
          </a:xfrm>
        </p:grpSpPr>
        <p:sp>
          <p:nvSpPr>
            <p:cNvPr id="152" name="Google Shape;152;p5"/>
            <p:cNvSpPr/>
            <p:nvPr/>
          </p:nvSpPr>
          <p:spPr>
            <a:xfrm>
              <a:off x="0" y="0"/>
              <a:ext cx="7309714" cy="3054488"/>
            </a:xfrm>
            <a:custGeom>
              <a:rect b="b" l="l" r="r" t="t"/>
              <a:pathLst>
                <a:path extrusionOk="0" h="3054488" w="7309714">
                  <a:moveTo>
                    <a:pt x="0" y="0"/>
                  </a:moveTo>
                  <a:lnTo>
                    <a:pt x="7309714" y="0"/>
                  </a:lnTo>
                  <a:lnTo>
                    <a:pt x="7309714" y="3054488"/>
                  </a:lnTo>
                  <a:lnTo>
                    <a:pt x="0" y="3054488"/>
                  </a:lnTo>
                  <a:close/>
                </a:path>
              </a:pathLst>
            </a:custGeom>
            <a:solidFill>
              <a:srgbClr val="000000">
                <a:alpha val="0"/>
              </a:srgbClr>
            </a:solidFill>
            <a:ln>
              <a:noFill/>
            </a:ln>
          </p:spPr>
        </p:sp>
        <p:sp>
          <p:nvSpPr>
            <p:cNvPr id="153" name="Google Shape;153;p5"/>
            <p:cNvSpPr txBox="1"/>
            <p:nvPr/>
          </p:nvSpPr>
          <p:spPr>
            <a:xfrm>
              <a:off x="0" y="57150"/>
              <a:ext cx="7309714" cy="2997338"/>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000000"/>
                </a:buClr>
                <a:buSzPts val="4800"/>
                <a:buFont typeface="Arial"/>
                <a:buNone/>
              </a:pPr>
              <a:r>
                <a:rPr b="0" i="0" lang="en-US" sz="4800" u="none" cap="none" strike="noStrike">
                  <a:solidFill>
                    <a:srgbClr val="FFFFFF"/>
                  </a:solidFill>
                  <a:latin typeface="PT Sans"/>
                  <a:ea typeface="PT Sans"/>
                  <a:cs typeface="PT Sans"/>
                  <a:sym typeface="PT Sans"/>
                </a:rPr>
                <a:t>Métodos de Ordenamiento</a:t>
              </a:r>
              <a:endParaRPr b="0" i="0" sz="1400" u="none" cap="none" strike="noStrike">
                <a:solidFill>
                  <a:srgbClr val="000000"/>
                </a:solidFill>
                <a:latin typeface="Arial"/>
                <a:ea typeface="Arial"/>
                <a:cs typeface="Arial"/>
                <a:sym typeface="Arial"/>
              </a:endParaRPr>
            </a:p>
          </p:txBody>
        </p:sp>
      </p:grpSp>
      <p:sp>
        <p:nvSpPr>
          <p:cNvPr id="154" name="Google Shape;154;p5"/>
          <p:cNvSpPr/>
          <p:nvPr/>
        </p:nvSpPr>
        <p:spPr>
          <a:xfrm>
            <a:off x="0" y="1138428"/>
            <a:ext cx="576072" cy="7996428"/>
          </a:xfrm>
          <a:custGeom>
            <a:rect b="b" l="l" r="r" t="t"/>
            <a:pathLst>
              <a:path extrusionOk="0" h="10661904" w="768096">
                <a:moveTo>
                  <a:pt x="0" y="0"/>
                </a:moveTo>
                <a:lnTo>
                  <a:pt x="768096" y="0"/>
                </a:lnTo>
                <a:lnTo>
                  <a:pt x="768096" y="10661904"/>
                </a:lnTo>
                <a:lnTo>
                  <a:pt x="0" y="10661904"/>
                </a:lnTo>
                <a:close/>
              </a:path>
            </a:pathLst>
          </a:custGeom>
          <a:solidFill>
            <a:srgbClr val="C8C8C8">
              <a:alpha val="24706"/>
            </a:srgbClr>
          </a:solidFill>
          <a:ln>
            <a:noFill/>
          </a:ln>
        </p:spPr>
      </p:sp>
      <p:sp>
        <p:nvSpPr>
          <p:cNvPr descr="CC3001 Algoritmos y Estructuras de Datos: Ordenación" id="155" name="Google Shape;155;p5"/>
          <p:cNvSpPr/>
          <p:nvPr/>
        </p:nvSpPr>
        <p:spPr>
          <a:xfrm>
            <a:off x="1296772" y="1691187"/>
            <a:ext cx="9751505" cy="6883622"/>
          </a:xfrm>
          <a:custGeom>
            <a:rect b="b" l="l" r="r" t="t"/>
            <a:pathLst>
              <a:path extrusionOk="0" h="9178163" w="13002006">
                <a:moveTo>
                  <a:pt x="0" y="0"/>
                </a:moveTo>
                <a:lnTo>
                  <a:pt x="13002006" y="0"/>
                </a:lnTo>
                <a:lnTo>
                  <a:pt x="13002006" y="9178163"/>
                </a:lnTo>
                <a:lnTo>
                  <a:pt x="0" y="9178163"/>
                </a:lnTo>
                <a:lnTo>
                  <a:pt x="0" y="0"/>
                </a:lnTo>
                <a:close/>
              </a:path>
            </a:pathLst>
          </a:custGeom>
          <a:blipFill rotWithShape="1">
            <a:blip r:embed="rId3">
              <a:alphaModFix/>
            </a:blip>
            <a:stretch>
              <a:fillRect b="0" l="0" r="0" t="-1783"/>
            </a:stretch>
          </a:blipFill>
          <a:ln>
            <a:noFill/>
          </a:ln>
        </p:spPr>
      </p:sp>
      <p:sp>
        <p:nvSpPr>
          <p:cNvPr id="156" name="Google Shape;156;p5"/>
          <p:cNvSpPr txBox="1"/>
          <p:nvPr/>
        </p:nvSpPr>
        <p:spPr>
          <a:xfrm>
            <a:off x="12333510" y="3984796"/>
            <a:ext cx="5299436" cy="4616879"/>
          </a:xfrm>
          <a:prstGeom prst="rect">
            <a:avLst/>
          </a:prstGeom>
          <a:noFill/>
          <a:ln>
            <a:noFill/>
          </a:ln>
        </p:spPr>
        <p:txBody>
          <a:bodyPr anchorCtr="0" anchor="t" bIns="0" lIns="0" spcFirstLastPara="1" rIns="0" wrap="square" tIns="0">
            <a:spAutoFit/>
          </a:bodyPr>
          <a:lstStyle/>
          <a:p>
            <a:pPr indent="-217170" lvl="1" marL="434340" marR="0" rtl="0" algn="l">
              <a:lnSpc>
                <a:spcPct val="108000"/>
              </a:lnSpc>
              <a:spcBef>
                <a:spcPts val="0"/>
              </a:spcBef>
              <a:spcAft>
                <a:spcPts val="0"/>
              </a:spcAft>
              <a:buClr>
                <a:srgbClr val="FFFFFF"/>
              </a:buClr>
              <a:buSzPts val="2400"/>
              <a:buFont typeface="Arial"/>
              <a:buChar char="•"/>
            </a:pPr>
            <a:r>
              <a:rPr b="0" i="0" lang="en-US" sz="2400" u="none" cap="none" strike="noStrike">
                <a:solidFill>
                  <a:srgbClr val="FFFFFF"/>
                </a:solidFill>
                <a:latin typeface="PT Sans"/>
                <a:ea typeface="PT Sans"/>
                <a:cs typeface="PT Sans"/>
                <a:sym typeface="PT Sans"/>
              </a:rPr>
              <a:t>Los métodos de ordenamiento son algoritmos que organizan los elementos de una colección en un orden específico (ascendente o descendente).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6"/>
          <p:cNvSpPr/>
          <p:nvPr/>
        </p:nvSpPr>
        <p:spPr>
          <a:xfrm>
            <a:off x="1" y="1138428"/>
            <a:ext cx="5165408" cy="7996428"/>
          </a:xfrm>
          <a:custGeom>
            <a:rect b="b" l="l" r="r" t="t"/>
            <a:pathLst>
              <a:path extrusionOk="0" h="10661904" w="6887210">
                <a:moveTo>
                  <a:pt x="0" y="0"/>
                </a:moveTo>
                <a:lnTo>
                  <a:pt x="6887210" y="0"/>
                </a:lnTo>
                <a:lnTo>
                  <a:pt x="6887210" y="10661904"/>
                </a:lnTo>
                <a:lnTo>
                  <a:pt x="0" y="10661904"/>
                </a:lnTo>
                <a:close/>
              </a:path>
            </a:pathLst>
          </a:custGeom>
          <a:solidFill>
            <a:srgbClr val="40BAD2"/>
          </a:solidFill>
          <a:ln>
            <a:noFill/>
          </a:ln>
        </p:spPr>
      </p:sp>
      <p:sp>
        <p:nvSpPr>
          <p:cNvPr id="162" name="Google Shape;162;p6"/>
          <p:cNvSpPr/>
          <p:nvPr/>
        </p:nvSpPr>
        <p:spPr>
          <a:xfrm>
            <a:off x="17723796" y="1138428"/>
            <a:ext cx="576072" cy="7996428"/>
          </a:xfrm>
          <a:custGeom>
            <a:rect b="b" l="l" r="r" t="t"/>
            <a:pathLst>
              <a:path extrusionOk="0" h="10661904" w="768096">
                <a:moveTo>
                  <a:pt x="0" y="0"/>
                </a:moveTo>
                <a:lnTo>
                  <a:pt x="768096" y="0"/>
                </a:lnTo>
                <a:lnTo>
                  <a:pt x="768096" y="10661904"/>
                </a:lnTo>
                <a:lnTo>
                  <a:pt x="0" y="10661904"/>
                </a:lnTo>
                <a:close/>
              </a:path>
            </a:pathLst>
          </a:custGeom>
          <a:solidFill>
            <a:srgbClr val="C8C8C8">
              <a:alpha val="24706"/>
            </a:srgbClr>
          </a:solidFill>
          <a:ln>
            <a:noFill/>
          </a:ln>
        </p:spPr>
      </p:sp>
      <p:sp>
        <p:nvSpPr>
          <p:cNvPr id="163" name="Google Shape;163;p6"/>
          <p:cNvSpPr/>
          <p:nvPr/>
        </p:nvSpPr>
        <p:spPr>
          <a:xfrm>
            <a:off x="0" y="0"/>
            <a:ext cx="18288000" cy="10287000"/>
          </a:xfrm>
          <a:custGeom>
            <a:rect b="b" l="l" r="r" t="t"/>
            <a:pathLst>
              <a:path extrusionOk="0" h="13716000" w="24384000">
                <a:moveTo>
                  <a:pt x="0" y="0"/>
                </a:moveTo>
                <a:lnTo>
                  <a:pt x="24384000" y="0"/>
                </a:lnTo>
                <a:lnTo>
                  <a:pt x="24384000" y="13716000"/>
                </a:lnTo>
                <a:lnTo>
                  <a:pt x="0" y="13716000"/>
                </a:lnTo>
                <a:close/>
              </a:path>
            </a:pathLst>
          </a:custGeom>
          <a:solidFill>
            <a:srgbClr val="FFFFFF"/>
          </a:solidFill>
          <a:ln>
            <a:noFill/>
          </a:ln>
        </p:spPr>
      </p:sp>
      <p:sp>
        <p:nvSpPr>
          <p:cNvPr id="164" name="Google Shape;164;p6"/>
          <p:cNvSpPr/>
          <p:nvPr/>
        </p:nvSpPr>
        <p:spPr>
          <a:xfrm>
            <a:off x="11775180" y="1135988"/>
            <a:ext cx="6512814" cy="7993952"/>
          </a:xfrm>
          <a:custGeom>
            <a:rect b="b" l="l" r="r" t="t"/>
            <a:pathLst>
              <a:path extrusionOk="0" h="10658602" w="8683752">
                <a:moveTo>
                  <a:pt x="0" y="0"/>
                </a:moveTo>
                <a:lnTo>
                  <a:pt x="8683752" y="0"/>
                </a:lnTo>
                <a:lnTo>
                  <a:pt x="8683752" y="10658602"/>
                </a:lnTo>
                <a:lnTo>
                  <a:pt x="0" y="10658602"/>
                </a:lnTo>
                <a:close/>
              </a:path>
            </a:pathLst>
          </a:custGeom>
          <a:solidFill>
            <a:srgbClr val="40BAD2"/>
          </a:solidFill>
          <a:ln>
            <a:noFill/>
          </a:ln>
        </p:spPr>
      </p:sp>
      <p:grpSp>
        <p:nvGrpSpPr>
          <p:cNvPr id="165" name="Google Shape;165;p6"/>
          <p:cNvGrpSpPr/>
          <p:nvPr/>
        </p:nvGrpSpPr>
        <p:grpSpPr>
          <a:xfrm>
            <a:off x="12242085" y="1619655"/>
            <a:ext cx="5482286" cy="2290866"/>
            <a:chOff x="0" y="0"/>
            <a:chExt cx="7309714" cy="3054488"/>
          </a:xfrm>
        </p:grpSpPr>
        <p:sp>
          <p:nvSpPr>
            <p:cNvPr id="166" name="Google Shape;166;p6"/>
            <p:cNvSpPr/>
            <p:nvPr/>
          </p:nvSpPr>
          <p:spPr>
            <a:xfrm>
              <a:off x="0" y="0"/>
              <a:ext cx="7309714" cy="3054488"/>
            </a:xfrm>
            <a:custGeom>
              <a:rect b="b" l="l" r="r" t="t"/>
              <a:pathLst>
                <a:path extrusionOk="0" h="3054488" w="7309714">
                  <a:moveTo>
                    <a:pt x="0" y="0"/>
                  </a:moveTo>
                  <a:lnTo>
                    <a:pt x="7309714" y="0"/>
                  </a:lnTo>
                  <a:lnTo>
                    <a:pt x="7309714" y="3054488"/>
                  </a:lnTo>
                  <a:lnTo>
                    <a:pt x="0" y="3054488"/>
                  </a:lnTo>
                  <a:close/>
                </a:path>
              </a:pathLst>
            </a:custGeom>
            <a:solidFill>
              <a:srgbClr val="000000">
                <a:alpha val="0"/>
              </a:srgbClr>
            </a:solidFill>
            <a:ln>
              <a:noFill/>
            </a:ln>
          </p:spPr>
        </p:sp>
        <p:sp>
          <p:nvSpPr>
            <p:cNvPr id="167" name="Google Shape;167;p6"/>
            <p:cNvSpPr txBox="1"/>
            <p:nvPr/>
          </p:nvSpPr>
          <p:spPr>
            <a:xfrm>
              <a:off x="0" y="57150"/>
              <a:ext cx="7309714" cy="2997338"/>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000000"/>
                </a:buClr>
                <a:buSzPts val="4800"/>
                <a:buFont typeface="Arial"/>
                <a:buNone/>
              </a:pPr>
              <a:r>
                <a:rPr b="0" i="0" lang="en-US" sz="4800" u="none" cap="none" strike="noStrike">
                  <a:solidFill>
                    <a:srgbClr val="FFFFFF"/>
                  </a:solidFill>
                  <a:latin typeface="PT Sans"/>
                  <a:ea typeface="PT Sans"/>
                  <a:cs typeface="PT Sans"/>
                  <a:sym typeface="PT Sans"/>
                </a:rPr>
                <a:t>Ordenamiento Burbuja</a:t>
              </a:r>
              <a:endParaRPr b="0" i="0" sz="1400" u="none" cap="none" strike="noStrike">
                <a:solidFill>
                  <a:srgbClr val="000000"/>
                </a:solidFill>
                <a:latin typeface="Arial"/>
                <a:ea typeface="Arial"/>
                <a:cs typeface="Arial"/>
                <a:sym typeface="Arial"/>
              </a:endParaRPr>
            </a:p>
          </p:txBody>
        </p:sp>
      </p:grpSp>
      <p:sp>
        <p:nvSpPr>
          <p:cNvPr id="168" name="Google Shape;168;p6"/>
          <p:cNvSpPr/>
          <p:nvPr/>
        </p:nvSpPr>
        <p:spPr>
          <a:xfrm>
            <a:off x="0" y="1138428"/>
            <a:ext cx="576072" cy="7996428"/>
          </a:xfrm>
          <a:custGeom>
            <a:rect b="b" l="l" r="r" t="t"/>
            <a:pathLst>
              <a:path extrusionOk="0" h="10661904" w="768096">
                <a:moveTo>
                  <a:pt x="0" y="0"/>
                </a:moveTo>
                <a:lnTo>
                  <a:pt x="768096" y="0"/>
                </a:lnTo>
                <a:lnTo>
                  <a:pt x="768096" y="10661904"/>
                </a:lnTo>
                <a:lnTo>
                  <a:pt x="0" y="10661904"/>
                </a:lnTo>
                <a:close/>
              </a:path>
            </a:pathLst>
          </a:custGeom>
          <a:solidFill>
            <a:srgbClr val="C8C8C8">
              <a:alpha val="24706"/>
            </a:srgbClr>
          </a:solidFill>
          <a:ln>
            <a:noFill/>
          </a:ln>
        </p:spPr>
      </p:sp>
      <p:sp>
        <p:nvSpPr>
          <p:cNvPr descr="Bubble Sort Algorithm in Java | Visualization and Examples" id="169" name="Google Shape;169;p6"/>
          <p:cNvSpPr/>
          <p:nvPr/>
        </p:nvSpPr>
        <p:spPr>
          <a:xfrm>
            <a:off x="1296772" y="1456070"/>
            <a:ext cx="9751505" cy="7353777"/>
          </a:xfrm>
          <a:custGeom>
            <a:rect b="b" l="l" r="r" t="t"/>
            <a:pathLst>
              <a:path extrusionOk="0" h="9805035" w="13002006">
                <a:moveTo>
                  <a:pt x="0" y="0"/>
                </a:moveTo>
                <a:lnTo>
                  <a:pt x="13002006" y="0"/>
                </a:lnTo>
                <a:lnTo>
                  <a:pt x="13002006" y="9805035"/>
                </a:lnTo>
                <a:lnTo>
                  <a:pt x="0" y="9805035"/>
                </a:lnTo>
                <a:lnTo>
                  <a:pt x="0" y="0"/>
                </a:lnTo>
                <a:close/>
              </a:path>
            </a:pathLst>
          </a:custGeom>
          <a:blipFill rotWithShape="1">
            <a:blip r:embed="rId3">
              <a:alphaModFix/>
            </a:blip>
            <a:stretch>
              <a:fillRect b="0" l="0" r="0" t="0"/>
            </a:stretch>
          </a:blipFill>
          <a:ln>
            <a:noFill/>
          </a:ln>
        </p:spPr>
      </p:sp>
      <p:sp>
        <p:nvSpPr>
          <p:cNvPr id="170" name="Google Shape;170;p6"/>
          <p:cNvSpPr txBox="1"/>
          <p:nvPr/>
        </p:nvSpPr>
        <p:spPr>
          <a:xfrm>
            <a:off x="12333510" y="3984796"/>
            <a:ext cx="5299436" cy="4616879"/>
          </a:xfrm>
          <a:prstGeom prst="rect">
            <a:avLst/>
          </a:prstGeom>
          <a:noFill/>
          <a:ln>
            <a:noFill/>
          </a:ln>
        </p:spPr>
        <p:txBody>
          <a:bodyPr anchorCtr="0" anchor="t" bIns="0" lIns="0" spcFirstLastPara="1" rIns="0" wrap="square" tIns="0">
            <a:spAutoFit/>
          </a:bodyPr>
          <a:lstStyle/>
          <a:p>
            <a:pPr indent="-217170" lvl="1" marL="434340" marR="0" rtl="0" algn="l">
              <a:lnSpc>
                <a:spcPct val="108000"/>
              </a:lnSpc>
              <a:spcBef>
                <a:spcPts val="0"/>
              </a:spcBef>
              <a:spcAft>
                <a:spcPts val="0"/>
              </a:spcAft>
              <a:buClr>
                <a:srgbClr val="FFFFFF"/>
              </a:buClr>
              <a:buSzPts val="2400"/>
              <a:buFont typeface="Arial"/>
              <a:buChar char="•"/>
            </a:pPr>
            <a:r>
              <a:rPr b="0" i="0" lang="en-US" sz="2400" u="none" cap="none" strike="noStrike">
                <a:solidFill>
                  <a:srgbClr val="FFFFFF"/>
                </a:solidFill>
                <a:latin typeface="PT Sans"/>
                <a:ea typeface="PT Sans"/>
                <a:cs typeface="PT Sans"/>
                <a:sym typeface="PT Sans"/>
              </a:rPr>
              <a:t>El ordenamiento burbuja hace múltiples pasadas a lo largo de una lista. Compara los ítems adyacentes e intercambia los que no están en orden. Cada pasada a lo largo de la lista ubica el siguiente valor más grande en su lugar apropiado. En esencia, cada ítem “burbujea ” hasta el lugar al que pertenece.</a:t>
            </a:r>
            <a:endParaRPr b="0" i="0" sz="1400" u="none" cap="none" strike="noStrike">
              <a:solidFill>
                <a:srgbClr val="000000"/>
              </a:solidFill>
              <a:latin typeface="Arial"/>
              <a:ea typeface="Arial"/>
              <a:cs typeface="Arial"/>
              <a:sym typeface="Arial"/>
            </a:endParaRPr>
          </a:p>
          <a:p>
            <a:pPr indent="-217170" lvl="1" marL="434340" marR="0" rtl="0" algn="l">
              <a:lnSpc>
                <a:spcPct val="108000"/>
              </a:lnSpc>
              <a:spcBef>
                <a:spcPts val="0"/>
              </a:spcBef>
              <a:spcAft>
                <a:spcPts val="0"/>
              </a:spcAft>
              <a:buClr>
                <a:srgbClr val="000000"/>
              </a:buClr>
              <a:buSzPts val="2400"/>
              <a:buFont typeface="Arial"/>
              <a:buNone/>
            </a:pPr>
            <a:r>
              <a:t/>
            </a:r>
            <a:endParaRPr b="0" i="0" sz="2400" u="none" cap="none" strike="noStrike">
              <a:solidFill>
                <a:srgbClr val="FFFFFF"/>
              </a:solidFill>
              <a:latin typeface="PT Sans"/>
              <a:ea typeface="PT Sans"/>
              <a:cs typeface="PT Sans"/>
              <a:sym typeface="PT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7"/>
          <p:cNvSpPr/>
          <p:nvPr/>
        </p:nvSpPr>
        <p:spPr>
          <a:xfrm>
            <a:off x="1" y="1138428"/>
            <a:ext cx="5165408" cy="7996428"/>
          </a:xfrm>
          <a:custGeom>
            <a:rect b="b" l="l" r="r" t="t"/>
            <a:pathLst>
              <a:path extrusionOk="0" h="10661904" w="6887210">
                <a:moveTo>
                  <a:pt x="0" y="0"/>
                </a:moveTo>
                <a:lnTo>
                  <a:pt x="6887210" y="0"/>
                </a:lnTo>
                <a:lnTo>
                  <a:pt x="6887210" y="10661904"/>
                </a:lnTo>
                <a:lnTo>
                  <a:pt x="0" y="10661904"/>
                </a:lnTo>
                <a:close/>
              </a:path>
            </a:pathLst>
          </a:custGeom>
          <a:solidFill>
            <a:srgbClr val="40BAD2"/>
          </a:solidFill>
          <a:ln>
            <a:noFill/>
          </a:ln>
        </p:spPr>
      </p:sp>
      <p:sp>
        <p:nvSpPr>
          <p:cNvPr id="176" name="Google Shape;176;p7"/>
          <p:cNvSpPr/>
          <p:nvPr/>
        </p:nvSpPr>
        <p:spPr>
          <a:xfrm>
            <a:off x="17723796" y="1138428"/>
            <a:ext cx="576072" cy="7996428"/>
          </a:xfrm>
          <a:custGeom>
            <a:rect b="b" l="l" r="r" t="t"/>
            <a:pathLst>
              <a:path extrusionOk="0" h="10661904" w="768096">
                <a:moveTo>
                  <a:pt x="0" y="0"/>
                </a:moveTo>
                <a:lnTo>
                  <a:pt x="768096" y="0"/>
                </a:lnTo>
                <a:lnTo>
                  <a:pt x="768096" y="10661904"/>
                </a:lnTo>
                <a:lnTo>
                  <a:pt x="0" y="10661904"/>
                </a:lnTo>
                <a:close/>
              </a:path>
            </a:pathLst>
          </a:custGeom>
          <a:solidFill>
            <a:srgbClr val="C8C8C8">
              <a:alpha val="24706"/>
            </a:srgbClr>
          </a:solidFill>
          <a:ln>
            <a:noFill/>
          </a:ln>
        </p:spPr>
      </p:sp>
      <p:sp>
        <p:nvSpPr>
          <p:cNvPr id="177" name="Google Shape;177;p7"/>
          <p:cNvSpPr/>
          <p:nvPr/>
        </p:nvSpPr>
        <p:spPr>
          <a:xfrm>
            <a:off x="0" y="0"/>
            <a:ext cx="18288000" cy="10287000"/>
          </a:xfrm>
          <a:custGeom>
            <a:rect b="b" l="l" r="r" t="t"/>
            <a:pathLst>
              <a:path extrusionOk="0" h="13716000" w="24384000">
                <a:moveTo>
                  <a:pt x="0" y="0"/>
                </a:moveTo>
                <a:lnTo>
                  <a:pt x="24384000" y="0"/>
                </a:lnTo>
                <a:lnTo>
                  <a:pt x="24384000" y="13716000"/>
                </a:lnTo>
                <a:lnTo>
                  <a:pt x="0" y="13716000"/>
                </a:lnTo>
                <a:close/>
              </a:path>
            </a:pathLst>
          </a:custGeom>
          <a:solidFill>
            <a:srgbClr val="FFFFFF"/>
          </a:solidFill>
          <a:ln>
            <a:noFill/>
          </a:ln>
        </p:spPr>
      </p:sp>
      <p:sp>
        <p:nvSpPr>
          <p:cNvPr id="178" name="Google Shape;178;p7"/>
          <p:cNvSpPr/>
          <p:nvPr/>
        </p:nvSpPr>
        <p:spPr>
          <a:xfrm>
            <a:off x="11775180" y="1135988"/>
            <a:ext cx="6512814" cy="7993952"/>
          </a:xfrm>
          <a:custGeom>
            <a:rect b="b" l="l" r="r" t="t"/>
            <a:pathLst>
              <a:path extrusionOk="0" h="10658602" w="8683752">
                <a:moveTo>
                  <a:pt x="0" y="0"/>
                </a:moveTo>
                <a:lnTo>
                  <a:pt x="8683752" y="0"/>
                </a:lnTo>
                <a:lnTo>
                  <a:pt x="8683752" y="10658602"/>
                </a:lnTo>
                <a:lnTo>
                  <a:pt x="0" y="10658602"/>
                </a:lnTo>
                <a:close/>
              </a:path>
            </a:pathLst>
          </a:custGeom>
          <a:solidFill>
            <a:srgbClr val="40BAD2"/>
          </a:solidFill>
          <a:ln>
            <a:noFill/>
          </a:ln>
        </p:spPr>
      </p:sp>
      <p:grpSp>
        <p:nvGrpSpPr>
          <p:cNvPr id="179" name="Google Shape;179;p7"/>
          <p:cNvGrpSpPr/>
          <p:nvPr/>
        </p:nvGrpSpPr>
        <p:grpSpPr>
          <a:xfrm>
            <a:off x="12242085" y="1619655"/>
            <a:ext cx="5482286" cy="2290866"/>
            <a:chOff x="0" y="0"/>
            <a:chExt cx="7309714" cy="3054488"/>
          </a:xfrm>
        </p:grpSpPr>
        <p:sp>
          <p:nvSpPr>
            <p:cNvPr id="180" name="Google Shape;180;p7"/>
            <p:cNvSpPr/>
            <p:nvPr/>
          </p:nvSpPr>
          <p:spPr>
            <a:xfrm>
              <a:off x="0" y="0"/>
              <a:ext cx="7309714" cy="3054488"/>
            </a:xfrm>
            <a:custGeom>
              <a:rect b="b" l="l" r="r" t="t"/>
              <a:pathLst>
                <a:path extrusionOk="0" h="3054488" w="7309714">
                  <a:moveTo>
                    <a:pt x="0" y="0"/>
                  </a:moveTo>
                  <a:lnTo>
                    <a:pt x="7309714" y="0"/>
                  </a:lnTo>
                  <a:lnTo>
                    <a:pt x="7309714" y="3054488"/>
                  </a:lnTo>
                  <a:lnTo>
                    <a:pt x="0" y="3054488"/>
                  </a:lnTo>
                  <a:close/>
                </a:path>
              </a:pathLst>
            </a:custGeom>
            <a:solidFill>
              <a:srgbClr val="000000">
                <a:alpha val="0"/>
              </a:srgbClr>
            </a:solidFill>
            <a:ln>
              <a:noFill/>
            </a:ln>
          </p:spPr>
        </p:sp>
        <p:sp>
          <p:nvSpPr>
            <p:cNvPr id="181" name="Google Shape;181;p7"/>
            <p:cNvSpPr txBox="1"/>
            <p:nvPr/>
          </p:nvSpPr>
          <p:spPr>
            <a:xfrm>
              <a:off x="0" y="57150"/>
              <a:ext cx="7309714" cy="2997338"/>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000000"/>
                </a:buClr>
                <a:buSzPts val="4800"/>
                <a:buFont typeface="Arial"/>
                <a:buNone/>
              </a:pPr>
              <a:r>
                <a:rPr b="0" i="0" lang="en-US" sz="4800" u="none" cap="none" strike="noStrike">
                  <a:solidFill>
                    <a:srgbClr val="FFFFFF"/>
                  </a:solidFill>
                  <a:latin typeface="PT Sans"/>
                  <a:ea typeface="PT Sans"/>
                  <a:cs typeface="PT Sans"/>
                  <a:sym typeface="PT Sans"/>
                </a:rPr>
                <a:t>Ordenamiento por Inserción</a:t>
              </a:r>
              <a:endParaRPr b="0" i="0" sz="1400" u="none" cap="none" strike="noStrike">
                <a:solidFill>
                  <a:srgbClr val="000000"/>
                </a:solidFill>
                <a:latin typeface="Arial"/>
                <a:ea typeface="Arial"/>
                <a:cs typeface="Arial"/>
                <a:sym typeface="Arial"/>
              </a:endParaRPr>
            </a:p>
          </p:txBody>
        </p:sp>
      </p:grpSp>
      <p:sp>
        <p:nvSpPr>
          <p:cNvPr id="182" name="Google Shape;182;p7"/>
          <p:cNvSpPr/>
          <p:nvPr/>
        </p:nvSpPr>
        <p:spPr>
          <a:xfrm>
            <a:off x="0" y="1138428"/>
            <a:ext cx="576072" cy="7996428"/>
          </a:xfrm>
          <a:custGeom>
            <a:rect b="b" l="l" r="r" t="t"/>
            <a:pathLst>
              <a:path extrusionOk="0" h="10661904" w="768096">
                <a:moveTo>
                  <a:pt x="0" y="0"/>
                </a:moveTo>
                <a:lnTo>
                  <a:pt x="768096" y="0"/>
                </a:lnTo>
                <a:lnTo>
                  <a:pt x="768096" y="10661904"/>
                </a:lnTo>
                <a:lnTo>
                  <a:pt x="0" y="10661904"/>
                </a:lnTo>
                <a:close/>
              </a:path>
            </a:pathLst>
          </a:custGeom>
          <a:solidFill>
            <a:srgbClr val="C8C8C8">
              <a:alpha val="24706"/>
            </a:srgbClr>
          </a:solidFill>
          <a:ln>
            <a:noFill/>
          </a:ln>
        </p:spPr>
      </p:sp>
      <p:sp>
        <p:nvSpPr>
          <p:cNvPr descr="PHP Program for Insertion Sort - GeeksforGeeks" id="183" name="Google Shape;183;p7"/>
          <p:cNvSpPr/>
          <p:nvPr/>
        </p:nvSpPr>
        <p:spPr>
          <a:xfrm>
            <a:off x="2158720" y="1135988"/>
            <a:ext cx="8027575" cy="7993952"/>
          </a:xfrm>
          <a:custGeom>
            <a:rect b="b" l="l" r="r" t="t"/>
            <a:pathLst>
              <a:path extrusionOk="0" h="10658602" w="10703433">
                <a:moveTo>
                  <a:pt x="0" y="0"/>
                </a:moveTo>
                <a:lnTo>
                  <a:pt x="10703433" y="0"/>
                </a:lnTo>
                <a:lnTo>
                  <a:pt x="10703433" y="10658602"/>
                </a:lnTo>
                <a:lnTo>
                  <a:pt x="0" y="10658602"/>
                </a:lnTo>
                <a:lnTo>
                  <a:pt x="0" y="0"/>
                </a:lnTo>
                <a:close/>
              </a:path>
            </a:pathLst>
          </a:custGeom>
          <a:blipFill rotWithShape="1">
            <a:blip r:embed="rId3">
              <a:alphaModFix/>
            </a:blip>
            <a:stretch>
              <a:fillRect b="-3" l="0" r="-22" t="-1690"/>
            </a:stretch>
          </a:blipFill>
          <a:ln>
            <a:noFill/>
          </a:ln>
        </p:spPr>
      </p:sp>
      <p:sp>
        <p:nvSpPr>
          <p:cNvPr id="184" name="Google Shape;184;p7"/>
          <p:cNvSpPr txBox="1"/>
          <p:nvPr/>
        </p:nvSpPr>
        <p:spPr>
          <a:xfrm>
            <a:off x="12333510" y="3984796"/>
            <a:ext cx="5299436" cy="4616879"/>
          </a:xfrm>
          <a:prstGeom prst="rect">
            <a:avLst/>
          </a:prstGeom>
          <a:noFill/>
          <a:ln>
            <a:noFill/>
          </a:ln>
        </p:spPr>
        <p:txBody>
          <a:bodyPr anchorCtr="0" anchor="t" bIns="0" lIns="0" spcFirstLastPara="1" rIns="0" wrap="square" tIns="0">
            <a:spAutoFit/>
          </a:bodyPr>
          <a:lstStyle/>
          <a:p>
            <a:pPr indent="-217170" lvl="1" marL="434340" marR="0" rtl="0" algn="l">
              <a:lnSpc>
                <a:spcPct val="108000"/>
              </a:lnSpc>
              <a:spcBef>
                <a:spcPts val="0"/>
              </a:spcBef>
              <a:spcAft>
                <a:spcPts val="0"/>
              </a:spcAft>
              <a:buClr>
                <a:srgbClr val="FFFFFF"/>
              </a:buClr>
              <a:buSzPts val="2400"/>
              <a:buFont typeface="Arial"/>
              <a:buChar char="•"/>
            </a:pPr>
            <a:r>
              <a:rPr b="0" i="0" lang="en-US" sz="2400" u="none" cap="none" strike="noStrike">
                <a:solidFill>
                  <a:srgbClr val="FFFFFF"/>
                </a:solidFill>
                <a:latin typeface="PT Sans"/>
                <a:ea typeface="PT Sans"/>
                <a:cs typeface="PT Sans"/>
                <a:sym typeface="PT Sans"/>
              </a:rPr>
              <a:t>En este tipo de algoritmo los elementos que van a ser ordenados son considerados uno a la vez. Cada elemento es “insertado ” en la posición apropiada con respecto al resto de los elementos ya ordenados.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8"/>
          <p:cNvSpPr/>
          <p:nvPr/>
        </p:nvSpPr>
        <p:spPr>
          <a:xfrm>
            <a:off x="1" y="1138428"/>
            <a:ext cx="5165408" cy="7996428"/>
          </a:xfrm>
          <a:custGeom>
            <a:rect b="b" l="l" r="r" t="t"/>
            <a:pathLst>
              <a:path extrusionOk="0" h="10661904" w="6887210">
                <a:moveTo>
                  <a:pt x="0" y="0"/>
                </a:moveTo>
                <a:lnTo>
                  <a:pt x="6887210" y="0"/>
                </a:lnTo>
                <a:lnTo>
                  <a:pt x="6887210" y="10661904"/>
                </a:lnTo>
                <a:lnTo>
                  <a:pt x="0" y="10661904"/>
                </a:lnTo>
                <a:close/>
              </a:path>
            </a:pathLst>
          </a:custGeom>
          <a:solidFill>
            <a:srgbClr val="40BAD2"/>
          </a:solidFill>
          <a:ln>
            <a:noFill/>
          </a:ln>
        </p:spPr>
      </p:sp>
      <p:sp>
        <p:nvSpPr>
          <p:cNvPr id="190" name="Google Shape;190;p8"/>
          <p:cNvSpPr/>
          <p:nvPr/>
        </p:nvSpPr>
        <p:spPr>
          <a:xfrm>
            <a:off x="17723796" y="1138428"/>
            <a:ext cx="576072" cy="7996428"/>
          </a:xfrm>
          <a:custGeom>
            <a:rect b="b" l="l" r="r" t="t"/>
            <a:pathLst>
              <a:path extrusionOk="0" h="10661904" w="768096">
                <a:moveTo>
                  <a:pt x="0" y="0"/>
                </a:moveTo>
                <a:lnTo>
                  <a:pt x="768096" y="0"/>
                </a:lnTo>
                <a:lnTo>
                  <a:pt x="768096" y="10661904"/>
                </a:lnTo>
                <a:lnTo>
                  <a:pt x="0" y="10661904"/>
                </a:lnTo>
                <a:close/>
              </a:path>
            </a:pathLst>
          </a:custGeom>
          <a:solidFill>
            <a:srgbClr val="C8C8C8">
              <a:alpha val="24706"/>
            </a:srgbClr>
          </a:solidFill>
          <a:ln>
            <a:noFill/>
          </a:ln>
        </p:spPr>
      </p:sp>
      <p:sp>
        <p:nvSpPr>
          <p:cNvPr id="191" name="Google Shape;191;p8"/>
          <p:cNvSpPr/>
          <p:nvPr/>
        </p:nvSpPr>
        <p:spPr>
          <a:xfrm>
            <a:off x="0" y="0"/>
            <a:ext cx="18288000" cy="10287000"/>
          </a:xfrm>
          <a:custGeom>
            <a:rect b="b" l="l" r="r" t="t"/>
            <a:pathLst>
              <a:path extrusionOk="0" h="13716000" w="24384000">
                <a:moveTo>
                  <a:pt x="0" y="0"/>
                </a:moveTo>
                <a:lnTo>
                  <a:pt x="24384000" y="0"/>
                </a:lnTo>
                <a:lnTo>
                  <a:pt x="24384000" y="13716000"/>
                </a:lnTo>
                <a:lnTo>
                  <a:pt x="0" y="13716000"/>
                </a:lnTo>
                <a:close/>
              </a:path>
            </a:pathLst>
          </a:custGeom>
          <a:solidFill>
            <a:srgbClr val="FFFFFF"/>
          </a:solidFill>
          <a:ln>
            <a:noFill/>
          </a:ln>
        </p:spPr>
      </p:sp>
      <p:sp>
        <p:nvSpPr>
          <p:cNvPr id="192" name="Google Shape;192;p8"/>
          <p:cNvSpPr/>
          <p:nvPr/>
        </p:nvSpPr>
        <p:spPr>
          <a:xfrm>
            <a:off x="11775180" y="1135988"/>
            <a:ext cx="6512814" cy="7993952"/>
          </a:xfrm>
          <a:custGeom>
            <a:rect b="b" l="l" r="r" t="t"/>
            <a:pathLst>
              <a:path extrusionOk="0" h="10658602" w="8683752">
                <a:moveTo>
                  <a:pt x="0" y="0"/>
                </a:moveTo>
                <a:lnTo>
                  <a:pt x="8683752" y="0"/>
                </a:lnTo>
                <a:lnTo>
                  <a:pt x="8683752" y="10658602"/>
                </a:lnTo>
                <a:lnTo>
                  <a:pt x="0" y="10658602"/>
                </a:lnTo>
                <a:close/>
              </a:path>
            </a:pathLst>
          </a:custGeom>
          <a:solidFill>
            <a:srgbClr val="40BAD2"/>
          </a:solidFill>
          <a:ln>
            <a:noFill/>
          </a:ln>
        </p:spPr>
      </p:sp>
      <p:grpSp>
        <p:nvGrpSpPr>
          <p:cNvPr id="193" name="Google Shape;193;p8"/>
          <p:cNvGrpSpPr/>
          <p:nvPr/>
        </p:nvGrpSpPr>
        <p:grpSpPr>
          <a:xfrm>
            <a:off x="12242085" y="1619655"/>
            <a:ext cx="5482286" cy="2290866"/>
            <a:chOff x="0" y="0"/>
            <a:chExt cx="7309714" cy="3054488"/>
          </a:xfrm>
        </p:grpSpPr>
        <p:sp>
          <p:nvSpPr>
            <p:cNvPr id="194" name="Google Shape;194;p8"/>
            <p:cNvSpPr/>
            <p:nvPr/>
          </p:nvSpPr>
          <p:spPr>
            <a:xfrm>
              <a:off x="0" y="0"/>
              <a:ext cx="7309714" cy="3054488"/>
            </a:xfrm>
            <a:custGeom>
              <a:rect b="b" l="l" r="r" t="t"/>
              <a:pathLst>
                <a:path extrusionOk="0" h="3054488" w="7309714">
                  <a:moveTo>
                    <a:pt x="0" y="0"/>
                  </a:moveTo>
                  <a:lnTo>
                    <a:pt x="7309714" y="0"/>
                  </a:lnTo>
                  <a:lnTo>
                    <a:pt x="7309714" y="3054488"/>
                  </a:lnTo>
                  <a:lnTo>
                    <a:pt x="0" y="3054488"/>
                  </a:lnTo>
                  <a:close/>
                </a:path>
              </a:pathLst>
            </a:custGeom>
            <a:solidFill>
              <a:srgbClr val="000000">
                <a:alpha val="0"/>
              </a:srgbClr>
            </a:solidFill>
            <a:ln>
              <a:noFill/>
            </a:ln>
          </p:spPr>
        </p:sp>
        <p:sp>
          <p:nvSpPr>
            <p:cNvPr id="195" name="Google Shape;195;p8"/>
            <p:cNvSpPr txBox="1"/>
            <p:nvPr/>
          </p:nvSpPr>
          <p:spPr>
            <a:xfrm>
              <a:off x="0" y="57150"/>
              <a:ext cx="7309714" cy="2997338"/>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000000"/>
                </a:buClr>
                <a:buSzPts val="4800"/>
                <a:buFont typeface="Arial"/>
                <a:buNone/>
              </a:pPr>
              <a:r>
                <a:rPr b="0" i="0" lang="en-US" sz="4800" u="none" cap="none" strike="noStrike">
                  <a:solidFill>
                    <a:srgbClr val="FFFFFF"/>
                  </a:solidFill>
                  <a:latin typeface="PT Sans"/>
                  <a:ea typeface="PT Sans"/>
                  <a:cs typeface="PT Sans"/>
                  <a:sym typeface="PT Sans"/>
                </a:rPr>
                <a:t>Ordenamiento por Selección</a:t>
              </a:r>
              <a:endParaRPr b="0" i="0" sz="1400" u="none" cap="none" strike="noStrike">
                <a:solidFill>
                  <a:srgbClr val="000000"/>
                </a:solidFill>
                <a:latin typeface="Arial"/>
                <a:ea typeface="Arial"/>
                <a:cs typeface="Arial"/>
                <a:sym typeface="Arial"/>
              </a:endParaRPr>
            </a:p>
          </p:txBody>
        </p:sp>
      </p:grpSp>
      <p:sp>
        <p:nvSpPr>
          <p:cNvPr id="196" name="Google Shape;196;p8"/>
          <p:cNvSpPr/>
          <p:nvPr/>
        </p:nvSpPr>
        <p:spPr>
          <a:xfrm>
            <a:off x="0" y="1138428"/>
            <a:ext cx="576072" cy="7996428"/>
          </a:xfrm>
          <a:custGeom>
            <a:rect b="b" l="l" r="r" t="t"/>
            <a:pathLst>
              <a:path extrusionOk="0" h="10661904" w="768096">
                <a:moveTo>
                  <a:pt x="0" y="0"/>
                </a:moveTo>
                <a:lnTo>
                  <a:pt x="768096" y="0"/>
                </a:lnTo>
                <a:lnTo>
                  <a:pt x="768096" y="10661904"/>
                </a:lnTo>
                <a:lnTo>
                  <a:pt x="0" y="10661904"/>
                </a:lnTo>
                <a:close/>
              </a:path>
            </a:pathLst>
          </a:custGeom>
          <a:solidFill>
            <a:srgbClr val="C8C8C8">
              <a:alpha val="24706"/>
            </a:srgbClr>
          </a:solidFill>
          <a:ln>
            <a:noFill/>
          </a:ln>
        </p:spPr>
      </p:sp>
      <p:sp>
        <p:nvSpPr>
          <p:cNvPr descr="Selection Sort" id="197" name="Google Shape;197;p8"/>
          <p:cNvSpPr/>
          <p:nvPr/>
        </p:nvSpPr>
        <p:spPr>
          <a:xfrm>
            <a:off x="2158725" y="1135988"/>
            <a:ext cx="8027575" cy="7993952"/>
          </a:xfrm>
          <a:custGeom>
            <a:rect b="b" l="l" r="r" t="t"/>
            <a:pathLst>
              <a:path extrusionOk="0" h="10658602" w="10703433">
                <a:moveTo>
                  <a:pt x="0" y="0"/>
                </a:moveTo>
                <a:lnTo>
                  <a:pt x="10703433" y="0"/>
                </a:lnTo>
                <a:lnTo>
                  <a:pt x="10703433" y="10658602"/>
                </a:lnTo>
                <a:lnTo>
                  <a:pt x="0" y="10658602"/>
                </a:lnTo>
                <a:lnTo>
                  <a:pt x="0" y="0"/>
                </a:lnTo>
                <a:close/>
              </a:path>
            </a:pathLst>
          </a:custGeom>
          <a:blipFill rotWithShape="1">
            <a:blip r:embed="rId3">
              <a:alphaModFix/>
            </a:blip>
            <a:stretch>
              <a:fillRect b="-26799" l="0" r="-3" t="-28737"/>
            </a:stretch>
          </a:blipFill>
          <a:ln>
            <a:noFill/>
          </a:ln>
        </p:spPr>
      </p:sp>
      <p:sp>
        <p:nvSpPr>
          <p:cNvPr id="198" name="Google Shape;198;p8"/>
          <p:cNvSpPr txBox="1"/>
          <p:nvPr/>
        </p:nvSpPr>
        <p:spPr>
          <a:xfrm>
            <a:off x="12333510" y="3975271"/>
            <a:ext cx="5299436" cy="4626404"/>
          </a:xfrm>
          <a:prstGeom prst="rect">
            <a:avLst/>
          </a:prstGeom>
          <a:noFill/>
          <a:ln>
            <a:noFill/>
          </a:ln>
        </p:spPr>
        <p:txBody>
          <a:bodyPr anchorCtr="0" anchor="t" bIns="0" lIns="0" spcFirstLastPara="1" rIns="0" wrap="square" tIns="0">
            <a:spAutoFit/>
          </a:bodyPr>
          <a:lstStyle/>
          <a:p>
            <a:pPr indent="-203597" lvl="1" marL="407194" marR="0" rtl="0" algn="l">
              <a:lnSpc>
                <a:spcPct val="108000"/>
              </a:lnSpc>
              <a:spcBef>
                <a:spcPts val="0"/>
              </a:spcBef>
              <a:spcAft>
                <a:spcPts val="0"/>
              </a:spcAft>
              <a:buClr>
                <a:srgbClr val="FFFFFF"/>
              </a:buClr>
              <a:buSzPts val="2250"/>
              <a:buFont typeface="Arial"/>
              <a:buChar char="•"/>
            </a:pPr>
            <a:r>
              <a:rPr b="0" i="0" lang="en-US" sz="2250" u="none" cap="none" strike="noStrike">
                <a:solidFill>
                  <a:srgbClr val="FFFFFF"/>
                </a:solidFill>
                <a:latin typeface="PT Sans"/>
                <a:ea typeface="PT Sans"/>
                <a:cs typeface="PT Sans"/>
                <a:sym typeface="PT Sans"/>
              </a:rPr>
              <a:t>El ordenamiento por selección mejora el ordenamiento burbuja haciendo un sólo intercambio por cada pasada a través de la lista. Para hacer esto, un ordenamiento por selección busca el valor mayor a medida que hace una pasada y, después de completar la pasada, lo pone en la ubicación correcta. Al igual que con un ordenamiento burbuja, después de la primera pasada, el ítem mayor está en la ubicación correcta. Después de la segunda pasada, el siguiente mayor está en su ubicación.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9"/>
          <p:cNvSpPr/>
          <p:nvPr/>
        </p:nvSpPr>
        <p:spPr>
          <a:xfrm>
            <a:off x="1" y="1138428"/>
            <a:ext cx="5165408" cy="7996428"/>
          </a:xfrm>
          <a:custGeom>
            <a:rect b="b" l="l" r="r" t="t"/>
            <a:pathLst>
              <a:path extrusionOk="0" h="10661904" w="6887210">
                <a:moveTo>
                  <a:pt x="0" y="0"/>
                </a:moveTo>
                <a:lnTo>
                  <a:pt x="6887210" y="0"/>
                </a:lnTo>
                <a:lnTo>
                  <a:pt x="6887210" y="10661904"/>
                </a:lnTo>
                <a:lnTo>
                  <a:pt x="0" y="10661904"/>
                </a:lnTo>
                <a:close/>
              </a:path>
            </a:pathLst>
          </a:custGeom>
          <a:solidFill>
            <a:srgbClr val="40BAD2"/>
          </a:solidFill>
          <a:ln>
            <a:noFill/>
          </a:ln>
        </p:spPr>
      </p:sp>
      <p:sp>
        <p:nvSpPr>
          <p:cNvPr id="204" name="Google Shape;204;p9"/>
          <p:cNvSpPr/>
          <p:nvPr/>
        </p:nvSpPr>
        <p:spPr>
          <a:xfrm>
            <a:off x="17723796" y="1138428"/>
            <a:ext cx="576072" cy="7996428"/>
          </a:xfrm>
          <a:custGeom>
            <a:rect b="b" l="l" r="r" t="t"/>
            <a:pathLst>
              <a:path extrusionOk="0" h="10661904" w="768096">
                <a:moveTo>
                  <a:pt x="0" y="0"/>
                </a:moveTo>
                <a:lnTo>
                  <a:pt x="768096" y="0"/>
                </a:lnTo>
                <a:lnTo>
                  <a:pt x="768096" y="10661904"/>
                </a:lnTo>
                <a:lnTo>
                  <a:pt x="0" y="10661904"/>
                </a:lnTo>
                <a:close/>
              </a:path>
            </a:pathLst>
          </a:custGeom>
          <a:solidFill>
            <a:srgbClr val="C8C8C8">
              <a:alpha val="24706"/>
            </a:srgbClr>
          </a:solidFill>
          <a:ln>
            <a:noFill/>
          </a:ln>
        </p:spPr>
      </p:sp>
      <p:sp>
        <p:nvSpPr>
          <p:cNvPr id="205" name="Google Shape;205;p9"/>
          <p:cNvSpPr/>
          <p:nvPr/>
        </p:nvSpPr>
        <p:spPr>
          <a:xfrm>
            <a:off x="0" y="0"/>
            <a:ext cx="18288000" cy="10287000"/>
          </a:xfrm>
          <a:custGeom>
            <a:rect b="b" l="l" r="r" t="t"/>
            <a:pathLst>
              <a:path extrusionOk="0" h="13716000" w="24384000">
                <a:moveTo>
                  <a:pt x="0" y="0"/>
                </a:moveTo>
                <a:lnTo>
                  <a:pt x="24384000" y="0"/>
                </a:lnTo>
                <a:lnTo>
                  <a:pt x="24384000" y="13716000"/>
                </a:lnTo>
                <a:lnTo>
                  <a:pt x="0" y="13716000"/>
                </a:lnTo>
                <a:close/>
              </a:path>
            </a:pathLst>
          </a:custGeom>
          <a:solidFill>
            <a:srgbClr val="FFFFFF"/>
          </a:solidFill>
          <a:ln>
            <a:noFill/>
          </a:ln>
        </p:spPr>
      </p:sp>
      <p:sp>
        <p:nvSpPr>
          <p:cNvPr id="206" name="Google Shape;206;p9"/>
          <p:cNvSpPr/>
          <p:nvPr/>
        </p:nvSpPr>
        <p:spPr>
          <a:xfrm>
            <a:off x="11775180" y="1135988"/>
            <a:ext cx="6512814" cy="7993952"/>
          </a:xfrm>
          <a:custGeom>
            <a:rect b="b" l="l" r="r" t="t"/>
            <a:pathLst>
              <a:path extrusionOk="0" h="10658602" w="8683752">
                <a:moveTo>
                  <a:pt x="0" y="0"/>
                </a:moveTo>
                <a:lnTo>
                  <a:pt x="8683752" y="0"/>
                </a:lnTo>
                <a:lnTo>
                  <a:pt x="8683752" y="10658602"/>
                </a:lnTo>
                <a:lnTo>
                  <a:pt x="0" y="10658602"/>
                </a:lnTo>
                <a:close/>
              </a:path>
            </a:pathLst>
          </a:custGeom>
          <a:solidFill>
            <a:srgbClr val="40BAD2"/>
          </a:solidFill>
          <a:ln>
            <a:noFill/>
          </a:ln>
        </p:spPr>
      </p:sp>
      <p:grpSp>
        <p:nvGrpSpPr>
          <p:cNvPr id="207" name="Google Shape;207;p9"/>
          <p:cNvGrpSpPr/>
          <p:nvPr/>
        </p:nvGrpSpPr>
        <p:grpSpPr>
          <a:xfrm>
            <a:off x="12242085" y="1619655"/>
            <a:ext cx="5482286" cy="2290866"/>
            <a:chOff x="0" y="0"/>
            <a:chExt cx="7309714" cy="3054488"/>
          </a:xfrm>
        </p:grpSpPr>
        <p:sp>
          <p:nvSpPr>
            <p:cNvPr id="208" name="Google Shape;208;p9"/>
            <p:cNvSpPr/>
            <p:nvPr/>
          </p:nvSpPr>
          <p:spPr>
            <a:xfrm>
              <a:off x="0" y="0"/>
              <a:ext cx="7309714" cy="3054488"/>
            </a:xfrm>
            <a:custGeom>
              <a:rect b="b" l="l" r="r" t="t"/>
              <a:pathLst>
                <a:path extrusionOk="0" h="3054488" w="7309714">
                  <a:moveTo>
                    <a:pt x="0" y="0"/>
                  </a:moveTo>
                  <a:lnTo>
                    <a:pt x="7309714" y="0"/>
                  </a:lnTo>
                  <a:lnTo>
                    <a:pt x="7309714" y="3054488"/>
                  </a:lnTo>
                  <a:lnTo>
                    <a:pt x="0" y="3054488"/>
                  </a:lnTo>
                  <a:close/>
                </a:path>
              </a:pathLst>
            </a:custGeom>
            <a:solidFill>
              <a:srgbClr val="000000">
                <a:alpha val="0"/>
              </a:srgbClr>
            </a:solidFill>
            <a:ln>
              <a:noFill/>
            </a:ln>
          </p:spPr>
        </p:sp>
        <p:sp>
          <p:nvSpPr>
            <p:cNvPr id="209" name="Google Shape;209;p9"/>
            <p:cNvSpPr txBox="1"/>
            <p:nvPr/>
          </p:nvSpPr>
          <p:spPr>
            <a:xfrm>
              <a:off x="0" y="57150"/>
              <a:ext cx="7309714" cy="2997338"/>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000000"/>
                </a:buClr>
                <a:buSzPts val="4800"/>
                <a:buFont typeface="Arial"/>
                <a:buNone/>
              </a:pPr>
              <a:r>
                <a:rPr b="0" i="0" lang="en-US" sz="4800" u="none" cap="none" strike="noStrike">
                  <a:solidFill>
                    <a:srgbClr val="FFFFFF"/>
                  </a:solidFill>
                  <a:latin typeface="PT Sans"/>
                  <a:ea typeface="PT Sans"/>
                  <a:cs typeface="PT Sans"/>
                  <a:sym typeface="PT Sans"/>
                </a:rPr>
                <a:t>Ordenamiento Rápido</a:t>
              </a:r>
              <a:endParaRPr b="0" i="0" sz="1400" u="none" cap="none" strike="noStrike">
                <a:solidFill>
                  <a:srgbClr val="000000"/>
                </a:solidFill>
                <a:latin typeface="Arial"/>
                <a:ea typeface="Arial"/>
                <a:cs typeface="Arial"/>
                <a:sym typeface="Arial"/>
              </a:endParaRPr>
            </a:p>
          </p:txBody>
        </p:sp>
      </p:grpSp>
      <p:sp>
        <p:nvSpPr>
          <p:cNvPr id="210" name="Google Shape;210;p9"/>
          <p:cNvSpPr/>
          <p:nvPr/>
        </p:nvSpPr>
        <p:spPr>
          <a:xfrm>
            <a:off x="0" y="1138428"/>
            <a:ext cx="576072" cy="7996428"/>
          </a:xfrm>
          <a:custGeom>
            <a:rect b="b" l="l" r="r" t="t"/>
            <a:pathLst>
              <a:path extrusionOk="0" h="10661904" w="768096">
                <a:moveTo>
                  <a:pt x="0" y="0"/>
                </a:moveTo>
                <a:lnTo>
                  <a:pt x="768096" y="0"/>
                </a:lnTo>
                <a:lnTo>
                  <a:pt x="768096" y="10661904"/>
                </a:lnTo>
                <a:lnTo>
                  <a:pt x="0" y="10661904"/>
                </a:lnTo>
                <a:close/>
              </a:path>
            </a:pathLst>
          </a:custGeom>
          <a:solidFill>
            <a:srgbClr val="C8C8C8">
              <a:alpha val="24706"/>
            </a:srgbClr>
          </a:solidFill>
          <a:ln>
            <a:noFill/>
          </a:ln>
        </p:spPr>
      </p:sp>
      <p:sp>
        <p:nvSpPr>
          <p:cNvPr descr="Quick Sort Algorithm" id="211" name="Google Shape;211;p9"/>
          <p:cNvSpPr/>
          <p:nvPr/>
        </p:nvSpPr>
        <p:spPr>
          <a:xfrm>
            <a:off x="2158698" y="1135988"/>
            <a:ext cx="8027575" cy="7993952"/>
          </a:xfrm>
          <a:custGeom>
            <a:rect b="b" l="l" r="r" t="t"/>
            <a:pathLst>
              <a:path extrusionOk="0" h="10658602" w="10703433">
                <a:moveTo>
                  <a:pt x="0" y="0"/>
                </a:moveTo>
                <a:lnTo>
                  <a:pt x="10703433" y="0"/>
                </a:lnTo>
                <a:lnTo>
                  <a:pt x="10703433" y="10658602"/>
                </a:lnTo>
                <a:lnTo>
                  <a:pt x="0" y="10658602"/>
                </a:lnTo>
                <a:lnTo>
                  <a:pt x="0" y="0"/>
                </a:lnTo>
                <a:close/>
              </a:path>
            </a:pathLst>
          </a:custGeom>
          <a:blipFill rotWithShape="1">
            <a:blip r:embed="rId3">
              <a:alphaModFix/>
            </a:blip>
            <a:stretch>
              <a:fillRect b="-82" l="-20663" r="-56369" t="0"/>
            </a:stretch>
          </a:blipFill>
          <a:ln>
            <a:noFill/>
          </a:ln>
        </p:spPr>
      </p:sp>
      <p:sp>
        <p:nvSpPr>
          <p:cNvPr id="212" name="Google Shape;212;p9"/>
          <p:cNvSpPr txBox="1"/>
          <p:nvPr/>
        </p:nvSpPr>
        <p:spPr>
          <a:xfrm>
            <a:off x="12333510" y="3975271"/>
            <a:ext cx="5299436" cy="4626404"/>
          </a:xfrm>
          <a:prstGeom prst="rect">
            <a:avLst/>
          </a:prstGeom>
          <a:noFill/>
          <a:ln>
            <a:noFill/>
          </a:ln>
        </p:spPr>
        <p:txBody>
          <a:bodyPr anchorCtr="0" anchor="t" bIns="0" lIns="0" spcFirstLastPara="1" rIns="0" wrap="square" tIns="0">
            <a:spAutoFit/>
          </a:bodyPr>
          <a:lstStyle/>
          <a:p>
            <a:pPr indent="-203597" lvl="1" marL="407194" marR="0" rtl="0" algn="l">
              <a:lnSpc>
                <a:spcPct val="108000"/>
              </a:lnSpc>
              <a:spcBef>
                <a:spcPts val="0"/>
              </a:spcBef>
              <a:spcAft>
                <a:spcPts val="0"/>
              </a:spcAft>
              <a:buClr>
                <a:srgbClr val="FFFFFF"/>
              </a:buClr>
              <a:buSzPts val="2250"/>
              <a:buFont typeface="Arial"/>
              <a:buChar char="•"/>
            </a:pPr>
            <a:r>
              <a:rPr b="0" i="0" lang="en-US" sz="2250" u="none" cap="none" strike="noStrike">
                <a:solidFill>
                  <a:srgbClr val="FFFFFF"/>
                </a:solidFill>
                <a:latin typeface="PT Sans"/>
                <a:ea typeface="PT Sans"/>
                <a:cs typeface="PT Sans"/>
                <a:sym typeface="PT Sans"/>
              </a:rPr>
              <a:t>El método Quick Sort es actualmente el mas eficiente y veloz de los método de ordenación interna. Es tambien conocido con el nombre del método rápido y de ordenamento por partición. Este método es una mejora sustancial del método de intercambio directo y recibe el nombre de Quick Sort, por la velocidad con la que ordena los elementos del arreglo. Quicksort es un algoritmo basado en la técnica de divide y vencerás, que permite, en promedio, ordenar n elementos en un tiempo proporcional a n log 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0"/>
          <p:cNvSpPr/>
          <p:nvPr/>
        </p:nvSpPr>
        <p:spPr>
          <a:xfrm>
            <a:off x="1" y="1138428"/>
            <a:ext cx="5165408" cy="7996428"/>
          </a:xfrm>
          <a:custGeom>
            <a:rect b="b" l="l" r="r" t="t"/>
            <a:pathLst>
              <a:path extrusionOk="0" h="10661904" w="6887210">
                <a:moveTo>
                  <a:pt x="0" y="0"/>
                </a:moveTo>
                <a:lnTo>
                  <a:pt x="6887210" y="0"/>
                </a:lnTo>
                <a:lnTo>
                  <a:pt x="6887210" y="10661904"/>
                </a:lnTo>
                <a:lnTo>
                  <a:pt x="0" y="10661904"/>
                </a:lnTo>
                <a:close/>
              </a:path>
            </a:pathLst>
          </a:custGeom>
          <a:solidFill>
            <a:srgbClr val="40BAD2"/>
          </a:solidFill>
          <a:ln>
            <a:noFill/>
          </a:ln>
        </p:spPr>
      </p:sp>
      <p:sp>
        <p:nvSpPr>
          <p:cNvPr id="218" name="Google Shape;218;p10"/>
          <p:cNvSpPr/>
          <p:nvPr/>
        </p:nvSpPr>
        <p:spPr>
          <a:xfrm>
            <a:off x="17723796" y="1138428"/>
            <a:ext cx="576072" cy="7996428"/>
          </a:xfrm>
          <a:custGeom>
            <a:rect b="b" l="l" r="r" t="t"/>
            <a:pathLst>
              <a:path extrusionOk="0" h="10661904" w="768096">
                <a:moveTo>
                  <a:pt x="0" y="0"/>
                </a:moveTo>
                <a:lnTo>
                  <a:pt x="768096" y="0"/>
                </a:lnTo>
                <a:lnTo>
                  <a:pt x="768096" y="10661904"/>
                </a:lnTo>
                <a:lnTo>
                  <a:pt x="0" y="10661904"/>
                </a:lnTo>
                <a:close/>
              </a:path>
            </a:pathLst>
          </a:custGeom>
          <a:solidFill>
            <a:srgbClr val="C8C8C8">
              <a:alpha val="24706"/>
            </a:srgbClr>
          </a:solidFill>
          <a:ln>
            <a:noFill/>
          </a:ln>
        </p:spPr>
      </p:sp>
      <p:sp>
        <p:nvSpPr>
          <p:cNvPr id="219" name="Google Shape;219;p10"/>
          <p:cNvSpPr/>
          <p:nvPr/>
        </p:nvSpPr>
        <p:spPr>
          <a:xfrm>
            <a:off x="0" y="1142998"/>
            <a:ext cx="13712475" cy="8001000"/>
          </a:xfrm>
          <a:custGeom>
            <a:rect b="b" l="l" r="r" t="t"/>
            <a:pathLst>
              <a:path extrusionOk="0" h="10668000" w="18283301">
                <a:moveTo>
                  <a:pt x="0" y="0"/>
                </a:moveTo>
                <a:lnTo>
                  <a:pt x="18283301" y="0"/>
                </a:lnTo>
                <a:lnTo>
                  <a:pt x="18283301" y="10668000"/>
                </a:lnTo>
                <a:lnTo>
                  <a:pt x="0" y="10668000"/>
                </a:lnTo>
                <a:close/>
              </a:path>
            </a:pathLst>
          </a:custGeom>
          <a:solidFill>
            <a:srgbClr val="40BAD2"/>
          </a:solidFill>
          <a:ln>
            <a:noFill/>
          </a:ln>
        </p:spPr>
      </p:sp>
      <p:sp>
        <p:nvSpPr>
          <p:cNvPr id="220" name="Google Shape;220;p10"/>
          <p:cNvSpPr/>
          <p:nvPr/>
        </p:nvSpPr>
        <p:spPr>
          <a:xfrm>
            <a:off x="13905394" y="1142998"/>
            <a:ext cx="4387977" cy="8001000"/>
          </a:xfrm>
          <a:custGeom>
            <a:rect b="b" l="l" r="r" t="t"/>
            <a:pathLst>
              <a:path extrusionOk="0" h="10668000" w="5850636">
                <a:moveTo>
                  <a:pt x="0" y="0"/>
                </a:moveTo>
                <a:lnTo>
                  <a:pt x="5850636" y="0"/>
                </a:lnTo>
                <a:lnTo>
                  <a:pt x="5850636" y="10668000"/>
                </a:lnTo>
                <a:lnTo>
                  <a:pt x="0" y="10668000"/>
                </a:lnTo>
                <a:close/>
              </a:path>
            </a:pathLst>
          </a:custGeom>
          <a:solidFill>
            <a:srgbClr val="C8C8C8">
              <a:alpha val="24706"/>
            </a:srgbClr>
          </a:solidFill>
          <a:ln>
            <a:noFill/>
          </a:ln>
        </p:spPr>
      </p:sp>
      <p:sp>
        <p:nvSpPr>
          <p:cNvPr id="221" name="Google Shape;221;p10"/>
          <p:cNvSpPr/>
          <p:nvPr/>
        </p:nvSpPr>
        <p:spPr>
          <a:xfrm>
            <a:off x="0" y="0"/>
            <a:ext cx="18287999" cy="10287000"/>
          </a:xfrm>
          <a:custGeom>
            <a:rect b="b" l="l" r="r" t="t"/>
            <a:pathLst>
              <a:path extrusionOk="0" h="13716000" w="24384000">
                <a:moveTo>
                  <a:pt x="0" y="0"/>
                </a:moveTo>
                <a:lnTo>
                  <a:pt x="24384000" y="0"/>
                </a:lnTo>
                <a:lnTo>
                  <a:pt x="24384000" y="13716000"/>
                </a:lnTo>
                <a:lnTo>
                  <a:pt x="0" y="13716000"/>
                </a:lnTo>
                <a:close/>
              </a:path>
            </a:pathLst>
          </a:custGeom>
          <a:solidFill>
            <a:srgbClr val="FFFFFF"/>
          </a:solidFill>
          <a:ln>
            <a:noFill/>
          </a:ln>
        </p:spPr>
      </p:sp>
      <p:sp>
        <p:nvSpPr>
          <p:cNvPr id="222" name="Google Shape;222;p10"/>
          <p:cNvSpPr/>
          <p:nvPr/>
        </p:nvSpPr>
        <p:spPr>
          <a:xfrm>
            <a:off x="0" y="6551458"/>
            <a:ext cx="17561052" cy="2778252"/>
          </a:xfrm>
          <a:custGeom>
            <a:rect b="b" l="l" r="r" t="t"/>
            <a:pathLst>
              <a:path extrusionOk="0" h="3704336" w="23414737">
                <a:moveTo>
                  <a:pt x="0" y="0"/>
                </a:moveTo>
                <a:lnTo>
                  <a:pt x="23414737" y="0"/>
                </a:lnTo>
                <a:lnTo>
                  <a:pt x="23414737" y="3704336"/>
                </a:lnTo>
                <a:lnTo>
                  <a:pt x="0" y="3704336"/>
                </a:lnTo>
                <a:close/>
              </a:path>
            </a:pathLst>
          </a:custGeom>
          <a:solidFill>
            <a:srgbClr val="40BAD2"/>
          </a:solidFill>
          <a:ln>
            <a:noFill/>
          </a:ln>
        </p:spPr>
      </p:sp>
      <p:grpSp>
        <p:nvGrpSpPr>
          <p:cNvPr id="223" name="Google Shape;223;p10"/>
          <p:cNvGrpSpPr/>
          <p:nvPr/>
        </p:nvGrpSpPr>
        <p:grpSpPr>
          <a:xfrm>
            <a:off x="1604772" y="6885992"/>
            <a:ext cx="15316293" cy="1598535"/>
            <a:chOff x="0" y="0"/>
            <a:chExt cx="20421724" cy="2131380"/>
          </a:xfrm>
        </p:grpSpPr>
        <p:sp>
          <p:nvSpPr>
            <p:cNvPr id="224" name="Google Shape;224;p10"/>
            <p:cNvSpPr/>
            <p:nvPr/>
          </p:nvSpPr>
          <p:spPr>
            <a:xfrm>
              <a:off x="0" y="0"/>
              <a:ext cx="20421724" cy="2131380"/>
            </a:xfrm>
            <a:custGeom>
              <a:rect b="b" l="l" r="r" t="t"/>
              <a:pathLst>
                <a:path extrusionOk="0" h="2131380" w="20421724">
                  <a:moveTo>
                    <a:pt x="0" y="0"/>
                  </a:moveTo>
                  <a:lnTo>
                    <a:pt x="20421724" y="0"/>
                  </a:lnTo>
                  <a:lnTo>
                    <a:pt x="20421724" y="2131380"/>
                  </a:lnTo>
                  <a:lnTo>
                    <a:pt x="0" y="2131380"/>
                  </a:lnTo>
                  <a:close/>
                </a:path>
              </a:pathLst>
            </a:custGeom>
            <a:solidFill>
              <a:srgbClr val="000000">
                <a:alpha val="0"/>
              </a:srgbClr>
            </a:solidFill>
            <a:ln>
              <a:noFill/>
            </a:ln>
          </p:spPr>
        </p:sp>
        <p:sp>
          <p:nvSpPr>
            <p:cNvPr id="225" name="Google Shape;225;p10"/>
            <p:cNvSpPr txBox="1"/>
            <p:nvPr/>
          </p:nvSpPr>
          <p:spPr>
            <a:xfrm>
              <a:off x="0" y="104775"/>
              <a:ext cx="20421724" cy="2026605"/>
            </a:xfrm>
            <a:prstGeom prst="rect">
              <a:avLst/>
            </a:prstGeom>
            <a:noFill/>
            <a:ln>
              <a:noFill/>
            </a:ln>
          </p:spPr>
          <p:txBody>
            <a:bodyPr anchorCtr="0" anchor="b" bIns="0" lIns="0" spcFirstLastPara="1" rIns="0" wrap="square" tIns="0">
              <a:noAutofit/>
            </a:bodyPr>
            <a:lstStyle/>
            <a:p>
              <a:pPr indent="0" lvl="0" marL="0" marR="0" rtl="0" algn="l">
                <a:lnSpc>
                  <a:spcPct val="108000"/>
                </a:lnSpc>
                <a:spcBef>
                  <a:spcPts val="0"/>
                </a:spcBef>
                <a:spcAft>
                  <a:spcPts val="0"/>
                </a:spcAft>
                <a:buClr>
                  <a:srgbClr val="000000"/>
                </a:buClr>
                <a:buSzPts val="8850"/>
                <a:buFont typeface="Arial"/>
                <a:buNone/>
              </a:pPr>
              <a:r>
                <a:rPr b="0" i="0" lang="en-US" sz="8850" u="none" cap="none" strike="noStrike">
                  <a:solidFill>
                    <a:srgbClr val="FFFFFF"/>
                  </a:solidFill>
                  <a:latin typeface="PT Sans"/>
                  <a:ea typeface="PT Sans"/>
                  <a:cs typeface="PT Sans"/>
                  <a:sym typeface="PT Sans"/>
                </a:rPr>
                <a:t>Pila de Ejecución</a:t>
              </a:r>
              <a:endParaRPr b="0" i="0" sz="1400" u="none" cap="none" strike="noStrike">
                <a:solidFill>
                  <a:srgbClr val="000000"/>
                </a:solidFill>
                <a:latin typeface="Arial"/>
                <a:ea typeface="Arial"/>
                <a:cs typeface="Arial"/>
                <a:sym typeface="Arial"/>
              </a:endParaRPr>
            </a:p>
          </p:txBody>
        </p:sp>
      </p:grpSp>
      <p:sp>
        <p:nvSpPr>
          <p:cNvPr id="226" name="Google Shape;226;p10"/>
          <p:cNvSpPr txBox="1"/>
          <p:nvPr/>
        </p:nvSpPr>
        <p:spPr>
          <a:xfrm>
            <a:off x="1741446" y="8583988"/>
            <a:ext cx="15088194" cy="68438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Clr>
                <a:srgbClr val="000000"/>
              </a:buClr>
              <a:buSzPts val="3300"/>
              <a:buFont typeface="Arial"/>
              <a:buNone/>
            </a:pPr>
            <a:r>
              <a:rPr b="0" i="0" lang="en-US" sz="3300" u="none" cap="none" strike="noStrike">
                <a:solidFill>
                  <a:srgbClr val="D7F0F6"/>
                </a:solidFill>
                <a:latin typeface="PT Sans"/>
                <a:ea typeface="PT Sans"/>
                <a:cs typeface="PT Sans"/>
                <a:sym typeface="PT Sans"/>
              </a:rPr>
              <a:t>Definición, ¿Para qué sirve?, Inicios, Funciones, ¿Cómo funciona?</a:t>
            </a:r>
            <a:endParaRPr b="0" i="0" sz="1400" u="none" cap="none" strike="noStrike">
              <a:solidFill>
                <a:srgbClr val="000000"/>
              </a:solidFill>
              <a:latin typeface="Arial"/>
              <a:ea typeface="Arial"/>
              <a:cs typeface="Arial"/>
              <a:sym typeface="Arial"/>
            </a:endParaRPr>
          </a:p>
        </p:txBody>
      </p:sp>
      <p:sp>
        <p:nvSpPr>
          <p:cNvPr descr="Habitación con servidores iluminados" id="227" name="Google Shape;227;p10"/>
          <p:cNvSpPr/>
          <p:nvPr/>
        </p:nvSpPr>
        <p:spPr>
          <a:xfrm>
            <a:off x="4841754" y="726948"/>
            <a:ext cx="9482329" cy="5335142"/>
          </a:xfrm>
          <a:custGeom>
            <a:rect b="b" l="l" r="r" t="t"/>
            <a:pathLst>
              <a:path extrusionOk="0" h="7113524" w="12643104">
                <a:moveTo>
                  <a:pt x="0" y="0"/>
                </a:moveTo>
                <a:lnTo>
                  <a:pt x="12643104" y="0"/>
                </a:lnTo>
                <a:lnTo>
                  <a:pt x="12643104" y="7113524"/>
                </a:lnTo>
                <a:lnTo>
                  <a:pt x="0" y="7113524"/>
                </a:lnTo>
                <a:lnTo>
                  <a:pt x="0" y="0"/>
                </a:lnTo>
                <a:close/>
              </a:path>
            </a:pathLst>
          </a:custGeom>
          <a:blipFill rotWithShape="1">
            <a:blip r:embed="rId3">
              <a:alphaModFix/>
            </a:blip>
            <a:stretch>
              <a:fillRect b="-3351" l="0" r="-10165" t="-27148"/>
            </a:stretch>
          </a:blipFill>
          <a:ln>
            <a:noFill/>
          </a:ln>
        </p:spPr>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11"/>
          <p:cNvSpPr/>
          <p:nvPr/>
        </p:nvSpPr>
        <p:spPr>
          <a:xfrm>
            <a:off x="1" y="1138428"/>
            <a:ext cx="5165408" cy="7996428"/>
          </a:xfrm>
          <a:custGeom>
            <a:rect b="b" l="l" r="r" t="t"/>
            <a:pathLst>
              <a:path extrusionOk="0" h="10661904" w="6887210">
                <a:moveTo>
                  <a:pt x="0" y="0"/>
                </a:moveTo>
                <a:lnTo>
                  <a:pt x="6887210" y="0"/>
                </a:lnTo>
                <a:lnTo>
                  <a:pt x="6887210" y="10661904"/>
                </a:lnTo>
                <a:lnTo>
                  <a:pt x="0" y="10661904"/>
                </a:lnTo>
                <a:close/>
              </a:path>
            </a:pathLst>
          </a:custGeom>
          <a:solidFill>
            <a:srgbClr val="40BAD2"/>
          </a:solidFill>
          <a:ln>
            <a:noFill/>
          </a:ln>
        </p:spPr>
      </p:sp>
      <p:sp>
        <p:nvSpPr>
          <p:cNvPr id="233" name="Google Shape;233;p11"/>
          <p:cNvSpPr/>
          <p:nvPr/>
        </p:nvSpPr>
        <p:spPr>
          <a:xfrm>
            <a:off x="17723796" y="1138428"/>
            <a:ext cx="576072" cy="7996428"/>
          </a:xfrm>
          <a:custGeom>
            <a:rect b="b" l="l" r="r" t="t"/>
            <a:pathLst>
              <a:path extrusionOk="0" h="10661904" w="768096">
                <a:moveTo>
                  <a:pt x="0" y="0"/>
                </a:moveTo>
                <a:lnTo>
                  <a:pt x="768096" y="0"/>
                </a:lnTo>
                <a:lnTo>
                  <a:pt x="768096" y="10661904"/>
                </a:lnTo>
                <a:lnTo>
                  <a:pt x="0" y="10661904"/>
                </a:lnTo>
                <a:close/>
              </a:path>
            </a:pathLst>
          </a:custGeom>
          <a:solidFill>
            <a:srgbClr val="C8C8C8">
              <a:alpha val="24706"/>
            </a:srgbClr>
          </a:solidFill>
          <a:ln>
            <a:noFill/>
          </a:ln>
        </p:spPr>
      </p:sp>
      <p:sp>
        <p:nvSpPr>
          <p:cNvPr id="234" name="Google Shape;234;p11"/>
          <p:cNvSpPr/>
          <p:nvPr/>
        </p:nvSpPr>
        <p:spPr>
          <a:xfrm>
            <a:off x="0" y="1139398"/>
            <a:ext cx="10578751" cy="8001000"/>
          </a:xfrm>
          <a:custGeom>
            <a:rect b="b" l="l" r="r" t="t"/>
            <a:pathLst>
              <a:path extrusionOk="0" h="10668000" w="14105001">
                <a:moveTo>
                  <a:pt x="0" y="0"/>
                </a:moveTo>
                <a:lnTo>
                  <a:pt x="14105001" y="0"/>
                </a:lnTo>
                <a:lnTo>
                  <a:pt x="14105001" y="10668000"/>
                </a:lnTo>
                <a:lnTo>
                  <a:pt x="0" y="10668000"/>
                </a:lnTo>
                <a:close/>
              </a:path>
            </a:pathLst>
          </a:custGeom>
          <a:solidFill>
            <a:srgbClr val="40BAD2"/>
          </a:solidFill>
          <a:ln>
            <a:noFill/>
          </a:ln>
        </p:spPr>
      </p:sp>
      <p:grpSp>
        <p:nvGrpSpPr>
          <p:cNvPr id="235" name="Google Shape;235;p11"/>
          <p:cNvGrpSpPr/>
          <p:nvPr/>
        </p:nvGrpSpPr>
        <p:grpSpPr>
          <a:xfrm>
            <a:off x="433872" y="1685756"/>
            <a:ext cx="9676665" cy="1883204"/>
            <a:chOff x="0" y="0"/>
            <a:chExt cx="12902220" cy="2510938"/>
          </a:xfrm>
        </p:grpSpPr>
        <p:sp>
          <p:nvSpPr>
            <p:cNvPr id="236" name="Google Shape;236;p11"/>
            <p:cNvSpPr/>
            <p:nvPr/>
          </p:nvSpPr>
          <p:spPr>
            <a:xfrm>
              <a:off x="0" y="0"/>
              <a:ext cx="12902220" cy="2510938"/>
            </a:xfrm>
            <a:custGeom>
              <a:rect b="b" l="l" r="r" t="t"/>
              <a:pathLst>
                <a:path extrusionOk="0" h="2510938" w="12902220">
                  <a:moveTo>
                    <a:pt x="0" y="0"/>
                  </a:moveTo>
                  <a:lnTo>
                    <a:pt x="12902220" y="0"/>
                  </a:lnTo>
                  <a:lnTo>
                    <a:pt x="12902220" y="2510938"/>
                  </a:lnTo>
                  <a:lnTo>
                    <a:pt x="0" y="2510938"/>
                  </a:lnTo>
                  <a:close/>
                </a:path>
              </a:pathLst>
            </a:custGeom>
            <a:solidFill>
              <a:srgbClr val="000000">
                <a:alpha val="0"/>
              </a:srgbClr>
            </a:solidFill>
            <a:ln>
              <a:noFill/>
            </a:ln>
          </p:spPr>
        </p:sp>
        <p:sp>
          <p:nvSpPr>
            <p:cNvPr id="237" name="Google Shape;237;p11"/>
            <p:cNvSpPr txBox="1"/>
            <p:nvPr/>
          </p:nvSpPr>
          <p:spPr>
            <a:xfrm>
              <a:off x="0" y="47625"/>
              <a:ext cx="12902220" cy="2463313"/>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000000"/>
                </a:buClr>
                <a:buSzPts val="5400"/>
                <a:buFont typeface="Arial"/>
                <a:buNone/>
              </a:pPr>
              <a:r>
                <a:rPr b="0" i="0" lang="en-US" sz="5400" u="none" cap="none" strike="noStrike">
                  <a:solidFill>
                    <a:srgbClr val="FFFFFF"/>
                  </a:solidFill>
                  <a:latin typeface="PT Sans"/>
                  <a:ea typeface="PT Sans"/>
                  <a:cs typeface="PT Sans"/>
                  <a:sym typeface="PT Sans"/>
                </a:rPr>
                <a:t>Inicios</a:t>
              </a:r>
              <a:endParaRPr b="0" i="0" sz="1400" u="none" cap="none" strike="noStrike">
                <a:solidFill>
                  <a:srgbClr val="000000"/>
                </a:solidFill>
                <a:latin typeface="Arial"/>
                <a:ea typeface="Arial"/>
                <a:cs typeface="Arial"/>
                <a:sym typeface="Arial"/>
              </a:endParaRPr>
            </a:p>
          </p:txBody>
        </p:sp>
      </p:grpSp>
      <p:sp>
        <p:nvSpPr>
          <p:cNvPr id="238" name="Google Shape;238;p11"/>
          <p:cNvSpPr txBox="1"/>
          <p:nvPr/>
        </p:nvSpPr>
        <p:spPr>
          <a:xfrm>
            <a:off x="525297" y="3849392"/>
            <a:ext cx="9493814" cy="47823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Clr>
                <a:srgbClr val="000000"/>
              </a:buClr>
              <a:buSzPts val="3000"/>
              <a:buFont typeface="Arial"/>
              <a:buNone/>
            </a:pPr>
            <a:r>
              <a:rPr b="0" i="0" lang="en-US" sz="3000" u="none" cap="none" strike="noStrike">
                <a:solidFill>
                  <a:srgbClr val="FFFFFF"/>
                </a:solidFill>
                <a:latin typeface="PT Sans"/>
                <a:ea typeface="PT Sans"/>
                <a:cs typeface="PT Sans"/>
                <a:sym typeface="PT Sans"/>
              </a:rPr>
              <a:t>El concepto de pila de ejecución surge de la necesidad de gestionar eficientemente las llamadas a funciones en lenguajes de programación.</a:t>
            </a:r>
            <a:endParaRPr b="0" i="0" sz="1400" u="none" cap="none" strike="noStrike">
              <a:solidFill>
                <a:srgbClr val="000000"/>
              </a:solidFill>
              <a:latin typeface="Arial"/>
              <a:ea typeface="Arial"/>
              <a:cs typeface="Arial"/>
              <a:sym typeface="Arial"/>
            </a:endParaRPr>
          </a:p>
          <a:p>
            <a:pPr indent="0" lvl="0" marL="0" marR="0" rtl="0" algn="l">
              <a:lnSpc>
                <a:spcPct val="108000"/>
              </a:lnSpc>
              <a:spcBef>
                <a:spcPts val="0"/>
              </a:spcBef>
              <a:spcAft>
                <a:spcPts val="0"/>
              </a:spcAft>
              <a:buClr>
                <a:srgbClr val="000000"/>
              </a:buClr>
              <a:buSzPts val="3000"/>
              <a:buFont typeface="Arial"/>
              <a:buNone/>
            </a:pPr>
            <a:r>
              <a:t/>
            </a:r>
            <a:endParaRPr b="0" i="0" sz="3000" u="none" cap="none" strike="noStrike">
              <a:solidFill>
                <a:srgbClr val="FFFFFF"/>
              </a:solidFill>
              <a:latin typeface="PT Sans"/>
              <a:ea typeface="PT Sans"/>
              <a:cs typeface="PT Sans"/>
              <a:sym typeface="PT Sans"/>
            </a:endParaRPr>
          </a:p>
          <a:p>
            <a:pPr indent="0" lvl="0" marL="0" marR="0" rtl="0" algn="l">
              <a:lnSpc>
                <a:spcPct val="108000"/>
              </a:lnSpc>
              <a:spcBef>
                <a:spcPts val="0"/>
              </a:spcBef>
              <a:spcAft>
                <a:spcPts val="0"/>
              </a:spcAft>
              <a:buClr>
                <a:srgbClr val="000000"/>
              </a:buClr>
              <a:buSzPts val="3000"/>
              <a:buFont typeface="Arial"/>
              <a:buNone/>
            </a:pPr>
            <a:r>
              <a:rPr b="0" i="0" lang="en-US" sz="3000" u="none" cap="none" strike="noStrike">
                <a:solidFill>
                  <a:srgbClr val="FFFFFF"/>
                </a:solidFill>
                <a:latin typeface="PT Sans"/>
                <a:ea typeface="PT Sans"/>
                <a:cs typeface="PT Sans"/>
                <a:sym typeface="PT Sans"/>
              </a:rPr>
              <a:t>En Java, la JVM utiliza una pila separada para cada hilo de ejecución.</a:t>
            </a:r>
            <a:endParaRPr b="0" i="0" sz="1400" u="none" cap="none" strike="noStrike">
              <a:solidFill>
                <a:srgbClr val="000000"/>
              </a:solidFill>
              <a:latin typeface="Arial"/>
              <a:ea typeface="Arial"/>
              <a:cs typeface="Arial"/>
              <a:sym typeface="Arial"/>
            </a:endParaRPr>
          </a:p>
        </p:txBody>
      </p:sp>
      <p:sp>
        <p:nvSpPr>
          <p:cNvPr descr="Vista plana superior del robot que se desvía del grupo" id="239" name="Google Shape;239;p11"/>
          <p:cNvSpPr/>
          <p:nvPr/>
        </p:nvSpPr>
        <p:spPr>
          <a:xfrm>
            <a:off x="11317548" y="1139398"/>
            <a:ext cx="5667470" cy="7995952"/>
          </a:xfrm>
          <a:custGeom>
            <a:rect b="b" l="l" r="r" t="t"/>
            <a:pathLst>
              <a:path extrusionOk="0" h="10661269" w="7556627">
                <a:moveTo>
                  <a:pt x="0" y="0"/>
                </a:moveTo>
                <a:lnTo>
                  <a:pt x="7556627" y="0"/>
                </a:lnTo>
                <a:lnTo>
                  <a:pt x="7556627" y="10661269"/>
                </a:lnTo>
                <a:lnTo>
                  <a:pt x="0" y="10661269"/>
                </a:lnTo>
                <a:lnTo>
                  <a:pt x="0" y="0"/>
                </a:lnTo>
                <a:close/>
              </a:path>
            </a:pathLst>
          </a:custGeom>
          <a:blipFill rotWithShape="1">
            <a:blip r:embed="rId3">
              <a:alphaModFix/>
            </a:blip>
            <a:stretch>
              <a:fillRect b="-2" l="-30978" r="-10107" t="0"/>
            </a:stretch>
          </a:blipFill>
          <a:ln>
            <a:noFill/>
          </a:ln>
        </p:spPr>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12"/>
          <p:cNvSpPr/>
          <p:nvPr/>
        </p:nvSpPr>
        <p:spPr>
          <a:xfrm>
            <a:off x="1" y="1138428"/>
            <a:ext cx="5165408" cy="7996428"/>
          </a:xfrm>
          <a:custGeom>
            <a:rect b="b" l="l" r="r" t="t"/>
            <a:pathLst>
              <a:path extrusionOk="0" h="10661904" w="6887210">
                <a:moveTo>
                  <a:pt x="0" y="0"/>
                </a:moveTo>
                <a:lnTo>
                  <a:pt x="6887210" y="0"/>
                </a:lnTo>
                <a:lnTo>
                  <a:pt x="6887210" y="10661904"/>
                </a:lnTo>
                <a:lnTo>
                  <a:pt x="0" y="10661904"/>
                </a:lnTo>
                <a:close/>
              </a:path>
            </a:pathLst>
          </a:custGeom>
          <a:solidFill>
            <a:srgbClr val="40BAD2"/>
          </a:solidFill>
          <a:ln>
            <a:noFill/>
          </a:ln>
        </p:spPr>
      </p:sp>
      <p:sp>
        <p:nvSpPr>
          <p:cNvPr id="245" name="Google Shape;245;p12"/>
          <p:cNvSpPr/>
          <p:nvPr/>
        </p:nvSpPr>
        <p:spPr>
          <a:xfrm>
            <a:off x="17723796" y="1138428"/>
            <a:ext cx="576072" cy="7996428"/>
          </a:xfrm>
          <a:custGeom>
            <a:rect b="b" l="l" r="r" t="t"/>
            <a:pathLst>
              <a:path extrusionOk="0" h="10661904" w="768096">
                <a:moveTo>
                  <a:pt x="0" y="0"/>
                </a:moveTo>
                <a:lnTo>
                  <a:pt x="768096" y="0"/>
                </a:lnTo>
                <a:lnTo>
                  <a:pt x="768096" y="10661904"/>
                </a:lnTo>
                <a:lnTo>
                  <a:pt x="0" y="10661904"/>
                </a:lnTo>
                <a:close/>
              </a:path>
            </a:pathLst>
          </a:custGeom>
          <a:solidFill>
            <a:srgbClr val="C8C8C8">
              <a:alpha val="24706"/>
            </a:srgbClr>
          </a:solidFill>
          <a:ln>
            <a:noFill/>
          </a:ln>
        </p:spPr>
      </p:sp>
      <p:sp>
        <p:nvSpPr>
          <p:cNvPr id="246" name="Google Shape;246;p12"/>
          <p:cNvSpPr/>
          <p:nvPr/>
        </p:nvSpPr>
        <p:spPr>
          <a:xfrm>
            <a:off x="0" y="0"/>
            <a:ext cx="18288000" cy="10287000"/>
          </a:xfrm>
          <a:custGeom>
            <a:rect b="b" l="l" r="r" t="t"/>
            <a:pathLst>
              <a:path extrusionOk="0" h="13716000" w="24384000">
                <a:moveTo>
                  <a:pt x="0" y="0"/>
                </a:moveTo>
                <a:lnTo>
                  <a:pt x="24384000" y="0"/>
                </a:lnTo>
                <a:lnTo>
                  <a:pt x="24384000" y="13716000"/>
                </a:lnTo>
                <a:lnTo>
                  <a:pt x="0" y="13716000"/>
                </a:lnTo>
                <a:close/>
              </a:path>
            </a:pathLst>
          </a:custGeom>
          <a:solidFill>
            <a:srgbClr val="FFFFFF"/>
          </a:solidFill>
          <a:ln>
            <a:noFill/>
          </a:ln>
        </p:spPr>
      </p:sp>
      <p:sp>
        <p:nvSpPr>
          <p:cNvPr id="247" name="Google Shape;247;p12"/>
          <p:cNvSpPr/>
          <p:nvPr/>
        </p:nvSpPr>
        <p:spPr>
          <a:xfrm>
            <a:off x="7709271" y="1138430"/>
            <a:ext cx="10578751" cy="7996428"/>
          </a:xfrm>
          <a:custGeom>
            <a:rect b="b" l="l" r="r" t="t"/>
            <a:pathLst>
              <a:path extrusionOk="0" h="10661904" w="14105001">
                <a:moveTo>
                  <a:pt x="0" y="0"/>
                </a:moveTo>
                <a:lnTo>
                  <a:pt x="14105001" y="0"/>
                </a:lnTo>
                <a:lnTo>
                  <a:pt x="14105001" y="10661904"/>
                </a:lnTo>
                <a:lnTo>
                  <a:pt x="0" y="10661904"/>
                </a:lnTo>
                <a:close/>
              </a:path>
            </a:pathLst>
          </a:custGeom>
          <a:solidFill>
            <a:srgbClr val="40BAD2"/>
          </a:solidFill>
          <a:ln>
            <a:noFill/>
          </a:ln>
        </p:spPr>
      </p:sp>
      <p:grpSp>
        <p:nvGrpSpPr>
          <p:cNvPr id="248" name="Google Shape;248;p12"/>
          <p:cNvGrpSpPr/>
          <p:nvPr/>
        </p:nvGrpSpPr>
        <p:grpSpPr>
          <a:xfrm>
            <a:off x="8177463" y="1685756"/>
            <a:ext cx="9676665" cy="1883204"/>
            <a:chOff x="0" y="0"/>
            <a:chExt cx="12902220" cy="2510938"/>
          </a:xfrm>
        </p:grpSpPr>
        <p:sp>
          <p:nvSpPr>
            <p:cNvPr id="249" name="Google Shape;249;p12"/>
            <p:cNvSpPr/>
            <p:nvPr/>
          </p:nvSpPr>
          <p:spPr>
            <a:xfrm>
              <a:off x="0" y="0"/>
              <a:ext cx="12902220" cy="2510938"/>
            </a:xfrm>
            <a:custGeom>
              <a:rect b="b" l="l" r="r" t="t"/>
              <a:pathLst>
                <a:path extrusionOk="0" h="2510938" w="12902220">
                  <a:moveTo>
                    <a:pt x="0" y="0"/>
                  </a:moveTo>
                  <a:lnTo>
                    <a:pt x="12902220" y="0"/>
                  </a:lnTo>
                  <a:lnTo>
                    <a:pt x="12902220" y="2510938"/>
                  </a:lnTo>
                  <a:lnTo>
                    <a:pt x="0" y="2510938"/>
                  </a:lnTo>
                  <a:close/>
                </a:path>
              </a:pathLst>
            </a:custGeom>
            <a:solidFill>
              <a:srgbClr val="000000">
                <a:alpha val="0"/>
              </a:srgbClr>
            </a:solidFill>
            <a:ln>
              <a:noFill/>
            </a:ln>
          </p:spPr>
        </p:sp>
        <p:sp>
          <p:nvSpPr>
            <p:cNvPr id="250" name="Google Shape;250;p12"/>
            <p:cNvSpPr txBox="1"/>
            <p:nvPr/>
          </p:nvSpPr>
          <p:spPr>
            <a:xfrm>
              <a:off x="0" y="47625"/>
              <a:ext cx="12902220" cy="2463313"/>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000000"/>
                </a:buClr>
                <a:buSzPts val="5400"/>
                <a:buFont typeface="Arial"/>
                <a:buNone/>
              </a:pPr>
              <a:r>
                <a:rPr b="0" i="0" lang="en-US" sz="5400" u="none" cap="none" strike="noStrike">
                  <a:solidFill>
                    <a:srgbClr val="FFFFFF"/>
                  </a:solidFill>
                  <a:latin typeface="PT Sans"/>
                  <a:ea typeface="PT Sans"/>
                  <a:cs typeface="PT Sans"/>
                  <a:sym typeface="PT Sans"/>
                </a:rPr>
                <a:t>¿Qué es la pila de ejecución?</a:t>
              </a:r>
              <a:endParaRPr b="0" i="0" sz="1400" u="none" cap="none" strike="noStrike">
                <a:solidFill>
                  <a:srgbClr val="000000"/>
                </a:solidFill>
                <a:latin typeface="Arial"/>
                <a:ea typeface="Arial"/>
                <a:cs typeface="Arial"/>
                <a:sym typeface="Arial"/>
              </a:endParaRPr>
            </a:p>
          </p:txBody>
        </p:sp>
      </p:grpSp>
      <p:sp>
        <p:nvSpPr>
          <p:cNvPr id="251" name="Google Shape;251;p12"/>
          <p:cNvSpPr/>
          <p:nvPr/>
        </p:nvSpPr>
        <p:spPr>
          <a:xfrm>
            <a:off x="-11868" y="1138428"/>
            <a:ext cx="576072" cy="7996428"/>
          </a:xfrm>
          <a:custGeom>
            <a:rect b="b" l="l" r="r" t="t"/>
            <a:pathLst>
              <a:path extrusionOk="0" h="10661904" w="768096">
                <a:moveTo>
                  <a:pt x="0" y="0"/>
                </a:moveTo>
                <a:lnTo>
                  <a:pt x="768096" y="0"/>
                </a:lnTo>
                <a:lnTo>
                  <a:pt x="768096" y="10661904"/>
                </a:lnTo>
                <a:lnTo>
                  <a:pt x="0" y="10661904"/>
                </a:lnTo>
                <a:close/>
              </a:path>
            </a:pathLst>
          </a:custGeom>
          <a:solidFill>
            <a:srgbClr val="C8C8C8">
              <a:alpha val="24706"/>
            </a:srgbClr>
          </a:solidFill>
          <a:ln>
            <a:noFill/>
          </a:ln>
        </p:spPr>
      </p:sp>
      <p:sp>
        <p:nvSpPr>
          <p:cNvPr descr="Battery Charging" id="252" name="Google Shape;252;p12"/>
          <p:cNvSpPr/>
          <p:nvPr/>
        </p:nvSpPr>
        <p:spPr>
          <a:xfrm>
            <a:off x="1291156" y="2302702"/>
            <a:ext cx="5667470" cy="5667470"/>
          </a:xfrm>
          <a:custGeom>
            <a:rect b="b" l="l" r="r" t="t"/>
            <a:pathLst>
              <a:path extrusionOk="0" h="7556627" w="7556627">
                <a:moveTo>
                  <a:pt x="0" y="0"/>
                </a:moveTo>
                <a:lnTo>
                  <a:pt x="7556627" y="0"/>
                </a:lnTo>
                <a:lnTo>
                  <a:pt x="7556627" y="7556627"/>
                </a:lnTo>
                <a:lnTo>
                  <a:pt x="0" y="7556627"/>
                </a:lnTo>
                <a:lnTo>
                  <a:pt x="0" y="0"/>
                </a:lnTo>
                <a:close/>
              </a:path>
            </a:pathLst>
          </a:custGeom>
          <a:blipFill rotWithShape="1">
            <a:blip r:embed="rId3">
              <a:alphaModFix/>
            </a:blip>
            <a:stretch>
              <a:fillRect b="0" l="0" r="0" t="0"/>
            </a:stretch>
          </a:blipFill>
          <a:ln>
            <a:noFill/>
          </a:ln>
        </p:spPr>
      </p:sp>
      <p:sp>
        <p:nvSpPr>
          <p:cNvPr id="253" name="Google Shape;253;p12"/>
          <p:cNvSpPr txBox="1"/>
          <p:nvPr/>
        </p:nvSpPr>
        <p:spPr>
          <a:xfrm>
            <a:off x="8268891" y="3849392"/>
            <a:ext cx="9493814" cy="47823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Clr>
                <a:srgbClr val="000000"/>
              </a:buClr>
              <a:buSzPts val="3000"/>
              <a:buFont typeface="Arial"/>
              <a:buNone/>
            </a:pPr>
            <a:r>
              <a:rPr b="0" i="0" lang="en-US" sz="3000" u="none" cap="none" strike="noStrike">
                <a:solidFill>
                  <a:srgbClr val="FFFFFF"/>
                </a:solidFill>
                <a:latin typeface="PT Sans"/>
                <a:ea typeface="PT Sans"/>
                <a:cs typeface="PT Sans"/>
                <a:sym typeface="PT Sans"/>
              </a:rPr>
              <a:t>La pila de ejecución (o simplemente "stack") es una estructura de datos interna utilizada por el sistema operativo y la JVM (Java Virtual Machine) para gestionar las llamadas a métodos y las variables locales durante la ejecución de un programa. Es una estructura de tipo LIFO (Last In, First Out), lo que significa que el último elemento agregado es el primero en ser eliminado.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13"/>
          <p:cNvSpPr/>
          <p:nvPr/>
        </p:nvSpPr>
        <p:spPr>
          <a:xfrm>
            <a:off x="1" y="1138428"/>
            <a:ext cx="5165408" cy="7996428"/>
          </a:xfrm>
          <a:custGeom>
            <a:rect b="b" l="l" r="r" t="t"/>
            <a:pathLst>
              <a:path extrusionOk="0" h="10661904" w="6887210">
                <a:moveTo>
                  <a:pt x="0" y="0"/>
                </a:moveTo>
                <a:lnTo>
                  <a:pt x="6887210" y="0"/>
                </a:lnTo>
                <a:lnTo>
                  <a:pt x="6887210" y="10661904"/>
                </a:lnTo>
                <a:lnTo>
                  <a:pt x="0" y="10661904"/>
                </a:lnTo>
                <a:close/>
              </a:path>
            </a:pathLst>
          </a:custGeom>
          <a:solidFill>
            <a:srgbClr val="40BAD2"/>
          </a:solidFill>
          <a:ln>
            <a:noFill/>
          </a:ln>
        </p:spPr>
      </p:sp>
      <p:sp>
        <p:nvSpPr>
          <p:cNvPr id="259" name="Google Shape;259;p13"/>
          <p:cNvSpPr/>
          <p:nvPr/>
        </p:nvSpPr>
        <p:spPr>
          <a:xfrm>
            <a:off x="17723796" y="1138428"/>
            <a:ext cx="576072" cy="7996428"/>
          </a:xfrm>
          <a:custGeom>
            <a:rect b="b" l="l" r="r" t="t"/>
            <a:pathLst>
              <a:path extrusionOk="0" h="10661904" w="768096">
                <a:moveTo>
                  <a:pt x="0" y="0"/>
                </a:moveTo>
                <a:lnTo>
                  <a:pt x="768096" y="0"/>
                </a:lnTo>
                <a:lnTo>
                  <a:pt x="768096" y="10661904"/>
                </a:lnTo>
                <a:lnTo>
                  <a:pt x="0" y="10661904"/>
                </a:lnTo>
                <a:close/>
              </a:path>
            </a:pathLst>
          </a:custGeom>
          <a:solidFill>
            <a:srgbClr val="C8C8C8">
              <a:alpha val="24706"/>
            </a:srgbClr>
          </a:solidFill>
          <a:ln>
            <a:noFill/>
          </a:ln>
        </p:spPr>
      </p:sp>
      <p:sp>
        <p:nvSpPr>
          <p:cNvPr id="260" name="Google Shape;260;p13"/>
          <p:cNvSpPr/>
          <p:nvPr/>
        </p:nvSpPr>
        <p:spPr>
          <a:xfrm>
            <a:off x="0" y="0"/>
            <a:ext cx="18288000" cy="10287000"/>
          </a:xfrm>
          <a:custGeom>
            <a:rect b="b" l="l" r="r" t="t"/>
            <a:pathLst>
              <a:path extrusionOk="0" h="13716000" w="24384000">
                <a:moveTo>
                  <a:pt x="0" y="0"/>
                </a:moveTo>
                <a:lnTo>
                  <a:pt x="24384000" y="0"/>
                </a:lnTo>
                <a:lnTo>
                  <a:pt x="24384000" y="13716000"/>
                </a:lnTo>
                <a:lnTo>
                  <a:pt x="0" y="13716000"/>
                </a:lnTo>
                <a:close/>
              </a:path>
            </a:pathLst>
          </a:custGeom>
          <a:solidFill>
            <a:srgbClr val="FFFFFF"/>
          </a:solidFill>
          <a:ln>
            <a:noFill/>
          </a:ln>
        </p:spPr>
      </p:sp>
      <p:sp>
        <p:nvSpPr>
          <p:cNvPr id="261" name="Google Shape;261;p13"/>
          <p:cNvSpPr/>
          <p:nvPr/>
        </p:nvSpPr>
        <p:spPr>
          <a:xfrm>
            <a:off x="7709271" y="1138430"/>
            <a:ext cx="10578751" cy="7996428"/>
          </a:xfrm>
          <a:custGeom>
            <a:rect b="b" l="l" r="r" t="t"/>
            <a:pathLst>
              <a:path extrusionOk="0" h="10661904" w="14105001">
                <a:moveTo>
                  <a:pt x="0" y="0"/>
                </a:moveTo>
                <a:lnTo>
                  <a:pt x="14105001" y="0"/>
                </a:lnTo>
                <a:lnTo>
                  <a:pt x="14105001" y="10661904"/>
                </a:lnTo>
                <a:lnTo>
                  <a:pt x="0" y="10661904"/>
                </a:lnTo>
                <a:close/>
              </a:path>
            </a:pathLst>
          </a:custGeom>
          <a:solidFill>
            <a:srgbClr val="40BAD2"/>
          </a:solidFill>
          <a:ln>
            <a:noFill/>
          </a:ln>
        </p:spPr>
      </p:sp>
      <p:grpSp>
        <p:nvGrpSpPr>
          <p:cNvPr id="262" name="Google Shape;262;p13"/>
          <p:cNvGrpSpPr/>
          <p:nvPr/>
        </p:nvGrpSpPr>
        <p:grpSpPr>
          <a:xfrm>
            <a:off x="8177463" y="1685756"/>
            <a:ext cx="9676665" cy="1883204"/>
            <a:chOff x="0" y="0"/>
            <a:chExt cx="12902220" cy="2510938"/>
          </a:xfrm>
        </p:grpSpPr>
        <p:sp>
          <p:nvSpPr>
            <p:cNvPr id="263" name="Google Shape;263;p13"/>
            <p:cNvSpPr/>
            <p:nvPr/>
          </p:nvSpPr>
          <p:spPr>
            <a:xfrm>
              <a:off x="0" y="0"/>
              <a:ext cx="12902220" cy="2510938"/>
            </a:xfrm>
            <a:custGeom>
              <a:rect b="b" l="l" r="r" t="t"/>
              <a:pathLst>
                <a:path extrusionOk="0" h="2510938" w="12902220">
                  <a:moveTo>
                    <a:pt x="0" y="0"/>
                  </a:moveTo>
                  <a:lnTo>
                    <a:pt x="12902220" y="0"/>
                  </a:lnTo>
                  <a:lnTo>
                    <a:pt x="12902220" y="2510938"/>
                  </a:lnTo>
                  <a:lnTo>
                    <a:pt x="0" y="2510938"/>
                  </a:lnTo>
                  <a:close/>
                </a:path>
              </a:pathLst>
            </a:custGeom>
            <a:solidFill>
              <a:srgbClr val="000000">
                <a:alpha val="0"/>
              </a:srgbClr>
            </a:solidFill>
            <a:ln>
              <a:noFill/>
            </a:ln>
          </p:spPr>
        </p:sp>
        <p:sp>
          <p:nvSpPr>
            <p:cNvPr id="264" name="Google Shape;264;p13"/>
            <p:cNvSpPr txBox="1"/>
            <p:nvPr/>
          </p:nvSpPr>
          <p:spPr>
            <a:xfrm>
              <a:off x="0" y="47625"/>
              <a:ext cx="12902220" cy="2463313"/>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000000"/>
                </a:buClr>
                <a:buSzPts val="5400"/>
                <a:buFont typeface="Arial"/>
                <a:buNone/>
              </a:pPr>
              <a:r>
                <a:rPr b="0" i="0" lang="en-US" sz="5400" u="none" cap="none" strike="noStrike">
                  <a:solidFill>
                    <a:srgbClr val="FFFFFF"/>
                  </a:solidFill>
                  <a:latin typeface="PT Sans"/>
                  <a:ea typeface="PT Sans"/>
                  <a:cs typeface="PT Sans"/>
                  <a:sym typeface="PT Sans"/>
                </a:rPr>
                <a:t>¿Para qué sirve?</a:t>
              </a:r>
              <a:endParaRPr b="0" i="0" sz="1400" u="none" cap="none" strike="noStrike">
                <a:solidFill>
                  <a:srgbClr val="000000"/>
                </a:solidFill>
                <a:latin typeface="Arial"/>
                <a:ea typeface="Arial"/>
                <a:cs typeface="Arial"/>
                <a:sym typeface="Arial"/>
              </a:endParaRPr>
            </a:p>
          </p:txBody>
        </p:sp>
      </p:grpSp>
      <p:sp>
        <p:nvSpPr>
          <p:cNvPr id="265" name="Google Shape;265;p13"/>
          <p:cNvSpPr/>
          <p:nvPr/>
        </p:nvSpPr>
        <p:spPr>
          <a:xfrm>
            <a:off x="-11868" y="1138428"/>
            <a:ext cx="576072" cy="7996428"/>
          </a:xfrm>
          <a:custGeom>
            <a:rect b="b" l="l" r="r" t="t"/>
            <a:pathLst>
              <a:path extrusionOk="0" h="10661904" w="768096">
                <a:moveTo>
                  <a:pt x="0" y="0"/>
                </a:moveTo>
                <a:lnTo>
                  <a:pt x="768096" y="0"/>
                </a:lnTo>
                <a:lnTo>
                  <a:pt x="768096" y="10661904"/>
                </a:lnTo>
                <a:lnTo>
                  <a:pt x="0" y="10661904"/>
                </a:lnTo>
                <a:close/>
              </a:path>
            </a:pathLst>
          </a:custGeom>
          <a:solidFill>
            <a:srgbClr val="C8C8C8">
              <a:alpha val="24706"/>
            </a:srgbClr>
          </a:solidFill>
          <a:ln>
            <a:noFill/>
          </a:ln>
        </p:spPr>
      </p:sp>
      <p:sp>
        <p:nvSpPr>
          <p:cNvPr descr="Parámetro" id="266" name="Google Shape;266;p13"/>
          <p:cNvSpPr/>
          <p:nvPr/>
        </p:nvSpPr>
        <p:spPr>
          <a:xfrm>
            <a:off x="1291156" y="2302702"/>
            <a:ext cx="5667470" cy="5667470"/>
          </a:xfrm>
          <a:custGeom>
            <a:rect b="b" l="l" r="r" t="t"/>
            <a:pathLst>
              <a:path extrusionOk="0" h="7556627" w="7556627">
                <a:moveTo>
                  <a:pt x="0" y="0"/>
                </a:moveTo>
                <a:lnTo>
                  <a:pt x="7556627" y="0"/>
                </a:lnTo>
                <a:lnTo>
                  <a:pt x="7556627" y="7556627"/>
                </a:lnTo>
                <a:lnTo>
                  <a:pt x="0" y="7556627"/>
                </a:lnTo>
                <a:lnTo>
                  <a:pt x="0" y="0"/>
                </a:lnTo>
                <a:close/>
              </a:path>
            </a:pathLst>
          </a:custGeom>
          <a:blipFill rotWithShape="1">
            <a:blip r:embed="rId3">
              <a:alphaModFix/>
            </a:blip>
            <a:stretch>
              <a:fillRect b="0" l="0" r="0" t="0"/>
            </a:stretch>
          </a:blipFill>
          <a:ln>
            <a:noFill/>
          </a:ln>
        </p:spPr>
      </p:sp>
      <p:sp>
        <p:nvSpPr>
          <p:cNvPr id="267" name="Google Shape;267;p13"/>
          <p:cNvSpPr txBox="1"/>
          <p:nvPr/>
        </p:nvSpPr>
        <p:spPr>
          <a:xfrm>
            <a:off x="8268891" y="3849392"/>
            <a:ext cx="9493814" cy="4782379"/>
          </a:xfrm>
          <a:prstGeom prst="rect">
            <a:avLst/>
          </a:prstGeom>
          <a:noFill/>
          <a:ln>
            <a:noFill/>
          </a:ln>
        </p:spPr>
        <p:txBody>
          <a:bodyPr anchorCtr="0" anchor="t" bIns="0" lIns="0" spcFirstLastPara="1" rIns="0" wrap="square" tIns="0">
            <a:spAutoFit/>
          </a:bodyPr>
          <a:lstStyle/>
          <a:p>
            <a:pPr indent="-271462" lvl="1" marL="542925" marR="0" rtl="0" algn="l">
              <a:lnSpc>
                <a:spcPct val="108000"/>
              </a:lnSpc>
              <a:spcBef>
                <a:spcPts val="0"/>
              </a:spcBef>
              <a:spcAft>
                <a:spcPts val="0"/>
              </a:spcAft>
              <a:buClr>
                <a:srgbClr val="FFFFFF"/>
              </a:buClr>
              <a:buSzPts val="3000"/>
              <a:buFont typeface="Arial"/>
              <a:buChar char="•"/>
            </a:pPr>
            <a:r>
              <a:rPr b="0" i="0" lang="en-US" sz="3000" u="none" cap="none" strike="noStrike">
                <a:solidFill>
                  <a:srgbClr val="FFFFFF"/>
                </a:solidFill>
                <a:latin typeface="PT Sans"/>
                <a:ea typeface="PT Sans"/>
                <a:cs typeface="PT Sans"/>
                <a:sym typeface="PT Sans"/>
              </a:rPr>
              <a:t>Almacena información sobre las llamadas a métodos activas.</a:t>
            </a:r>
            <a:endParaRPr b="0" i="0" sz="1400" u="none" cap="none" strike="noStrike">
              <a:solidFill>
                <a:srgbClr val="000000"/>
              </a:solidFill>
              <a:latin typeface="Arial"/>
              <a:ea typeface="Arial"/>
              <a:cs typeface="Arial"/>
              <a:sym typeface="Arial"/>
            </a:endParaRPr>
          </a:p>
          <a:p>
            <a:pPr indent="-271462" lvl="1" marL="542925" marR="0" rtl="0" algn="l">
              <a:lnSpc>
                <a:spcPct val="108000"/>
              </a:lnSpc>
              <a:spcBef>
                <a:spcPts val="0"/>
              </a:spcBef>
              <a:spcAft>
                <a:spcPts val="0"/>
              </a:spcAft>
              <a:buClr>
                <a:srgbClr val="FFFFFF"/>
              </a:buClr>
              <a:buSzPts val="3000"/>
              <a:buFont typeface="Arial"/>
              <a:buChar char="•"/>
            </a:pPr>
            <a:r>
              <a:rPr b="0" i="0" lang="en-US" sz="3000" u="none" cap="none" strike="noStrike">
                <a:solidFill>
                  <a:srgbClr val="FFFFFF"/>
                </a:solidFill>
                <a:latin typeface="PT Sans"/>
                <a:ea typeface="PT Sans"/>
                <a:cs typeface="PT Sans"/>
                <a:sym typeface="PT Sans"/>
              </a:rPr>
              <a:t>Guarda las variables locales y los parámetros de los métodos.</a:t>
            </a:r>
            <a:endParaRPr b="0" i="0" sz="1400" u="none" cap="none" strike="noStrike">
              <a:solidFill>
                <a:srgbClr val="000000"/>
              </a:solidFill>
              <a:latin typeface="Arial"/>
              <a:ea typeface="Arial"/>
              <a:cs typeface="Arial"/>
              <a:sym typeface="Arial"/>
            </a:endParaRPr>
          </a:p>
          <a:p>
            <a:pPr indent="-271462" lvl="1" marL="542925" marR="0" rtl="0" algn="l">
              <a:lnSpc>
                <a:spcPct val="108000"/>
              </a:lnSpc>
              <a:spcBef>
                <a:spcPts val="0"/>
              </a:spcBef>
              <a:spcAft>
                <a:spcPts val="0"/>
              </a:spcAft>
              <a:buClr>
                <a:srgbClr val="FFFFFF"/>
              </a:buClr>
              <a:buSzPts val="3000"/>
              <a:buFont typeface="Arial"/>
              <a:buChar char="•"/>
            </a:pPr>
            <a:r>
              <a:rPr b="0" i="0" lang="en-US" sz="3000" u="none" cap="none" strike="noStrike">
                <a:solidFill>
                  <a:srgbClr val="FFFFFF"/>
                </a:solidFill>
                <a:latin typeface="PT Sans"/>
                <a:ea typeface="PT Sans"/>
                <a:cs typeface="PT Sans"/>
                <a:sym typeface="PT Sans"/>
              </a:rPr>
              <a:t>Ayuda a mantener el control del flujo de ejecución del programa.</a:t>
            </a:r>
            <a:endParaRPr b="0" i="0" sz="1400" u="none" cap="none" strike="noStrike">
              <a:solidFill>
                <a:srgbClr val="000000"/>
              </a:solidFill>
              <a:latin typeface="Arial"/>
              <a:ea typeface="Arial"/>
              <a:cs typeface="Arial"/>
              <a:sym typeface="Arial"/>
            </a:endParaRPr>
          </a:p>
          <a:p>
            <a:pPr indent="-271462" lvl="1" marL="542925" marR="0" rtl="0" algn="l">
              <a:lnSpc>
                <a:spcPct val="108000"/>
              </a:lnSpc>
              <a:spcBef>
                <a:spcPts val="0"/>
              </a:spcBef>
              <a:spcAft>
                <a:spcPts val="0"/>
              </a:spcAft>
              <a:buClr>
                <a:srgbClr val="FFFFFF"/>
              </a:buClr>
              <a:buSzPts val="3000"/>
              <a:buFont typeface="Arial"/>
              <a:buChar char="•"/>
            </a:pPr>
            <a:r>
              <a:rPr b="0" i="0" lang="en-US" sz="3000" u="none" cap="none" strike="noStrike">
                <a:solidFill>
                  <a:srgbClr val="FFFFFF"/>
                </a:solidFill>
                <a:latin typeface="PT Sans"/>
                <a:ea typeface="PT Sans"/>
                <a:cs typeface="PT Sans"/>
                <a:sym typeface="PT Sans"/>
              </a:rPr>
              <a:t>Permite manejar excepciones y retornar valores correctamente.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14"/>
          <p:cNvSpPr/>
          <p:nvPr/>
        </p:nvSpPr>
        <p:spPr>
          <a:xfrm>
            <a:off x="1" y="1138428"/>
            <a:ext cx="5165408" cy="7996428"/>
          </a:xfrm>
          <a:custGeom>
            <a:rect b="b" l="l" r="r" t="t"/>
            <a:pathLst>
              <a:path extrusionOk="0" h="10661904" w="6887210">
                <a:moveTo>
                  <a:pt x="0" y="0"/>
                </a:moveTo>
                <a:lnTo>
                  <a:pt x="6887210" y="0"/>
                </a:lnTo>
                <a:lnTo>
                  <a:pt x="6887210" y="10661904"/>
                </a:lnTo>
                <a:lnTo>
                  <a:pt x="0" y="10661904"/>
                </a:lnTo>
                <a:close/>
              </a:path>
            </a:pathLst>
          </a:custGeom>
          <a:solidFill>
            <a:srgbClr val="40BAD2"/>
          </a:solidFill>
          <a:ln>
            <a:noFill/>
          </a:ln>
        </p:spPr>
      </p:sp>
      <p:sp>
        <p:nvSpPr>
          <p:cNvPr id="273" name="Google Shape;273;p14"/>
          <p:cNvSpPr/>
          <p:nvPr/>
        </p:nvSpPr>
        <p:spPr>
          <a:xfrm>
            <a:off x="17723796" y="1138428"/>
            <a:ext cx="576072" cy="7996428"/>
          </a:xfrm>
          <a:custGeom>
            <a:rect b="b" l="l" r="r" t="t"/>
            <a:pathLst>
              <a:path extrusionOk="0" h="10661904" w="768096">
                <a:moveTo>
                  <a:pt x="0" y="0"/>
                </a:moveTo>
                <a:lnTo>
                  <a:pt x="768096" y="0"/>
                </a:lnTo>
                <a:lnTo>
                  <a:pt x="768096" y="10661904"/>
                </a:lnTo>
                <a:lnTo>
                  <a:pt x="0" y="10661904"/>
                </a:lnTo>
                <a:close/>
              </a:path>
            </a:pathLst>
          </a:custGeom>
          <a:solidFill>
            <a:srgbClr val="C8C8C8">
              <a:alpha val="24706"/>
            </a:srgbClr>
          </a:solidFill>
          <a:ln>
            <a:noFill/>
          </a:ln>
        </p:spPr>
      </p:sp>
      <p:grpSp>
        <p:nvGrpSpPr>
          <p:cNvPr id="274" name="Google Shape;274;p14"/>
          <p:cNvGrpSpPr/>
          <p:nvPr/>
        </p:nvGrpSpPr>
        <p:grpSpPr>
          <a:xfrm>
            <a:off x="379379" y="1685756"/>
            <a:ext cx="4421223" cy="6901775"/>
            <a:chOff x="0" y="0"/>
            <a:chExt cx="5894964" cy="9202366"/>
          </a:xfrm>
        </p:grpSpPr>
        <p:sp>
          <p:nvSpPr>
            <p:cNvPr id="275" name="Google Shape;275;p14"/>
            <p:cNvSpPr/>
            <p:nvPr/>
          </p:nvSpPr>
          <p:spPr>
            <a:xfrm>
              <a:off x="0" y="0"/>
              <a:ext cx="5894964" cy="9202366"/>
            </a:xfrm>
            <a:custGeom>
              <a:rect b="b" l="l" r="r" t="t"/>
              <a:pathLst>
                <a:path extrusionOk="0" h="9202366" w="5894964">
                  <a:moveTo>
                    <a:pt x="0" y="0"/>
                  </a:moveTo>
                  <a:lnTo>
                    <a:pt x="5894964" y="0"/>
                  </a:lnTo>
                  <a:lnTo>
                    <a:pt x="5894964" y="9202366"/>
                  </a:lnTo>
                  <a:lnTo>
                    <a:pt x="0" y="9202366"/>
                  </a:lnTo>
                  <a:close/>
                </a:path>
              </a:pathLst>
            </a:custGeom>
            <a:solidFill>
              <a:srgbClr val="000000">
                <a:alpha val="0"/>
              </a:srgbClr>
            </a:solidFill>
            <a:ln>
              <a:noFill/>
            </a:ln>
          </p:spPr>
        </p:sp>
        <p:sp>
          <p:nvSpPr>
            <p:cNvPr id="276" name="Google Shape;276;p14"/>
            <p:cNvSpPr txBox="1"/>
            <p:nvPr/>
          </p:nvSpPr>
          <p:spPr>
            <a:xfrm>
              <a:off x="0" y="47625"/>
              <a:ext cx="5894964" cy="9154741"/>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000000"/>
                </a:buClr>
                <a:buSzPts val="5400"/>
                <a:buFont typeface="Arial"/>
                <a:buNone/>
              </a:pPr>
              <a:r>
                <a:rPr b="0" i="0" lang="en-US" sz="5400" u="none" cap="none" strike="noStrike">
                  <a:solidFill>
                    <a:srgbClr val="FFFFFF"/>
                  </a:solidFill>
                  <a:latin typeface="PT Sans"/>
                  <a:ea typeface="PT Sans"/>
                  <a:cs typeface="PT Sans"/>
                  <a:sym typeface="PT Sans"/>
                </a:rPr>
                <a:t>Funciones</a:t>
              </a:r>
              <a:endParaRPr b="0" i="0" sz="1400" u="none" cap="none" strike="noStrike">
                <a:solidFill>
                  <a:srgbClr val="000000"/>
                </a:solidFill>
                <a:latin typeface="Arial"/>
                <a:ea typeface="Arial"/>
                <a:cs typeface="Arial"/>
                <a:sym typeface="Arial"/>
              </a:endParaRPr>
            </a:p>
          </p:txBody>
        </p:sp>
      </p:grpSp>
      <p:sp>
        <p:nvSpPr>
          <p:cNvPr id="277" name="Google Shape;277;p14"/>
          <p:cNvSpPr/>
          <p:nvPr/>
        </p:nvSpPr>
        <p:spPr>
          <a:xfrm>
            <a:off x="5639844" y="2568223"/>
            <a:ext cx="11592401" cy="2289334"/>
          </a:xfrm>
          <a:custGeom>
            <a:rect b="b" l="l" r="r" t="t"/>
            <a:pathLst>
              <a:path extrusionOk="0" h="3052445" w="15456536">
                <a:moveTo>
                  <a:pt x="0" y="305181"/>
                </a:moveTo>
                <a:cubicBezTo>
                  <a:pt x="0" y="136652"/>
                  <a:pt x="136652" y="0"/>
                  <a:pt x="305181" y="0"/>
                </a:cubicBezTo>
                <a:lnTo>
                  <a:pt x="15151354" y="0"/>
                </a:lnTo>
                <a:cubicBezTo>
                  <a:pt x="15319883" y="0"/>
                  <a:pt x="15456536" y="136652"/>
                  <a:pt x="15456536" y="305181"/>
                </a:cubicBezTo>
                <a:lnTo>
                  <a:pt x="15456536" y="2747137"/>
                </a:lnTo>
                <a:cubicBezTo>
                  <a:pt x="15456536" y="2915666"/>
                  <a:pt x="15319883" y="3052318"/>
                  <a:pt x="15151354" y="3052318"/>
                </a:cubicBezTo>
                <a:lnTo>
                  <a:pt x="305181" y="3052318"/>
                </a:lnTo>
                <a:cubicBezTo>
                  <a:pt x="136652" y="3052445"/>
                  <a:pt x="0" y="2915793"/>
                  <a:pt x="0" y="2747137"/>
                </a:cubicBezTo>
                <a:close/>
              </a:path>
            </a:pathLst>
          </a:cu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 name="Google Shape;278;p14"/>
          <p:cNvSpPr/>
          <p:nvPr/>
        </p:nvSpPr>
        <p:spPr>
          <a:xfrm>
            <a:off x="6332355" y="3083314"/>
            <a:ext cx="1259110" cy="1259110"/>
          </a:xfrm>
          <a:custGeom>
            <a:rect b="b" l="l" r="r" t="t"/>
            <a:pathLst>
              <a:path extrusionOk="0" h="1678813" w="1678813">
                <a:moveTo>
                  <a:pt x="0" y="0"/>
                </a:moveTo>
                <a:lnTo>
                  <a:pt x="1678813" y="0"/>
                </a:lnTo>
                <a:lnTo>
                  <a:pt x="1678813" y="1678813"/>
                </a:lnTo>
                <a:lnTo>
                  <a:pt x="0" y="1678813"/>
                </a:lnTo>
                <a:close/>
              </a:path>
            </a:pathLst>
          </a:custGeom>
          <a:blipFill rotWithShape="1">
            <a:blip r:embed="rId3">
              <a:alphaModFix/>
            </a:blip>
            <a:stretch>
              <a:fillRect b="0" l="0" r="0" t="0"/>
            </a:stretch>
          </a:blipFill>
          <a:ln>
            <a:noFill/>
          </a:ln>
        </p:spPr>
      </p:sp>
      <p:grpSp>
        <p:nvGrpSpPr>
          <p:cNvPr id="279" name="Google Shape;279;p14"/>
          <p:cNvGrpSpPr/>
          <p:nvPr/>
        </p:nvGrpSpPr>
        <p:grpSpPr>
          <a:xfrm>
            <a:off x="8283980" y="2568223"/>
            <a:ext cx="5216580" cy="2289296"/>
            <a:chOff x="0" y="0"/>
            <a:chExt cx="6955440" cy="3052394"/>
          </a:xfrm>
        </p:grpSpPr>
        <p:sp>
          <p:nvSpPr>
            <p:cNvPr id="280" name="Google Shape;280;p14"/>
            <p:cNvSpPr/>
            <p:nvPr/>
          </p:nvSpPr>
          <p:spPr>
            <a:xfrm>
              <a:off x="0" y="0"/>
              <a:ext cx="6955440" cy="3052394"/>
            </a:xfrm>
            <a:custGeom>
              <a:rect b="b" l="l" r="r" t="t"/>
              <a:pathLst>
                <a:path extrusionOk="0" h="3052394" w="6955440">
                  <a:moveTo>
                    <a:pt x="0" y="0"/>
                  </a:moveTo>
                  <a:lnTo>
                    <a:pt x="6955440" y="0"/>
                  </a:lnTo>
                  <a:lnTo>
                    <a:pt x="6955440" y="3052394"/>
                  </a:lnTo>
                  <a:lnTo>
                    <a:pt x="0" y="3052394"/>
                  </a:lnTo>
                  <a:close/>
                </a:path>
              </a:pathLst>
            </a:custGeom>
            <a:solidFill>
              <a:srgbClr val="000000">
                <a:alpha val="0"/>
              </a:srgbClr>
            </a:solidFill>
            <a:ln>
              <a:noFill/>
            </a:ln>
          </p:spPr>
        </p:sp>
        <p:sp>
          <p:nvSpPr>
            <p:cNvPr id="281" name="Google Shape;281;p14"/>
            <p:cNvSpPr txBox="1"/>
            <p:nvPr/>
          </p:nvSpPr>
          <p:spPr>
            <a:xfrm>
              <a:off x="0" y="38100"/>
              <a:ext cx="6955440" cy="3014294"/>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000000"/>
                </a:buClr>
                <a:buSzPts val="3000"/>
                <a:buFont typeface="Arial"/>
                <a:buNone/>
              </a:pPr>
              <a:r>
                <a:rPr b="0" i="0" lang="en-US" sz="3000" u="none" cap="none" strike="noStrike">
                  <a:solidFill>
                    <a:srgbClr val="000000"/>
                  </a:solidFill>
                  <a:latin typeface="PT Sans"/>
                  <a:ea typeface="PT Sans"/>
                  <a:cs typeface="PT Sans"/>
                  <a:sym typeface="PT Sans"/>
                </a:rPr>
                <a:t>Almacenamiento de marcos de pila: Cada vez que se llama a un método, se crea un "marco de pila" que contiene:</a:t>
              </a:r>
              <a:endParaRPr b="0" i="0" sz="1400" u="none" cap="none" strike="noStrike">
                <a:solidFill>
                  <a:srgbClr val="000000"/>
                </a:solidFill>
                <a:latin typeface="Arial"/>
                <a:ea typeface="Arial"/>
                <a:cs typeface="Arial"/>
                <a:sym typeface="Arial"/>
              </a:endParaRPr>
            </a:p>
          </p:txBody>
        </p:sp>
      </p:grpSp>
      <p:grpSp>
        <p:nvGrpSpPr>
          <p:cNvPr id="282" name="Google Shape;282;p14"/>
          <p:cNvGrpSpPr/>
          <p:nvPr/>
        </p:nvGrpSpPr>
        <p:grpSpPr>
          <a:xfrm>
            <a:off x="13500560" y="2568223"/>
            <a:ext cx="3731683" cy="2289296"/>
            <a:chOff x="0" y="0"/>
            <a:chExt cx="4975578" cy="3052394"/>
          </a:xfrm>
        </p:grpSpPr>
        <p:sp>
          <p:nvSpPr>
            <p:cNvPr id="283" name="Google Shape;283;p14"/>
            <p:cNvSpPr/>
            <p:nvPr/>
          </p:nvSpPr>
          <p:spPr>
            <a:xfrm>
              <a:off x="0" y="0"/>
              <a:ext cx="4975578" cy="3052394"/>
            </a:xfrm>
            <a:custGeom>
              <a:rect b="b" l="l" r="r" t="t"/>
              <a:pathLst>
                <a:path extrusionOk="0" h="3052394" w="4975578">
                  <a:moveTo>
                    <a:pt x="0" y="0"/>
                  </a:moveTo>
                  <a:lnTo>
                    <a:pt x="4975578" y="0"/>
                  </a:lnTo>
                  <a:lnTo>
                    <a:pt x="4975578" y="3052394"/>
                  </a:lnTo>
                  <a:lnTo>
                    <a:pt x="0" y="3052394"/>
                  </a:lnTo>
                  <a:close/>
                </a:path>
              </a:pathLst>
            </a:custGeom>
            <a:solidFill>
              <a:srgbClr val="000000">
                <a:alpha val="0"/>
              </a:srgbClr>
            </a:solidFill>
            <a:ln>
              <a:noFill/>
            </a:ln>
          </p:spPr>
        </p:sp>
        <p:sp>
          <p:nvSpPr>
            <p:cNvPr id="284" name="Google Shape;284;p14"/>
            <p:cNvSpPr txBox="1"/>
            <p:nvPr/>
          </p:nvSpPr>
          <p:spPr>
            <a:xfrm>
              <a:off x="0" y="19050"/>
              <a:ext cx="4975578" cy="3033344"/>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000000"/>
                </a:buClr>
                <a:buSzPts val="1950"/>
                <a:buFont typeface="Arial"/>
                <a:buNone/>
              </a:pPr>
              <a:r>
                <a:rPr b="0" i="0" lang="en-US" sz="1950" u="none" cap="none" strike="noStrike">
                  <a:solidFill>
                    <a:srgbClr val="000000"/>
                  </a:solidFill>
                  <a:latin typeface="PT Sans"/>
                  <a:ea typeface="PT Sans"/>
                  <a:cs typeface="PT Sans"/>
                  <a:sym typeface="PT Sans"/>
                </a:rPr>
                <a:t>Los parámetros del método.</a:t>
              </a:r>
              <a:endParaRPr b="0" i="0" sz="1400" u="none" cap="none" strike="noStrike">
                <a:solidFill>
                  <a:srgbClr val="000000"/>
                </a:solidFill>
                <a:latin typeface="Arial"/>
                <a:ea typeface="Arial"/>
                <a:cs typeface="Arial"/>
                <a:sym typeface="Arial"/>
              </a:endParaRPr>
            </a:p>
            <a:p>
              <a:pPr indent="0" lvl="0" marL="0" marR="0" rtl="0" algn="l">
                <a:lnSpc>
                  <a:spcPct val="108000"/>
                </a:lnSpc>
                <a:spcBef>
                  <a:spcPts val="0"/>
                </a:spcBef>
                <a:spcAft>
                  <a:spcPts val="0"/>
                </a:spcAft>
                <a:buClr>
                  <a:srgbClr val="000000"/>
                </a:buClr>
                <a:buSzPts val="1950"/>
                <a:buFont typeface="Arial"/>
                <a:buNone/>
              </a:pPr>
              <a:r>
                <a:rPr b="0" i="0" lang="en-US" sz="1950" u="none" cap="none" strike="noStrike">
                  <a:solidFill>
                    <a:srgbClr val="000000"/>
                  </a:solidFill>
                  <a:latin typeface="PT Sans"/>
                  <a:ea typeface="PT Sans"/>
                  <a:cs typeface="PT Sans"/>
                  <a:sym typeface="PT Sans"/>
                </a:rPr>
                <a:t>Las variables locales.</a:t>
              </a:r>
              <a:endParaRPr b="0" i="0" sz="1400" u="none" cap="none" strike="noStrike">
                <a:solidFill>
                  <a:srgbClr val="000000"/>
                </a:solidFill>
                <a:latin typeface="Arial"/>
                <a:ea typeface="Arial"/>
                <a:cs typeface="Arial"/>
                <a:sym typeface="Arial"/>
              </a:endParaRPr>
            </a:p>
            <a:p>
              <a:pPr indent="0" lvl="0" marL="0" marR="0" rtl="0" algn="l">
                <a:lnSpc>
                  <a:spcPct val="108000"/>
                </a:lnSpc>
                <a:spcBef>
                  <a:spcPts val="0"/>
                </a:spcBef>
                <a:spcAft>
                  <a:spcPts val="0"/>
                </a:spcAft>
                <a:buClr>
                  <a:srgbClr val="000000"/>
                </a:buClr>
                <a:buSzPts val="1950"/>
                <a:buFont typeface="Arial"/>
                <a:buNone/>
              </a:pPr>
              <a:r>
                <a:rPr b="0" i="0" lang="en-US" sz="1950" u="none" cap="none" strike="noStrike">
                  <a:solidFill>
                    <a:srgbClr val="000000"/>
                  </a:solidFill>
                  <a:latin typeface="PT Sans"/>
                  <a:ea typeface="PT Sans"/>
                  <a:cs typeface="PT Sans"/>
                  <a:sym typeface="PT Sans"/>
                </a:rPr>
                <a:t>La dirección de retorno (para saber dónde continuar después de que el método termine).</a:t>
              </a:r>
              <a:endParaRPr b="0" i="0" sz="1400" u="none" cap="none" strike="noStrike">
                <a:solidFill>
                  <a:srgbClr val="000000"/>
                </a:solidFill>
                <a:latin typeface="Arial"/>
                <a:ea typeface="Arial"/>
                <a:cs typeface="Arial"/>
                <a:sym typeface="Arial"/>
              </a:endParaRPr>
            </a:p>
          </p:txBody>
        </p:sp>
      </p:grpSp>
      <p:sp>
        <p:nvSpPr>
          <p:cNvPr id="285" name="Google Shape;285;p14"/>
          <p:cNvSpPr/>
          <p:nvPr/>
        </p:nvSpPr>
        <p:spPr>
          <a:xfrm>
            <a:off x="5639844" y="5429842"/>
            <a:ext cx="11592401" cy="2289334"/>
          </a:xfrm>
          <a:custGeom>
            <a:rect b="b" l="l" r="r" t="t"/>
            <a:pathLst>
              <a:path extrusionOk="0" h="3052445" w="15456536">
                <a:moveTo>
                  <a:pt x="0" y="305181"/>
                </a:moveTo>
                <a:cubicBezTo>
                  <a:pt x="0" y="136652"/>
                  <a:pt x="136652" y="0"/>
                  <a:pt x="305181" y="0"/>
                </a:cubicBezTo>
                <a:lnTo>
                  <a:pt x="15151354" y="0"/>
                </a:lnTo>
                <a:cubicBezTo>
                  <a:pt x="15319883" y="0"/>
                  <a:pt x="15456536" y="136652"/>
                  <a:pt x="15456536" y="305181"/>
                </a:cubicBezTo>
                <a:lnTo>
                  <a:pt x="15456536" y="2747137"/>
                </a:lnTo>
                <a:cubicBezTo>
                  <a:pt x="15456536" y="2915666"/>
                  <a:pt x="15319883" y="3052318"/>
                  <a:pt x="15151354" y="3052318"/>
                </a:cubicBezTo>
                <a:lnTo>
                  <a:pt x="305181" y="3052318"/>
                </a:lnTo>
                <a:cubicBezTo>
                  <a:pt x="136652" y="3052445"/>
                  <a:pt x="0" y="2915793"/>
                  <a:pt x="0" y="2747137"/>
                </a:cubicBezTo>
                <a:close/>
              </a:path>
            </a:pathLst>
          </a:cu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p14"/>
          <p:cNvSpPr/>
          <p:nvPr/>
        </p:nvSpPr>
        <p:spPr>
          <a:xfrm>
            <a:off x="6332355" y="5944935"/>
            <a:ext cx="1259110" cy="1259110"/>
          </a:xfrm>
          <a:custGeom>
            <a:rect b="b" l="l" r="r" t="t"/>
            <a:pathLst>
              <a:path extrusionOk="0" h="1678813" w="1678813">
                <a:moveTo>
                  <a:pt x="0" y="0"/>
                </a:moveTo>
                <a:lnTo>
                  <a:pt x="1678813" y="0"/>
                </a:lnTo>
                <a:lnTo>
                  <a:pt x="1678813" y="1678813"/>
                </a:lnTo>
                <a:lnTo>
                  <a:pt x="0" y="1678813"/>
                </a:lnTo>
                <a:close/>
              </a:path>
            </a:pathLst>
          </a:custGeom>
          <a:blipFill rotWithShape="1">
            <a:blip r:embed="rId4">
              <a:alphaModFix/>
            </a:blip>
            <a:stretch>
              <a:fillRect b="0" l="0" r="0" t="0"/>
            </a:stretch>
          </a:blipFill>
          <a:ln>
            <a:noFill/>
          </a:ln>
        </p:spPr>
      </p:sp>
      <p:grpSp>
        <p:nvGrpSpPr>
          <p:cNvPr id="287" name="Google Shape;287;p14"/>
          <p:cNvGrpSpPr/>
          <p:nvPr/>
        </p:nvGrpSpPr>
        <p:grpSpPr>
          <a:xfrm>
            <a:off x="8283980" y="5429842"/>
            <a:ext cx="8948264" cy="2289296"/>
            <a:chOff x="0" y="0"/>
            <a:chExt cx="11931018" cy="3052394"/>
          </a:xfrm>
        </p:grpSpPr>
        <p:sp>
          <p:nvSpPr>
            <p:cNvPr id="288" name="Google Shape;288;p14"/>
            <p:cNvSpPr/>
            <p:nvPr/>
          </p:nvSpPr>
          <p:spPr>
            <a:xfrm>
              <a:off x="0" y="0"/>
              <a:ext cx="11931018" cy="3052394"/>
            </a:xfrm>
            <a:custGeom>
              <a:rect b="b" l="l" r="r" t="t"/>
              <a:pathLst>
                <a:path extrusionOk="0" h="3052394" w="11931018">
                  <a:moveTo>
                    <a:pt x="0" y="0"/>
                  </a:moveTo>
                  <a:lnTo>
                    <a:pt x="11931018" y="0"/>
                  </a:lnTo>
                  <a:lnTo>
                    <a:pt x="11931018" y="3052394"/>
                  </a:lnTo>
                  <a:lnTo>
                    <a:pt x="0" y="3052394"/>
                  </a:lnTo>
                  <a:close/>
                </a:path>
              </a:pathLst>
            </a:custGeom>
            <a:solidFill>
              <a:srgbClr val="000000">
                <a:alpha val="0"/>
              </a:srgbClr>
            </a:solidFill>
            <a:ln>
              <a:noFill/>
            </a:ln>
          </p:spPr>
        </p:sp>
        <p:sp>
          <p:nvSpPr>
            <p:cNvPr id="289" name="Google Shape;289;p14"/>
            <p:cNvSpPr txBox="1"/>
            <p:nvPr/>
          </p:nvSpPr>
          <p:spPr>
            <a:xfrm>
              <a:off x="0" y="38100"/>
              <a:ext cx="11931018" cy="3014294"/>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000000"/>
                </a:buClr>
                <a:buSzPts val="3000"/>
                <a:buFont typeface="Arial"/>
                <a:buNone/>
              </a:pPr>
              <a:r>
                <a:rPr b="0" i="0" lang="en-US" sz="3000" u="none" cap="none" strike="noStrike">
                  <a:solidFill>
                    <a:srgbClr val="000000"/>
                  </a:solidFill>
                  <a:latin typeface="PT Sans"/>
                  <a:ea typeface="PT Sans"/>
                  <a:cs typeface="PT Sans"/>
                  <a:sym typeface="PT Sans"/>
                </a:rPr>
                <a:t>Gestión de memoria: La pila es más rápida que el heap porque tiene un tamaño fijo y está optimizada para acceso rápido.</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15"/>
          <p:cNvSpPr/>
          <p:nvPr/>
        </p:nvSpPr>
        <p:spPr>
          <a:xfrm>
            <a:off x="1" y="1138428"/>
            <a:ext cx="5165408" cy="7996428"/>
          </a:xfrm>
          <a:custGeom>
            <a:rect b="b" l="l" r="r" t="t"/>
            <a:pathLst>
              <a:path extrusionOk="0" h="10661904" w="6887210">
                <a:moveTo>
                  <a:pt x="0" y="0"/>
                </a:moveTo>
                <a:lnTo>
                  <a:pt x="6887210" y="0"/>
                </a:lnTo>
                <a:lnTo>
                  <a:pt x="6887210" y="10661904"/>
                </a:lnTo>
                <a:lnTo>
                  <a:pt x="0" y="10661904"/>
                </a:lnTo>
                <a:close/>
              </a:path>
            </a:pathLst>
          </a:custGeom>
          <a:solidFill>
            <a:srgbClr val="40BAD2"/>
          </a:solidFill>
          <a:ln>
            <a:noFill/>
          </a:ln>
        </p:spPr>
      </p:sp>
      <p:sp>
        <p:nvSpPr>
          <p:cNvPr id="295" name="Google Shape;295;p15"/>
          <p:cNvSpPr/>
          <p:nvPr/>
        </p:nvSpPr>
        <p:spPr>
          <a:xfrm>
            <a:off x="17723796" y="1138428"/>
            <a:ext cx="576072" cy="7996428"/>
          </a:xfrm>
          <a:custGeom>
            <a:rect b="b" l="l" r="r" t="t"/>
            <a:pathLst>
              <a:path extrusionOk="0" h="10661904" w="768096">
                <a:moveTo>
                  <a:pt x="0" y="0"/>
                </a:moveTo>
                <a:lnTo>
                  <a:pt x="768096" y="0"/>
                </a:lnTo>
                <a:lnTo>
                  <a:pt x="768096" y="10661904"/>
                </a:lnTo>
                <a:lnTo>
                  <a:pt x="0" y="10661904"/>
                </a:lnTo>
                <a:close/>
              </a:path>
            </a:pathLst>
          </a:custGeom>
          <a:solidFill>
            <a:srgbClr val="C8C8C8">
              <a:alpha val="24706"/>
            </a:srgbClr>
          </a:solidFill>
          <a:ln>
            <a:noFill/>
          </a:ln>
        </p:spPr>
      </p:sp>
      <p:grpSp>
        <p:nvGrpSpPr>
          <p:cNvPr id="296" name="Google Shape;296;p15"/>
          <p:cNvGrpSpPr/>
          <p:nvPr/>
        </p:nvGrpSpPr>
        <p:grpSpPr>
          <a:xfrm>
            <a:off x="379379" y="1685756"/>
            <a:ext cx="4421223" cy="6901775"/>
            <a:chOff x="0" y="0"/>
            <a:chExt cx="5894964" cy="9202366"/>
          </a:xfrm>
        </p:grpSpPr>
        <p:sp>
          <p:nvSpPr>
            <p:cNvPr id="297" name="Google Shape;297;p15"/>
            <p:cNvSpPr/>
            <p:nvPr/>
          </p:nvSpPr>
          <p:spPr>
            <a:xfrm>
              <a:off x="0" y="0"/>
              <a:ext cx="5894964" cy="9202366"/>
            </a:xfrm>
            <a:custGeom>
              <a:rect b="b" l="l" r="r" t="t"/>
              <a:pathLst>
                <a:path extrusionOk="0" h="9202366" w="5894964">
                  <a:moveTo>
                    <a:pt x="0" y="0"/>
                  </a:moveTo>
                  <a:lnTo>
                    <a:pt x="5894964" y="0"/>
                  </a:lnTo>
                  <a:lnTo>
                    <a:pt x="5894964" y="9202366"/>
                  </a:lnTo>
                  <a:lnTo>
                    <a:pt x="0" y="9202366"/>
                  </a:lnTo>
                  <a:close/>
                </a:path>
              </a:pathLst>
            </a:custGeom>
            <a:solidFill>
              <a:srgbClr val="000000">
                <a:alpha val="0"/>
              </a:srgbClr>
            </a:solidFill>
            <a:ln>
              <a:noFill/>
            </a:ln>
          </p:spPr>
        </p:sp>
        <p:sp>
          <p:nvSpPr>
            <p:cNvPr id="298" name="Google Shape;298;p15"/>
            <p:cNvSpPr txBox="1"/>
            <p:nvPr/>
          </p:nvSpPr>
          <p:spPr>
            <a:xfrm>
              <a:off x="0" y="47625"/>
              <a:ext cx="5894964" cy="9154741"/>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000000"/>
                </a:buClr>
                <a:buSzPts val="5400"/>
                <a:buFont typeface="Arial"/>
                <a:buNone/>
              </a:pPr>
              <a:r>
                <a:rPr b="0" i="0" lang="en-US" sz="5400" u="none" cap="none" strike="noStrike">
                  <a:solidFill>
                    <a:srgbClr val="FFFFFF"/>
                  </a:solidFill>
                  <a:latin typeface="PT Sans"/>
                  <a:ea typeface="PT Sans"/>
                  <a:cs typeface="PT Sans"/>
                  <a:sym typeface="PT Sans"/>
                </a:rPr>
                <a:t>Cómo funciona</a:t>
              </a:r>
              <a:endParaRPr b="0" i="0" sz="1400" u="none" cap="none" strike="noStrike">
                <a:solidFill>
                  <a:srgbClr val="000000"/>
                </a:solidFill>
                <a:latin typeface="Arial"/>
                <a:ea typeface="Arial"/>
                <a:cs typeface="Arial"/>
                <a:sym typeface="Arial"/>
              </a:endParaRPr>
            </a:p>
          </p:txBody>
        </p:sp>
      </p:grpSp>
      <p:sp>
        <p:nvSpPr>
          <p:cNvPr id="299" name="Google Shape;299;p15"/>
          <p:cNvSpPr/>
          <p:nvPr/>
        </p:nvSpPr>
        <p:spPr>
          <a:xfrm>
            <a:off x="5639844" y="1331355"/>
            <a:ext cx="11592400" cy="1605153"/>
          </a:xfrm>
          <a:custGeom>
            <a:rect b="b" l="l" r="r" t="t"/>
            <a:pathLst>
              <a:path extrusionOk="0" h="2140204" w="15456534">
                <a:moveTo>
                  <a:pt x="0" y="213995"/>
                </a:moveTo>
                <a:cubicBezTo>
                  <a:pt x="0" y="95885"/>
                  <a:pt x="95885" y="0"/>
                  <a:pt x="213995" y="0"/>
                </a:cubicBezTo>
                <a:lnTo>
                  <a:pt x="15242539" y="0"/>
                </a:lnTo>
                <a:cubicBezTo>
                  <a:pt x="15360777" y="0"/>
                  <a:pt x="15456534" y="95885"/>
                  <a:pt x="15456534" y="213995"/>
                </a:cubicBezTo>
                <a:lnTo>
                  <a:pt x="15456534" y="1926209"/>
                </a:lnTo>
                <a:cubicBezTo>
                  <a:pt x="15456534" y="2044446"/>
                  <a:pt x="15360650" y="2140204"/>
                  <a:pt x="15242539" y="2140204"/>
                </a:cubicBezTo>
                <a:lnTo>
                  <a:pt x="213995" y="2140204"/>
                </a:lnTo>
                <a:cubicBezTo>
                  <a:pt x="95885" y="2140204"/>
                  <a:pt x="0" y="2044446"/>
                  <a:pt x="0" y="1926209"/>
                </a:cubicBezTo>
                <a:close/>
              </a:path>
            </a:pathLst>
          </a:cu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 name="Google Shape;300;p15"/>
          <p:cNvSpPr/>
          <p:nvPr/>
        </p:nvSpPr>
        <p:spPr>
          <a:xfrm>
            <a:off x="6125414" y="1692522"/>
            <a:ext cx="882873" cy="882872"/>
          </a:xfrm>
          <a:custGeom>
            <a:rect b="b" l="l" r="r" t="t"/>
            <a:pathLst>
              <a:path extrusionOk="0" h="1177163" w="1177163">
                <a:moveTo>
                  <a:pt x="0" y="0"/>
                </a:moveTo>
                <a:lnTo>
                  <a:pt x="1177163" y="0"/>
                </a:lnTo>
                <a:lnTo>
                  <a:pt x="1177163" y="1177163"/>
                </a:lnTo>
                <a:lnTo>
                  <a:pt x="0" y="1177163"/>
                </a:lnTo>
                <a:close/>
              </a:path>
            </a:pathLst>
          </a:custGeom>
          <a:blipFill rotWithShape="1">
            <a:blip r:embed="rId3">
              <a:alphaModFix/>
            </a:blip>
            <a:stretch>
              <a:fillRect b="2" l="0" r="2" t="0"/>
            </a:stretch>
          </a:blipFill>
          <a:ln>
            <a:noFill/>
          </a:ln>
        </p:spPr>
      </p:sp>
      <p:grpSp>
        <p:nvGrpSpPr>
          <p:cNvPr id="301" name="Google Shape;301;p15"/>
          <p:cNvGrpSpPr/>
          <p:nvPr/>
        </p:nvGrpSpPr>
        <p:grpSpPr>
          <a:xfrm>
            <a:off x="7493838" y="1331355"/>
            <a:ext cx="9738405" cy="1605189"/>
            <a:chOff x="0" y="0"/>
            <a:chExt cx="12984540" cy="2140252"/>
          </a:xfrm>
        </p:grpSpPr>
        <p:sp>
          <p:nvSpPr>
            <p:cNvPr id="302" name="Google Shape;302;p15"/>
            <p:cNvSpPr/>
            <p:nvPr/>
          </p:nvSpPr>
          <p:spPr>
            <a:xfrm>
              <a:off x="0" y="0"/>
              <a:ext cx="12984540" cy="2140252"/>
            </a:xfrm>
            <a:custGeom>
              <a:rect b="b" l="l" r="r" t="t"/>
              <a:pathLst>
                <a:path extrusionOk="0" h="2140252" w="12984540">
                  <a:moveTo>
                    <a:pt x="0" y="0"/>
                  </a:moveTo>
                  <a:lnTo>
                    <a:pt x="12984540" y="0"/>
                  </a:lnTo>
                  <a:lnTo>
                    <a:pt x="12984540" y="2140252"/>
                  </a:lnTo>
                  <a:lnTo>
                    <a:pt x="0" y="2140252"/>
                  </a:lnTo>
                  <a:close/>
                </a:path>
              </a:pathLst>
            </a:custGeom>
            <a:solidFill>
              <a:srgbClr val="000000">
                <a:alpha val="0"/>
              </a:srgbClr>
            </a:solidFill>
            <a:ln>
              <a:noFill/>
            </a:ln>
          </p:spPr>
        </p:sp>
        <p:sp>
          <p:nvSpPr>
            <p:cNvPr id="303" name="Google Shape;303;p15"/>
            <p:cNvSpPr txBox="1"/>
            <p:nvPr/>
          </p:nvSpPr>
          <p:spPr>
            <a:xfrm>
              <a:off x="0" y="38100"/>
              <a:ext cx="12984540" cy="2102152"/>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000000"/>
                </a:buClr>
                <a:buSzPts val="3150"/>
                <a:buFont typeface="Arial"/>
                <a:buNone/>
              </a:pPr>
              <a:r>
                <a:rPr b="0" i="0" lang="en-US" sz="3150" u="none" cap="none" strike="noStrike">
                  <a:solidFill>
                    <a:srgbClr val="000000"/>
                  </a:solidFill>
                  <a:latin typeface="PT Sans"/>
                  <a:ea typeface="PT Sans"/>
                  <a:cs typeface="PT Sans"/>
                  <a:sym typeface="PT Sans"/>
                </a:rPr>
                <a:t>Cuando se llama a un método, se crea un nuevo marco de pila y se coloca en la parte superior de la pila.</a:t>
              </a:r>
              <a:endParaRPr b="0" i="0" sz="1400" u="none" cap="none" strike="noStrike">
                <a:solidFill>
                  <a:srgbClr val="000000"/>
                </a:solidFill>
                <a:latin typeface="Arial"/>
                <a:ea typeface="Arial"/>
                <a:cs typeface="Arial"/>
                <a:sym typeface="Arial"/>
              </a:endParaRPr>
            </a:p>
          </p:txBody>
        </p:sp>
      </p:grpSp>
      <p:sp>
        <p:nvSpPr>
          <p:cNvPr id="304" name="Google Shape;304;p15"/>
          <p:cNvSpPr/>
          <p:nvPr/>
        </p:nvSpPr>
        <p:spPr>
          <a:xfrm>
            <a:off x="5639844" y="3337842"/>
            <a:ext cx="11592400" cy="1605153"/>
          </a:xfrm>
          <a:custGeom>
            <a:rect b="b" l="l" r="r" t="t"/>
            <a:pathLst>
              <a:path extrusionOk="0" h="2140204" w="15456534">
                <a:moveTo>
                  <a:pt x="0" y="213995"/>
                </a:moveTo>
                <a:cubicBezTo>
                  <a:pt x="0" y="95885"/>
                  <a:pt x="95885" y="0"/>
                  <a:pt x="213995" y="0"/>
                </a:cubicBezTo>
                <a:lnTo>
                  <a:pt x="15242539" y="0"/>
                </a:lnTo>
                <a:cubicBezTo>
                  <a:pt x="15360777" y="0"/>
                  <a:pt x="15456534" y="95885"/>
                  <a:pt x="15456534" y="213995"/>
                </a:cubicBezTo>
                <a:lnTo>
                  <a:pt x="15456534" y="1926209"/>
                </a:lnTo>
                <a:cubicBezTo>
                  <a:pt x="15456534" y="2044446"/>
                  <a:pt x="15360650" y="2140204"/>
                  <a:pt x="15242539" y="2140204"/>
                </a:cubicBezTo>
                <a:lnTo>
                  <a:pt x="213995" y="2140204"/>
                </a:lnTo>
                <a:cubicBezTo>
                  <a:pt x="95885" y="2140204"/>
                  <a:pt x="0" y="2044446"/>
                  <a:pt x="0" y="1926209"/>
                </a:cubicBezTo>
                <a:close/>
              </a:path>
            </a:pathLst>
          </a:cu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5" name="Google Shape;305;p15"/>
          <p:cNvSpPr/>
          <p:nvPr/>
        </p:nvSpPr>
        <p:spPr>
          <a:xfrm>
            <a:off x="6125414" y="3699011"/>
            <a:ext cx="882873" cy="882873"/>
          </a:xfrm>
          <a:custGeom>
            <a:rect b="b" l="l" r="r" t="t"/>
            <a:pathLst>
              <a:path extrusionOk="0" h="1177163" w="1177163">
                <a:moveTo>
                  <a:pt x="0" y="0"/>
                </a:moveTo>
                <a:lnTo>
                  <a:pt x="1177163" y="0"/>
                </a:lnTo>
                <a:lnTo>
                  <a:pt x="1177163" y="1177163"/>
                </a:lnTo>
                <a:lnTo>
                  <a:pt x="0" y="1177163"/>
                </a:lnTo>
                <a:close/>
              </a:path>
            </a:pathLst>
          </a:custGeom>
          <a:blipFill rotWithShape="1">
            <a:blip r:embed="rId4">
              <a:alphaModFix/>
            </a:blip>
            <a:stretch>
              <a:fillRect b="2" l="0" r="2" t="0"/>
            </a:stretch>
          </a:blipFill>
          <a:ln>
            <a:noFill/>
          </a:ln>
        </p:spPr>
      </p:sp>
      <p:grpSp>
        <p:nvGrpSpPr>
          <p:cNvPr id="306" name="Google Shape;306;p15"/>
          <p:cNvGrpSpPr/>
          <p:nvPr/>
        </p:nvGrpSpPr>
        <p:grpSpPr>
          <a:xfrm>
            <a:off x="7493838" y="3337842"/>
            <a:ext cx="9738405" cy="1605189"/>
            <a:chOff x="0" y="0"/>
            <a:chExt cx="12984540" cy="2140252"/>
          </a:xfrm>
        </p:grpSpPr>
        <p:sp>
          <p:nvSpPr>
            <p:cNvPr id="307" name="Google Shape;307;p15"/>
            <p:cNvSpPr/>
            <p:nvPr/>
          </p:nvSpPr>
          <p:spPr>
            <a:xfrm>
              <a:off x="0" y="0"/>
              <a:ext cx="12984540" cy="2140252"/>
            </a:xfrm>
            <a:custGeom>
              <a:rect b="b" l="l" r="r" t="t"/>
              <a:pathLst>
                <a:path extrusionOk="0" h="2140252" w="12984540">
                  <a:moveTo>
                    <a:pt x="0" y="0"/>
                  </a:moveTo>
                  <a:lnTo>
                    <a:pt x="12984540" y="0"/>
                  </a:lnTo>
                  <a:lnTo>
                    <a:pt x="12984540" y="2140252"/>
                  </a:lnTo>
                  <a:lnTo>
                    <a:pt x="0" y="2140252"/>
                  </a:lnTo>
                  <a:close/>
                </a:path>
              </a:pathLst>
            </a:custGeom>
            <a:solidFill>
              <a:srgbClr val="000000">
                <a:alpha val="0"/>
              </a:srgbClr>
            </a:solidFill>
            <a:ln>
              <a:noFill/>
            </a:ln>
          </p:spPr>
        </p:sp>
        <p:sp>
          <p:nvSpPr>
            <p:cNvPr id="308" name="Google Shape;308;p15"/>
            <p:cNvSpPr txBox="1"/>
            <p:nvPr/>
          </p:nvSpPr>
          <p:spPr>
            <a:xfrm>
              <a:off x="0" y="38100"/>
              <a:ext cx="12984540" cy="2102152"/>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000000"/>
                </a:buClr>
                <a:buSzPts val="3150"/>
                <a:buFont typeface="Arial"/>
                <a:buNone/>
              </a:pPr>
              <a:r>
                <a:rPr b="0" i="0" lang="en-US" sz="3150" u="none" cap="none" strike="noStrike">
                  <a:solidFill>
                    <a:srgbClr val="000000"/>
                  </a:solidFill>
                  <a:latin typeface="PT Sans"/>
                  <a:ea typeface="PT Sans"/>
                  <a:cs typeface="PT Sans"/>
                  <a:sym typeface="PT Sans"/>
                </a:rPr>
                <a:t>El marco de pila almacena las variables locales y los parámetros del método.</a:t>
              </a:r>
              <a:endParaRPr b="0" i="0" sz="1400" u="none" cap="none" strike="noStrike">
                <a:solidFill>
                  <a:srgbClr val="000000"/>
                </a:solidFill>
                <a:latin typeface="Arial"/>
                <a:ea typeface="Arial"/>
                <a:cs typeface="Arial"/>
                <a:sym typeface="Arial"/>
              </a:endParaRPr>
            </a:p>
          </p:txBody>
        </p:sp>
      </p:grpSp>
      <p:sp>
        <p:nvSpPr>
          <p:cNvPr id="309" name="Google Shape;309;p15"/>
          <p:cNvSpPr/>
          <p:nvPr/>
        </p:nvSpPr>
        <p:spPr>
          <a:xfrm>
            <a:off x="5639844" y="5344329"/>
            <a:ext cx="11592400" cy="1605153"/>
          </a:xfrm>
          <a:custGeom>
            <a:rect b="b" l="l" r="r" t="t"/>
            <a:pathLst>
              <a:path extrusionOk="0" h="2140204" w="15456534">
                <a:moveTo>
                  <a:pt x="0" y="213995"/>
                </a:moveTo>
                <a:cubicBezTo>
                  <a:pt x="0" y="95885"/>
                  <a:pt x="95885" y="0"/>
                  <a:pt x="213995" y="0"/>
                </a:cubicBezTo>
                <a:lnTo>
                  <a:pt x="15242539" y="0"/>
                </a:lnTo>
                <a:cubicBezTo>
                  <a:pt x="15360777" y="0"/>
                  <a:pt x="15456534" y="95885"/>
                  <a:pt x="15456534" y="213995"/>
                </a:cubicBezTo>
                <a:lnTo>
                  <a:pt x="15456534" y="1926209"/>
                </a:lnTo>
                <a:cubicBezTo>
                  <a:pt x="15456534" y="2044446"/>
                  <a:pt x="15360650" y="2140204"/>
                  <a:pt x="15242539" y="2140204"/>
                </a:cubicBezTo>
                <a:lnTo>
                  <a:pt x="213995" y="2140204"/>
                </a:lnTo>
                <a:cubicBezTo>
                  <a:pt x="95885" y="2140204"/>
                  <a:pt x="0" y="2044446"/>
                  <a:pt x="0" y="1926209"/>
                </a:cubicBezTo>
                <a:close/>
              </a:path>
            </a:pathLst>
          </a:cu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 name="Google Shape;310;p15"/>
          <p:cNvSpPr/>
          <p:nvPr/>
        </p:nvSpPr>
        <p:spPr>
          <a:xfrm>
            <a:off x="6125414" y="5705498"/>
            <a:ext cx="882873" cy="882873"/>
          </a:xfrm>
          <a:custGeom>
            <a:rect b="b" l="l" r="r" t="t"/>
            <a:pathLst>
              <a:path extrusionOk="0" h="1177163" w="1177163">
                <a:moveTo>
                  <a:pt x="0" y="0"/>
                </a:moveTo>
                <a:lnTo>
                  <a:pt x="1177163" y="0"/>
                </a:lnTo>
                <a:lnTo>
                  <a:pt x="1177163" y="1177163"/>
                </a:lnTo>
                <a:lnTo>
                  <a:pt x="0" y="1177163"/>
                </a:lnTo>
                <a:close/>
              </a:path>
            </a:pathLst>
          </a:custGeom>
          <a:blipFill rotWithShape="1">
            <a:blip r:embed="rId5">
              <a:alphaModFix/>
            </a:blip>
            <a:stretch>
              <a:fillRect b="2" l="0" r="2" t="0"/>
            </a:stretch>
          </a:blipFill>
          <a:ln>
            <a:noFill/>
          </a:ln>
        </p:spPr>
      </p:sp>
      <p:grpSp>
        <p:nvGrpSpPr>
          <p:cNvPr id="311" name="Google Shape;311;p15"/>
          <p:cNvGrpSpPr/>
          <p:nvPr/>
        </p:nvGrpSpPr>
        <p:grpSpPr>
          <a:xfrm>
            <a:off x="7493838" y="5344329"/>
            <a:ext cx="9738405" cy="1605189"/>
            <a:chOff x="0" y="0"/>
            <a:chExt cx="12984540" cy="2140252"/>
          </a:xfrm>
        </p:grpSpPr>
        <p:sp>
          <p:nvSpPr>
            <p:cNvPr id="312" name="Google Shape;312;p15"/>
            <p:cNvSpPr/>
            <p:nvPr/>
          </p:nvSpPr>
          <p:spPr>
            <a:xfrm>
              <a:off x="0" y="0"/>
              <a:ext cx="12984540" cy="2140252"/>
            </a:xfrm>
            <a:custGeom>
              <a:rect b="b" l="l" r="r" t="t"/>
              <a:pathLst>
                <a:path extrusionOk="0" h="2140252" w="12984540">
                  <a:moveTo>
                    <a:pt x="0" y="0"/>
                  </a:moveTo>
                  <a:lnTo>
                    <a:pt x="12984540" y="0"/>
                  </a:lnTo>
                  <a:lnTo>
                    <a:pt x="12984540" y="2140252"/>
                  </a:lnTo>
                  <a:lnTo>
                    <a:pt x="0" y="2140252"/>
                  </a:lnTo>
                  <a:close/>
                </a:path>
              </a:pathLst>
            </a:custGeom>
            <a:solidFill>
              <a:srgbClr val="000000">
                <a:alpha val="0"/>
              </a:srgbClr>
            </a:solidFill>
            <a:ln>
              <a:noFill/>
            </a:ln>
          </p:spPr>
        </p:sp>
        <p:sp>
          <p:nvSpPr>
            <p:cNvPr id="313" name="Google Shape;313;p15"/>
            <p:cNvSpPr txBox="1"/>
            <p:nvPr/>
          </p:nvSpPr>
          <p:spPr>
            <a:xfrm>
              <a:off x="0" y="38100"/>
              <a:ext cx="12984540" cy="2102152"/>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000000"/>
                </a:buClr>
                <a:buSzPts val="3150"/>
                <a:buFont typeface="Arial"/>
                <a:buNone/>
              </a:pPr>
              <a:r>
                <a:rPr b="0" i="0" lang="en-US" sz="3150" u="none" cap="none" strike="noStrike">
                  <a:solidFill>
                    <a:srgbClr val="000000"/>
                  </a:solidFill>
                  <a:latin typeface="PT Sans"/>
                  <a:ea typeface="PT Sans"/>
                  <a:cs typeface="PT Sans"/>
                  <a:sym typeface="PT Sans"/>
                </a:rPr>
                <a:t>Cuando el método termina, su marco de pila se elimina de la pila, y el control regresa al método que lo llamó.</a:t>
              </a:r>
              <a:endParaRPr b="0" i="0" sz="1400" u="none" cap="none" strike="noStrike">
                <a:solidFill>
                  <a:srgbClr val="000000"/>
                </a:solidFill>
                <a:latin typeface="Arial"/>
                <a:ea typeface="Arial"/>
                <a:cs typeface="Arial"/>
                <a:sym typeface="Arial"/>
              </a:endParaRPr>
            </a:p>
          </p:txBody>
        </p:sp>
      </p:grpSp>
      <p:sp>
        <p:nvSpPr>
          <p:cNvPr id="314" name="Google Shape;314;p15"/>
          <p:cNvSpPr/>
          <p:nvPr/>
        </p:nvSpPr>
        <p:spPr>
          <a:xfrm>
            <a:off x="5639844" y="7350818"/>
            <a:ext cx="11592400" cy="1605153"/>
          </a:xfrm>
          <a:custGeom>
            <a:rect b="b" l="l" r="r" t="t"/>
            <a:pathLst>
              <a:path extrusionOk="0" h="2140204" w="15456534">
                <a:moveTo>
                  <a:pt x="0" y="213995"/>
                </a:moveTo>
                <a:cubicBezTo>
                  <a:pt x="0" y="95885"/>
                  <a:pt x="95885" y="0"/>
                  <a:pt x="213995" y="0"/>
                </a:cubicBezTo>
                <a:lnTo>
                  <a:pt x="15242539" y="0"/>
                </a:lnTo>
                <a:cubicBezTo>
                  <a:pt x="15360777" y="0"/>
                  <a:pt x="15456534" y="95885"/>
                  <a:pt x="15456534" y="213995"/>
                </a:cubicBezTo>
                <a:lnTo>
                  <a:pt x="15456534" y="1926209"/>
                </a:lnTo>
                <a:cubicBezTo>
                  <a:pt x="15456534" y="2044446"/>
                  <a:pt x="15360650" y="2140204"/>
                  <a:pt x="15242539" y="2140204"/>
                </a:cubicBezTo>
                <a:lnTo>
                  <a:pt x="213995" y="2140204"/>
                </a:lnTo>
                <a:cubicBezTo>
                  <a:pt x="95885" y="2140204"/>
                  <a:pt x="0" y="2044446"/>
                  <a:pt x="0" y="1926209"/>
                </a:cubicBezTo>
                <a:close/>
              </a:path>
            </a:pathLst>
          </a:cu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 name="Google Shape;315;p15"/>
          <p:cNvSpPr/>
          <p:nvPr/>
        </p:nvSpPr>
        <p:spPr>
          <a:xfrm>
            <a:off x="6125414" y="7711984"/>
            <a:ext cx="882873" cy="882873"/>
          </a:xfrm>
          <a:custGeom>
            <a:rect b="b" l="l" r="r" t="t"/>
            <a:pathLst>
              <a:path extrusionOk="0" h="1177163" w="1177163">
                <a:moveTo>
                  <a:pt x="0" y="0"/>
                </a:moveTo>
                <a:lnTo>
                  <a:pt x="1177163" y="0"/>
                </a:lnTo>
                <a:lnTo>
                  <a:pt x="1177163" y="1177163"/>
                </a:lnTo>
                <a:lnTo>
                  <a:pt x="0" y="1177163"/>
                </a:lnTo>
                <a:close/>
              </a:path>
            </a:pathLst>
          </a:custGeom>
          <a:blipFill rotWithShape="1">
            <a:blip r:embed="rId6">
              <a:alphaModFix/>
            </a:blip>
            <a:stretch>
              <a:fillRect b="2" l="0" r="2" t="0"/>
            </a:stretch>
          </a:blipFill>
          <a:ln>
            <a:noFill/>
          </a:ln>
        </p:spPr>
      </p:sp>
      <p:grpSp>
        <p:nvGrpSpPr>
          <p:cNvPr id="316" name="Google Shape;316;p15"/>
          <p:cNvGrpSpPr/>
          <p:nvPr/>
        </p:nvGrpSpPr>
        <p:grpSpPr>
          <a:xfrm>
            <a:off x="7493838" y="7350818"/>
            <a:ext cx="9738405" cy="1605189"/>
            <a:chOff x="0" y="0"/>
            <a:chExt cx="12984540" cy="2140252"/>
          </a:xfrm>
        </p:grpSpPr>
        <p:sp>
          <p:nvSpPr>
            <p:cNvPr id="317" name="Google Shape;317;p15"/>
            <p:cNvSpPr/>
            <p:nvPr/>
          </p:nvSpPr>
          <p:spPr>
            <a:xfrm>
              <a:off x="0" y="0"/>
              <a:ext cx="12984540" cy="2140252"/>
            </a:xfrm>
            <a:custGeom>
              <a:rect b="b" l="l" r="r" t="t"/>
              <a:pathLst>
                <a:path extrusionOk="0" h="2140252" w="12984540">
                  <a:moveTo>
                    <a:pt x="0" y="0"/>
                  </a:moveTo>
                  <a:lnTo>
                    <a:pt x="12984540" y="0"/>
                  </a:lnTo>
                  <a:lnTo>
                    <a:pt x="12984540" y="2140252"/>
                  </a:lnTo>
                  <a:lnTo>
                    <a:pt x="0" y="2140252"/>
                  </a:lnTo>
                  <a:close/>
                </a:path>
              </a:pathLst>
            </a:custGeom>
            <a:solidFill>
              <a:srgbClr val="000000">
                <a:alpha val="0"/>
              </a:srgbClr>
            </a:solidFill>
            <a:ln>
              <a:noFill/>
            </a:ln>
          </p:spPr>
        </p:sp>
        <p:sp>
          <p:nvSpPr>
            <p:cNvPr id="318" name="Google Shape;318;p15"/>
            <p:cNvSpPr txBox="1"/>
            <p:nvPr/>
          </p:nvSpPr>
          <p:spPr>
            <a:xfrm>
              <a:off x="0" y="38100"/>
              <a:ext cx="12984540" cy="2102152"/>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000000"/>
                </a:buClr>
                <a:buSzPts val="3150"/>
                <a:buFont typeface="Arial"/>
                <a:buNone/>
              </a:pPr>
              <a:r>
                <a:rPr b="0" i="0" lang="en-US" sz="3150" u="none" cap="none" strike="noStrike">
                  <a:solidFill>
                    <a:srgbClr val="000000"/>
                  </a:solidFill>
                  <a:latin typeface="PT Sans"/>
                  <a:ea typeface="PT Sans"/>
                  <a:cs typeface="PT Sans"/>
                  <a:sym typeface="PT Sans"/>
                </a:rPr>
                <a:t>Si la pila se llena (debido a una recursividad infinita), ocurre un StackOverflowError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16"/>
          <p:cNvSpPr/>
          <p:nvPr/>
        </p:nvSpPr>
        <p:spPr>
          <a:xfrm>
            <a:off x="1" y="1138428"/>
            <a:ext cx="5165408" cy="7996428"/>
          </a:xfrm>
          <a:custGeom>
            <a:rect b="b" l="l" r="r" t="t"/>
            <a:pathLst>
              <a:path extrusionOk="0" h="10661904" w="6887210">
                <a:moveTo>
                  <a:pt x="0" y="0"/>
                </a:moveTo>
                <a:lnTo>
                  <a:pt x="6887210" y="0"/>
                </a:lnTo>
                <a:lnTo>
                  <a:pt x="6887210" y="10661904"/>
                </a:lnTo>
                <a:lnTo>
                  <a:pt x="0" y="10661904"/>
                </a:lnTo>
                <a:close/>
              </a:path>
            </a:pathLst>
          </a:custGeom>
          <a:solidFill>
            <a:srgbClr val="40BAD2"/>
          </a:solidFill>
          <a:ln>
            <a:noFill/>
          </a:ln>
        </p:spPr>
      </p:sp>
      <p:sp>
        <p:nvSpPr>
          <p:cNvPr id="324" name="Google Shape;324;p16"/>
          <p:cNvSpPr/>
          <p:nvPr/>
        </p:nvSpPr>
        <p:spPr>
          <a:xfrm>
            <a:off x="17723796" y="1138428"/>
            <a:ext cx="576072" cy="7996428"/>
          </a:xfrm>
          <a:custGeom>
            <a:rect b="b" l="l" r="r" t="t"/>
            <a:pathLst>
              <a:path extrusionOk="0" h="10661904" w="768096">
                <a:moveTo>
                  <a:pt x="0" y="0"/>
                </a:moveTo>
                <a:lnTo>
                  <a:pt x="768096" y="0"/>
                </a:lnTo>
                <a:lnTo>
                  <a:pt x="768096" y="10661904"/>
                </a:lnTo>
                <a:lnTo>
                  <a:pt x="0" y="10661904"/>
                </a:lnTo>
                <a:close/>
              </a:path>
            </a:pathLst>
          </a:custGeom>
          <a:solidFill>
            <a:srgbClr val="C8C8C8">
              <a:alpha val="24706"/>
            </a:srgbClr>
          </a:solidFill>
          <a:ln>
            <a:noFill/>
          </a:ln>
        </p:spPr>
      </p:sp>
      <p:sp>
        <p:nvSpPr>
          <p:cNvPr id="325" name="Google Shape;325;p16"/>
          <p:cNvSpPr/>
          <p:nvPr/>
        </p:nvSpPr>
        <p:spPr>
          <a:xfrm>
            <a:off x="0" y="1142998"/>
            <a:ext cx="13712475" cy="8001000"/>
          </a:xfrm>
          <a:custGeom>
            <a:rect b="b" l="l" r="r" t="t"/>
            <a:pathLst>
              <a:path extrusionOk="0" h="10668000" w="18283301">
                <a:moveTo>
                  <a:pt x="0" y="0"/>
                </a:moveTo>
                <a:lnTo>
                  <a:pt x="18283301" y="0"/>
                </a:lnTo>
                <a:lnTo>
                  <a:pt x="18283301" y="10668000"/>
                </a:lnTo>
                <a:lnTo>
                  <a:pt x="0" y="10668000"/>
                </a:lnTo>
                <a:close/>
              </a:path>
            </a:pathLst>
          </a:custGeom>
          <a:solidFill>
            <a:srgbClr val="40BAD2"/>
          </a:solidFill>
          <a:ln>
            <a:noFill/>
          </a:ln>
        </p:spPr>
      </p:sp>
      <p:sp>
        <p:nvSpPr>
          <p:cNvPr id="326" name="Google Shape;326;p16"/>
          <p:cNvSpPr/>
          <p:nvPr/>
        </p:nvSpPr>
        <p:spPr>
          <a:xfrm>
            <a:off x="13905394" y="1142998"/>
            <a:ext cx="4387977" cy="8001000"/>
          </a:xfrm>
          <a:custGeom>
            <a:rect b="b" l="l" r="r" t="t"/>
            <a:pathLst>
              <a:path extrusionOk="0" h="10668000" w="5850636">
                <a:moveTo>
                  <a:pt x="0" y="0"/>
                </a:moveTo>
                <a:lnTo>
                  <a:pt x="5850636" y="0"/>
                </a:lnTo>
                <a:lnTo>
                  <a:pt x="5850636" y="10668000"/>
                </a:lnTo>
                <a:lnTo>
                  <a:pt x="0" y="10668000"/>
                </a:lnTo>
                <a:close/>
              </a:path>
            </a:pathLst>
          </a:custGeom>
          <a:solidFill>
            <a:srgbClr val="C8C8C8">
              <a:alpha val="24706"/>
            </a:srgbClr>
          </a:solidFill>
          <a:ln>
            <a:noFill/>
          </a:ln>
        </p:spPr>
      </p:sp>
      <p:sp>
        <p:nvSpPr>
          <p:cNvPr id="327" name="Google Shape;327;p16"/>
          <p:cNvSpPr/>
          <p:nvPr/>
        </p:nvSpPr>
        <p:spPr>
          <a:xfrm>
            <a:off x="0" y="0"/>
            <a:ext cx="18287999" cy="10287000"/>
          </a:xfrm>
          <a:custGeom>
            <a:rect b="b" l="l" r="r" t="t"/>
            <a:pathLst>
              <a:path extrusionOk="0" h="13716000" w="24384000">
                <a:moveTo>
                  <a:pt x="0" y="0"/>
                </a:moveTo>
                <a:lnTo>
                  <a:pt x="24384000" y="0"/>
                </a:lnTo>
                <a:lnTo>
                  <a:pt x="24384000" y="13716000"/>
                </a:lnTo>
                <a:lnTo>
                  <a:pt x="0" y="13716000"/>
                </a:lnTo>
                <a:close/>
              </a:path>
            </a:pathLst>
          </a:custGeom>
          <a:solidFill>
            <a:srgbClr val="FFFFFF"/>
          </a:solidFill>
          <a:ln>
            <a:noFill/>
          </a:ln>
        </p:spPr>
      </p:sp>
      <p:sp>
        <p:nvSpPr>
          <p:cNvPr id="328" name="Google Shape;328;p16"/>
          <p:cNvSpPr/>
          <p:nvPr/>
        </p:nvSpPr>
        <p:spPr>
          <a:xfrm>
            <a:off x="0" y="6551458"/>
            <a:ext cx="17561052" cy="2778252"/>
          </a:xfrm>
          <a:custGeom>
            <a:rect b="b" l="l" r="r" t="t"/>
            <a:pathLst>
              <a:path extrusionOk="0" h="3704336" w="23414737">
                <a:moveTo>
                  <a:pt x="0" y="0"/>
                </a:moveTo>
                <a:lnTo>
                  <a:pt x="23414737" y="0"/>
                </a:lnTo>
                <a:lnTo>
                  <a:pt x="23414737" y="3704336"/>
                </a:lnTo>
                <a:lnTo>
                  <a:pt x="0" y="3704336"/>
                </a:lnTo>
                <a:close/>
              </a:path>
            </a:pathLst>
          </a:custGeom>
          <a:solidFill>
            <a:srgbClr val="40BAD2"/>
          </a:solidFill>
          <a:ln>
            <a:noFill/>
          </a:ln>
        </p:spPr>
      </p:sp>
      <p:grpSp>
        <p:nvGrpSpPr>
          <p:cNvPr id="329" name="Google Shape;329;p16"/>
          <p:cNvGrpSpPr/>
          <p:nvPr/>
        </p:nvGrpSpPr>
        <p:grpSpPr>
          <a:xfrm>
            <a:off x="1604772" y="6885992"/>
            <a:ext cx="15316293" cy="1598535"/>
            <a:chOff x="0" y="0"/>
            <a:chExt cx="20421724" cy="2131380"/>
          </a:xfrm>
        </p:grpSpPr>
        <p:sp>
          <p:nvSpPr>
            <p:cNvPr id="330" name="Google Shape;330;p16"/>
            <p:cNvSpPr/>
            <p:nvPr/>
          </p:nvSpPr>
          <p:spPr>
            <a:xfrm>
              <a:off x="0" y="0"/>
              <a:ext cx="20421724" cy="2131380"/>
            </a:xfrm>
            <a:custGeom>
              <a:rect b="b" l="l" r="r" t="t"/>
              <a:pathLst>
                <a:path extrusionOk="0" h="2131380" w="20421724">
                  <a:moveTo>
                    <a:pt x="0" y="0"/>
                  </a:moveTo>
                  <a:lnTo>
                    <a:pt x="20421724" y="0"/>
                  </a:lnTo>
                  <a:lnTo>
                    <a:pt x="20421724" y="2131380"/>
                  </a:lnTo>
                  <a:lnTo>
                    <a:pt x="0" y="2131380"/>
                  </a:lnTo>
                  <a:close/>
                </a:path>
              </a:pathLst>
            </a:custGeom>
            <a:solidFill>
              <a:srgbClr val="000000">
                <a:alpha val="0"/>
              </a:srgbClr>
            </a:solidFill>
            <a:ln>
              <a:noFill/>
            </a:ln>
          </p:spPr>
        </p:sp>
        <p:sp>
          <p:nvSpPr>
            <p:cNvPr id="331" name="Google Shape;331;p16"/>
            <p:cNvSpPr txBox="1"/>
            <p:nvPr/>
          </p:nvSpPr>
          <p:spPr>
            <a:xfrm>
              <a:off x="0" y="104775"/>
              <a:ext cx="20421724" cy="2026605"/>
            </a:xfrm>
            <a:prstGeom prst="rect">
              <a:avLst/>
            </a:prstGeom>
            <a:noFill/>
            <a:ln>
              <a:noFill/>
            </a:ln>
          </p:spPr>
          <p:txBody>
            <a:bodyPr anchorCtr="0" anchor="b" bIns="0" lIns="0" spcFirstLastPara="1" rIns="0" wrap="square" tIns="0">
              <a:noAutofit/>
            </a:bodyPr>
            <a:lstStyle/>
            <a:p>
              <a:pPr indent="0" lvl="0" marL="0" marR="0" rtl="0" algn="l">
                <a:lnSpc>
                  <a:spcPct val="108000"/>
                </a:lnSpc>
                <a:spcBef>
                  <a:spcPts val="0"/>
                </a:spcBef>
                <a:spcAft>
                  <a:spcPts val="0"/>
                </a:spcAft>
                <a:buClr>
                  <a:srgbClr val="000000"/>
                </a:buClr>
                <a:buSzPts val="8850"/>
                <a:buFont typeface="Arial"/>
                <a:buNone/>
              </a:pPr>
              <a:r>
                <a:rPr b="0" i="0" lang="en-US" sz="8850" u="none" cap="none" strike="noStrike">
                  <a:solidFill>
                    <a:srgbClr val="FFFFFF"/>
                  </a:solidFill>
                  <a:latin typeface="PT Sans"/>
                  <a:ea typeface="PT Sans"/>
                  <a:cs typeface="PT Sans"/>
                  <a:sym typeface="PT Sans"/>
                </a:rPr>
                <a:t>Ejemplo</a:t>
              </a:r>
              <a:endParaRPr b="0" i="0" sz="1400" u="none" cap="none" strike="noStrike">
                <a:solidFill>
                  <a:srgbClr val="000000"/>
                </a:solidFill>
                <a:latin typeface="Arial"/>
                <a:ea typeface="Arial"/>
                <a:cs typeface="Arial"/>
                <a:sym typeface="Arial"/>
              </a:endParaRPr>
            </a:p>
          </p:txBody>
        </p:sp>
      </p:grpSp>
      <p:sp>
        <p:nvSpPr>
          <p:cNvPr id="332" name="Google Shape;332;p16"/>
          <p:cNvSpPr/>
          <p:nvPr/>
        </p:nvSpPr>
        <p:spPr>
          <a:xfrm>
            <a:off x="1604770" y="726948"/>
            <a:ext cx="15956279" cy="5335142"/>
          </a:xfrm>
          <a:custGeom>
            <a:rect b="b" l="l" r="r" t="t"/>
            <a:pathLst>
              <a:path extrusionOk="0" h="7113524" w="21275039">
                <a:moveTo>
                  <a:pt x="0" y="0"/>
                </a:moveTo>
                <a:lnTo>
                  <a:pt x="21275039" y="0"/>
                </a:lnTo>
                <a:lnTo>
                  <a:pt x="21275039" y="7113524"/>
                </a:lnTo>
                <a:lnTo>
                  <a:pt x="0" y="7113524"/>
                </a:lnTo>
                <a:lnTo>
                  <a:pt x="0" y="0"/>
                </a:lnTo>
                <a:close/>
              </a:path>
            </a:pathLst>
          </a:custGeom>
          <a:blipFill rotWithShape="1">
            <a:blip r:embed="rId3">
              <a:alphaModFix/>
            </a:blip>
            <a:stretch>
              <a:fillRect b="-53408" l="0" r="1" t="-29491"/>
            </a:stretch>
          </a:blipFill>
          <a:ln>
            <a:noFill/>
          </a:ln>
        </p:spPr>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17"/>
          <p:cNvSpPr/>
          <p:nvPr/>
        </p:nvSpPr>
        <p:spPr>
          <a:xfrm>
            <a:off x="1" y="1138428"/>
            <a:ext cx="5165408" cy="7996428"/>
          </a:xfrm>
          <a:custGeom>
            <a:rect b="b" l="l" r="r" t="t"/>
            <a:pathLst>
              <a:path extrusionOk="0" h="10661904" w="6887210">
                <a:moveTo>
                  <a:pt x="0" y="0"/>
                </a:moveTo>
                <a:lnTo>
                  <a:pt x="6887210" y="0"/>
                </a:lnTo>
                <a:lnTo>
                  <a:pt x="6887210" y="10661904"/>
                </a:lnTo>
                <a:lnTo>
                  <a:pt x="0" y="10661904"/>
                </a:lnTo>
                <a:close/>
              </a:path>
            </a:pathLst>
          </a:custGeom>
          <a:solidFill>
            <a:srgbClr val="40BAD2"/>
          </a:solidFill>
          <a:ln>
            <a:noFill/>
          </a:ln>
        </p:spPr>
      </p:sp>
      <p:sp>
        <p:nvSpPr>
          <p:cNvPr id="338" name="Google Shape;338;p17"/>
          <p:cNvSpPr/>
          <p:nvPr/>
        </p:nvSpPr>
        <p:spPr>
          <a:xfrm>
            <a:off x="17723796" y="1138428"/>
            <a:ext cx="576072" cy="7996428"/>
          </a:xfrm>
          <a:custGeom>
            <a:rect b="b" l="l" r="r" t="t"/>
            <a:pathLst>
              <a:path extrusionOk="0" h="10661904" w="768096">
                <a:moveTo>
                  <a:pt x="0" y="0"/>
                </a:moveTo>
                <a:lnTo>
                  <a:pt x="768096" y="0"/>
                </a:lnTo>
                <a:lnTo>
                  <a:pt x="768096" y="10661904"/>
                </a:lnTo>
                <a:lnTo>
                  <a:pt x="0" y="10661904"/>
                </a:lnTo>
                <a:close/>
              </a:path>
            </a:pathLst>
          </a:custGeom>
          <a:solidFill>
            <a:srgbClr val="C8C8C8">
              <a:alpha val="24706"/>
            </a:srgbClr>
          </a:solidFill>
          <a:ln>
            <a:noFill/>
          </a:ln>
        </p:spPr>
      </p:sp>
      <p:sp>
        <p:nvSpPr>
          <p:cNvPr id="339" name="Google Shape;339;p17"/>
          <p:cNvSpPr/>
          <p:nvPr/>
        </p:nvSpPr>
        <p:spPr>
          <a:xfrm>
            <a:off x="0" y="1142998"/>
            <a:ext cx="13712475" cy="8001000"/>
          </a:xfrm>
          <a:custGeom>
            <a:rect b="b" l="l" r="r" t="t"/>
            <a:pathLst>
              <a:path extrusionOk="0" h="10668000" w="18283301">
                <a:moveTo>
                  <a:pt x="0" y="0"/>
                </a:moveTo>
                <a:lnTo>
                  <a:pt x="18283301" y="0"/>
                </a:lnTo>
                <a:lnTo>
                  <a:pt x="18283301" y="10668000"/>
                </a:lnTo>
                <a:lnTo>
                  <a:pt x="0" y="10668000"/>
                </a:lnTo>
                <a:close/>
              </a:path>
            </a:pathLst>
          </a:custGeom>
          <a:solidFill>
            <a:srgbClr val="40BAD2"/>
          </a:solidFill>
          <a:ln>
            <a:noFill/>
          </a:ln>
        </p:spPr>
      </p:sp>
      <p:sp>
        <p:nvSpPr>
          <p:cNvPr id="340" name="Google Shape;340;p17"/>
          <p:cNvSpPr/>
          <p:nvPr/>
        </p:nvSpPr>
        <p:spPr>
          <a:xfrm>
            <a:off x="13905394" y="1142998"/>
            <a:ext cx="4387977" cy="8001000"/>
          </a:xfrm>
          <a:custGeom>
            <a:rect b="b" l="l" r="r" t="t"/>
            <a:pathLst>
              <a:path extrusionOk="0" h="10668000" w="5850636">
                <a:moveTo>
                  <a:pt x="0" y="0"/>
                </a:moveTo>
                <a:lnTo>
                  <a:pt x="5850636" y="0"/>
                </a:lnTo>
                <a:lnTo>
                  <a:pt x="5850636" y="10668000"/>
                </a:lnTo>
                <a:lnTo>
                  <a:pt x="0" y="10668000"/>
                </a:lnTo>
                <a:close/>
              </a:path>
            </a:pathLst>
          </a:custGeom>
          <a:solidFill>
            <a:srgbClr val="C8C8C8">
              <a:alpha val="24706"/>
            </a:srgbClr>
          </a:solidFill>
          <a:ln>
            <a:noFill/>
          </a:ln>
        </p:spPr>
      </p:sp>
      <p:sp>
        <p:nvSpPr>
          <p:cNvPr id="341" name="Google Shape;341;p17"/>
          <p:cNvSpPr/>
          <p:nvPr/>
        </p:nvSpPr>
        <p:spPr>
          <a:xfrm>
            <a:off x="0" y="0"/>
            <a:ext cx="18287999" cy="10287000"/>
          </a:xfrm>
          <a:custGeom>
            <a:rect b="b" l="l" r="r" t="t"/>
            <a:pathLst>
              <a:path extrusionOk="0" h="13716000" w="24384000">
                <a:moveTo>
                  <a:pt x="0" y="0"/>
                </a:moveTo>
                <a:lnTo>
                  <a:pt x="24384000" y="0"/>
                </a:lnTo>
                <a:lnTo>
                  <a:pt x="24384000" y="13716000"/>
                </a:lnTo>
                <a:lnTo>
                  <a:pt x="0" y="13716000"/>
                </a:lnTo>
                <a:close/>
              </a:path>
            </a:pathLst>
          </a:custGeom>
          <a:solidFill>
            <a:srgbClr val="FFFFFF"/>
          </a:solidFill>
          <a:ln>
            <a:noFill/>
          </a:ln>
        </p:spPr>
      </p:sp>
      <p:sp>
        <p:nvSpPr>
          <p:cNvPr id="342" name="Google Shape;342;p17"/>
          <p:cNvSpPr/>
          <p:nvPr/>
        </p:nvSpPr>
        <p:spPr>
          <a:xfrm>
            <a:off x="0" y="6551458"/>
            <a:ext cx="17561052" cy="2778252"/>
          </a:xfrm>
          <a:custGeom>
            <a:rect b="b" l="l" r="r" t="t"/>
            <a:pathLst>
              <a:path extrusionOk="0" h="3704336" w="23414737">
                <a:moveTo>
                  <a:pt x="0" y="0"/>
                </a:moveTo>
                <a:lnTo>
                  <a:pt x="23414737" y="0"/>
                </a:lnTo>
                <a:lnTo>
                  <a:pt x="23414737" y="3704336"/>
                </a:lnTo>
                <a:lnTo>
                  <a:pt x="0" y="3704336"/>
                </a:lnTo>
                <a:close/>
              </a:path>
            </a:pathLst>
          </a:custGeom>
          <a:solidFill>
            <a:srgbClr val="40BAD2"/>
          </a:solidFill>
          <a:ln>
            <a:noFill/>
          </a:ln>
        </p:spPr>
      </p:sp>
      <p:grpSp>
        <p:nvGrpSpPr>
          <p:cNvPr id="343" name="Google Shape;343;p17"/>
          <p:cNvGrpSpPr/>
          <p:nvPr/>
        </p:nvGrpSpPr>
        <p:grpSpPr>
          <a:xfrm>
            <a:off x="1604772" y="6885992"/>
            <a:ext cx="15316293" cy="1598535"/>
            <a:chOff x="0" y="0"/>
            <a:chExt cx="20421724" cy="2131380"/>
          </a:xfrm>
        </p:grpSpPr>
        <p:sp>
          <p:nvSpPr>
            <p:cNvPr id="344" name="Google Shape;344;p17"/>
            <p:cNvSpPr/>
            <p:nvPr/>
          </p:nvSpPr>
          <p:spPr>
            <a:xfrm>
              <a:off x="0" y="0"/>
              <a:ext cx="20421724" cy="2131380"/>
            </a:xfrm>
            <a:custGeom>
              <a:rect b="b" l="l" r="r" t="t"/>
              <a:pathLst>
                <a:path extrusionOk="0" h="2131380" w="20421724">
                  <a:moveTo>
                    <a:pt x="0" y="0"/>
                  </a:moveTo>
                  <a:lnTo>
                    <a:pt x="20421724" y="0"/>
                  </a:lnTo>
                  <a:lnTo>
                    <a:pt x="20421724" y="2131380"/>
                  </a:lnTo>
                  <a:lnTo>
                    <a:pt x="0" y="2131380"/>
                  </a:lnTo>
                  <a:close/>
                </a:path>
              </a:pathLst>
            </a:custGeom>
            <a:solidFill>
              <a:srgbClr val="000000">
                <a:alpha val="0"/>
              </a:srgbClr>
            </a:solidFill>
            <a:ln>
              <a:noFill/>
            </a:ln>
          </p:spPr>
        </p:sp>
        <p:sp>
          <p:nvSpPr>
            <p:cNvPr id="345" name="Google Shape;345;p17"/>
            <p:cNvSpPr txBox="1"/>
            <p:nvPr/>
          </p:nvSpPr>
          <p:spPr>
            <a:xfrm>
              <a:off x="0" y="76200"/>
              <a:ext cx="20421724" cy="2055180"/>
            </a:xfrm>
            <a:prstGeom prst="rect">
              <a:avLst/>
            </a:prstGeom>
            <a:noFill/>
            <a:ln>
              <a:noFill/>
            </a:ln>
          </p:spPr>
          <p:txBody>
            <a:bodyPr anchorCtr="0" anchor="b" bIns="0" lIns="0" spcFirstLastPara="1" rIns="0" wrap="square" tIns="0">
              <a:noAutofit/>
            </a:bodyPr>
            <a:lstStyle/>
            <a:p>
              <a:pPr indent="0" lvl="0" marL="0" marR="0" rtl="0" algn="l">
                <a:lnSpc>
                  <a:spcPct val="108004"/>
                </a:lnSpc>
                <a:spcBef>
                  <a:spcPts val="0"/>
                </a:spcBef>
                <a:spcAft>
                  <a:spcPts val="0"/>
                </a:spcAft>
                <a:buClr>
                  <a:srgbClr val="000000"/>
                </a:buClr>
                <a:buSzPts val="6209"/>
                <a:buFont typeface="Arial"/>
                <a:buNone/>
              </a:pPr>
              <a:r>
                <a:rPr b="0" i="0" lang="en-US" sz="6209" u="none" cap="none" strike="noStrike">
                  <a:solidFill>
                    <a:srgbClr val="FFFFFF"/>
                  </a:solidFill>
                  <a:latin typeface="PT Sans"/>
                  <a:ea typeface="PT Sans"/>
                  <a:cs typeface="PT Sans"/>
                  <a:sym typeface="PT Sans"/>
                </a:rPr>
                <a:t>Recursividad Simple y Recursividad de Cola</a:t>
              </a:r>
              <a:endParaRPr b="0" i="0" sz="1400" u="none" cap="none" strike="noStrike">
                <a:solidFill>
                  <a:srgbClr val="000000"/>
                </a:solidFill>
                <a:latin typeface="Arial"/>
                <a:ea typeface="Arial"/>
                <a:cs typeface="Arial"/>
                <a:sym typeface="Arial"/>
              </a:endParaRPr>
            </a:p>
          </p:txBody>
        </p:sp>
      </p:grpSp>
      <p:sp>
        <p:nvSpPr>
          <p:cNvPr id="346" name="Google Shape;346;p17"/>
          <p:cNvSpPr txBox="1"/>
          <p:nvPr/>
        </p:nvSpPr>
        <p:spPr>
          <a:xfrm>
            <a:off x="1741446" y="8583988"/>
            <a:ext cx="15088194" cy="68438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Clr>
                <a:srgbClr val="000000"/>
              </a:buClr>
              <a:buSzPts val="3300"/>
              <a:buFont typeface="Arial"/>
              <a:buNone/>
            </a:pPr>
            <a:r>
              <a:rPr b="0" i="0" lang="en-US" sz="3300" u="none" cap="none" strike="noStrike">
                <a:solidFill>
                  <a:srgbClr val="D7F0F6"/>
                </a:solidFill>
                <a:latin typeface="PT Sans"/>
                <a:ea typeface="PT Sans"/>
                <a:cs typeface="PT Sans"/>
                <a:sym typeface="PT Sans"/>
              </a:rPr>
              <a:t>Recursividad Simple, Recursividad de Cola</a:t>
            </a:r>
            <a:endParaRPr b="0" i="0" sz="1400" u="none" cap="none" strike="noStrike">
              <a:solidFill>
                <a:srgbClr val="000000"/>
              </a:solidFill>
              <a:latin typeface="Arial"/>
              <a:ea typeface="Arial"/>
              <a:cs typeface="Arial"/>
              <a:sym typeface="Arial"/>
            </a:endParaRPr>
          </a:p>
        </p:txBody>
      </p:sp>
      <p:sp>
        <p:nvSpPr>
          <p:cNvPr descr="Recursividad | Aprende Programación Competitiva" id="347" name="Google Shape;347;p17"/>
          <p:cNvSpPr/>
          <p:nvPr/>
        </p:nvSpPr>
        <p:spPr>
          <a:xfrm>
            <a:off x="4452976" y="726948"/>
            <a:ext cx="10259854" cy="5335142"/>
          </a:xfrm>
          <a:custGeom>
            <a:rect b="b" l="l" r="r" t="t"/>
            <a:pathLst>
              <a:path extrusionOk="0" h="7113524" w="13679805">
                <a:moveTo>
                  <a:pt x="0" y="0"/>
                </a:moveTo>
                <a:lnTo>
                  <a:pt x="13679805" y="0"/>
                </a:lnTo>
                <a:lnTo>
                  <a:pt x="13679805" y="7113524"/>
                </a:lnTo>
                <a:lnTo>
                  <a:pt x="0" y="7113524"/>
                </a:lnTo>
                <a:lnTo>
                  <a:pt x="0" y="0"/>
                </a:lnTo>
                <a:close/>
              </a:path>
            </a:pathLst>
          </a:custGeom>
          <a:blipFill rotWithShape="1">
            <a:blip r:embed="rId3">
              <a:alphaModFix/>
            </a:blip>
            <a:stretch>
              <a:fillRect b="0" l="0" r="-153" t="0"/>
            </a:stretch>
          </a:blipFill>
          <a:ln>
            <a:noFill/>
          </a:ln>
        </p:spPr>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18"/>
          <p:cNvSpPr/>
          <p:nvPr/>
        </p:nvSpPr>
        <p:spPr>
          <a:xfrm>
            <a:off x="1" y="1138428"/>
            <a:ext cx="5165408" cy="7996428"/>
          </a:xfrm>
          <a:custGeom>
            <a:rect b="b" l="l" r="r" t="t"/>
            <a:pathLst>
              <a:path extrusionOk="0" h="10661904" w="6887210">
                <a:moveTo>
                  <a:pt x="0" y="0"/>
                </a:moveTo>
                <a:lnTo>
                  <a:pt x="6887210" y="0"/>
                </a:lnTo>
                <a:lnTo>
                  <a:pt x="6887210" y="10661904"/>
                </a:lnTo>
                <a:lnTo>
                  <a:pt x="0" y="10661904"/>
                </a:lnTo>
                <a:close/>
              </a:path>
            </a:pathLst>
          </a:custGeom>
          <a:solidFill>
            <a:srgbClr val="40BAD2"/>
          </a:solidFill>
          <a:ln>
            <a:noFill/>
          </a:ln>
        </p:spPr>
      </p:sp>
      <p:sp>
        <p:nvSpPr>
          <p:cNvPr id="353" name="Google Shape;353;p18"/>
          <p:cNvSpPr/>
          <p:nvPr/>
        </p:nvSpPr>
        <p:spPr>
          <a:xfrm>
            <a:off x="17723796" y="1138428"/>
            <a:ext cx="576072" cy="7996428"/>
          </a:xfrm>
          <a:custGeom>
            <a:rect b="b" l="l" r="r" t="t"/>
            <a:pathLst>
              <a:path extrusionOk="0" h="10661904" w="768096">
                <a:moveTo>
                  <a:pt x="0" y="0"/>
                </a:moveTo>
                <a:lnTo>
                  <a:pt x="768096" y="0"/>
                </a:lnTo>
                <a:lnTo>
                  <a:pt x="768096" y="10661904"/>
                </a:lnTo>
                <a:lnTo>
                  <a:pt x="0" y="10661904"/>
                </a:lnTo>
                <a:close/>
              </a:path>
            </a:pathLst>
          </a:custGeom>
          <a:solidFill>
            <a:srgbClr val="C8C8C8">
              <a:alpha val="24706"/>
            </a:srgbClr>
          </a:solidFill>
          <a:ln>
            <a:noFill/>
          </a:ln>
        </p:spPr>
      </p:sp>
      <p:sp>
        <p:nvSpPr>
          <p:cNvPr id="354" name="Google Shape;354;p18"/>
          <p:cNvSpPr/>
          <p:nvPr/>
        </p:nvSpPr>
        <p:spPr>
          <a:xfrm>
            <a:off x="0" y="0"/>
            <a:ext cx="18288000" cy="10287000"/>
          </a:xfrm>
          <a:custGeom>
            <a:rect b="b" l="l" r="r" t="t"/>
            <a:pathLst>
              <a:path extrusionOk="0" h="13716000" w="24384000">
                <a:moveTo>
                  <a:pt x="0" y="0"/>
                </a:moveTo>
                <a:lnTo>
                  <a:pt x="24384000" y="0"/>
                </a:lnTo>
                <a:lnTo>
                  <a:pt x="24384000" y="13716000"/>
                </a:lnTo>
                <a:lnTo>
                  <a:pt x="0" y="13716000"/>
                </a:lnTo>
                <a:close/>
              </a:path>
            </a:pathLst>
          </a:custGeom>
          <a:solidFill>
            <a:srgbClr val="FFFFFF"/>
          </a:solidFill>
          <a:ln>
            <a:noFill/>
          </a:ln>
        </p:spPr>
      </p:sp>
      <p:grpSp>
        <p:nvGrpSpPr>
          <p:cNvPr id="355" name="Google Shape;355;p18"/>
          <p:cNvGrpSpPr/>
          <p:nvPr/>
        </p:nvGrpSpPr>
        <p:grpSpPr>
          <a:xfrm>
            <a:off x="2308674" y="1296162"/>
            <a:ext cx="4610871" cy="7680958"/>
            <a:chOff x="0" y="0"/>
            <a:chExt cx="6147828" cy="10241278"/>
          </a:xfrm>
        </p:grpSpPr>
        <p:sp>
          <p:nvSpPr>
            <p:cNvPr id="356" name="Google Shape;356;p18"/>
            <p:cNvSpPr/>
            <p:nvPr/>
          </p:nvSpPr>
          <p:spPr>
            <a:xfrm>
              <a:off x="0" y="0"/>
              <a:ext cx="6147828" cy="10241278"/>
            </a:xfrm>
            <a:custGeom>
              <a:rect b="b" l="l" r="r" t="t"/>
              <a:pathLst>
                <a:path extrusionOk="0" h="10241278" w="6147828">
                  <a:moveTo>
                    <a:pt x="0" y="0"/>
                  </a:moveTo>
                  <a:lnTo>
                    <a:pt x="6147828" y="0"/>
                  </a:lnTo>
                  <a:lnTo>
                    <a:pt x="6147828" y="10241278"/>
                  </a:lnTo>
                  <a:lnTo>
                    <a:pt x="0" y="10241278"/>
                  </a:lnTo>
                  <a:close/>
                </a:path>
              </a:pathLst>
            </a:custGeom>
            <a:solidFill>
              <a:srgbClr val="000000">
                <a:alpha val="0"/>
              </a:srgbClr>
            </a:solidFill>
            <a:ln>
              <a:noFill/>
            </a:ln>
          </p:spPr>
        </p:sp>
        <p:sp>
          <p:nvSpPr>
            <p:cNvPr id="357" name="Google Shape;357;p18"/>
            <p:cNvSpPr txBox="1"/>
            <p:nvPr/>
          </p:nvSpPr>
          <p:spPr>
            <a:xfrm>
              <a:off x="0" y="47625"/>
              <a:ext cx="6147828" cy="10193653"/>
            </a:xfrm>
            <a:prstGeom prst="rect">
              <a:avLst/>
            </a:prstGeom>
            <a:noFill/>
            <a:ln>
              <a:noFill/>
            </a:ln>
          </p:spPr>
          <p:txBody>
            <a:bodyPr anchorCtr="0" anchor="ctr" bIns="0" lIns="0" spcFirstLastPara="1" rIns="0" wrap="square" tIns="0">
              <a:noAutofit/>
            </a:bodyPr>
            <a:lstStyle/>
            <a:p>
              <a:pPr indent="0" lvl="0" marL="0" marR="0" rtl="0" algn="r">
                <a:lnSpc>
                  <a:spcPct val="108000"/>
                </a:lnSpc>
                <a:spcBef>
                  <a:spcPts val="0"/>
                </a:spcBef>
                <a:spcAft>
                  <a:spcPts val="0"/>
                </a:spcAft>
                <a:buClr>
                  <a:srgbClr val="000000"/>
                </a:buClr>
                <a:buSzPts val="5400"/>
                <a:buFont typeface="Arial"/>
                <a:buNone/>
              </a:pPr>
              <a:r>
                <a:rPr b="0" i="0" lang="en-US" sz="5400" u="none" cap="none" strike="noStrike">
                  <a:solidFill>
                    <a:srgbClr val="262626"/>
                  </a:solidFill>
                  <a:latin typeface="PT Sans"/>
                  <a:ea typeface="PT Sans"/>
                  <a:cs typeface="PT Sans"/>
                  <a:sym typeface="PT Sans"/>
                </a:rPr>
                <a:t>Recursividad Simple</a:t>
              </a:r>
              <a:endParaRPr b="0" i="0" sz="1400" u="none" cap="none" strike="noStrike">
                <a:solidFill>
                  <a:srgbClr val="000000"/>
                </a:solidFill>
                <a:latin typeface="Arial"/>
                <a:ea typeface="Arial"/>
                <a:cs typeface="Arial"/>
                <a:sym typeface="Arial"/>
              </a:endParaRPr>
            </a:p>
          </p:txBody>
        </p:sp>
      </p:grpSp>
      <p:sp>
        <p:nvSpPr>
          <p:cNvPr id="358" name="Google Shape;358;p18"/>
          <p:cNvSpPr/>
          <p:nvPr/>
        </p:nvSpPr>
        <p:spPr>
          <a:xfrm>
            <a:off x="0" y="1142998"/>
            <a:ext cx="1930432" cy="8001000"/>
          </a:xfrm>
          <a:custGeom>
            <a:rect b="b" l="l" r="r" t="t"/>
            <a:pathLst>
              <a:path extrusionOk="0" h="10668000" w="2573909">
                <a:moveTo>
                  <a:pt x="0" y="0"/>
                </a:moveTo>
                <a:lnTo>
                  <a:pt x="2573909" y="0"/>
                </a:lnTo>
                <a:lnTo>
                  <a:pt x="2573909" y="10668000"/>
                </a:lnTo>
                <a:lnTo>
                  <a:pt x="0" y="10668000"/>
                </a:lnTo>
                <a:close/>
              </a:path>
            </a:pathLst>
          </a:custGeom>
          <a:solidFill>
            <a:srgbClr val="40BAD2"/>
          </a:solidFill>
          <a:ln>
            <a:noFill/>
          </a:ln>
        </p:spPr>
      </p:sp>
      <p:cxnSp>
        <p:nvCxnSpPr>
          <p:cNvPr id="359" name="Google Shape;359;p18"/>
          <p:cNvCxnSpPr/>
          <p:nvPr/>
        </p:nvCxnSpPr>
        <p:spPr>
          <a:xfrm rot="5383826">
            <a:off x="5402167" y="5143501"/>
            <a:ext cx="4049053" cy="0"/>
          </a:xfrm>
          <a:prstGeom prst="straightConnector1">
            <a:avLst/>
          </a:prstGeom>
          <a:noFill/>
          <a:ln cap="rnd" cmpd="sng" w="9525">
            <a:solidFill>
              <a:srgbClr val="7F7F7F"/>
            </a:solidFill>
            <a:prstDash val="solid"/>
            <a:round/>
            <a:headEnd len="sm" w="sm" type="none"/>
            <a:tailEnd len="sm" w="sm" type="none"/>
          </a:ln>
        </p:spPr>
      </p:cxnSp>
      <p:grpSp>
        <p:nvGrpSpPr>
          <p:cNvPr id="360" name="Google Shape;360;p18"/>
          <p:cNvGrpSpPr/>
          <p:nvPr/>
        </p:nvGrpSpPr>
        <p:grpSpPr>
          <a:xfrm>
            <a:off x="7933844" y="1296162"/>
            <a:ext cx="8866015" cy="7680960"/>
            <a:chOff x="0" y="0"/>
            <a:chExt cx="11821354" cy="10241280"/>
          </a:xfrm>
        </p:grpSpPr>
        <p:sp>
          <p:nvSpPr>
            <p:cNvPr id="361" name="Google Shape;361;p18"/>
            <p:cNvSpPr/>
            <p:nvPr/>
          </p:nvSpPr>
          <p:spPr>
            <a:xfrm>
              <a:off x="0" y="0"/>
              <a:ext cx="11821354" cy="10241280"/>
            </a:xfrm>
            <a:custGeom>
              <a:rect b="b" l="l" r="r" t="t"/>
              <a:pathLst>
                <a:path extrusionOk="0" h="10241280" w="11821354">
                  <a:moveTo>
                    <a:pt x="0" y="0"/>
                  </a:moveTo>
                  <a:lnTo>
                    <a:pt x="11821354" y="0"/>
                  </a:lnTo>
                  <a:lnTo>
                    <a:pt x="11821354" y="10241280"/>
                  </a:lnTo>
                  <a:lnTo>
                    <a:pt x="0" y="10241280"/>
                  </a:lnTo>
                  <a:close/>
                </a:path>
              </a:pathLst>
            </a:custGeom>
            <a:solidFill>
              <a:srgbClr val="000000">
                <a:alpha val="0"/>
              </a:srgbClr>
            </a:solidFill>
            <a:ln>
              <a:noFill/>
            </a:ln>
          </p:spPr>
        </p:sp>
        <p:sp>
          <p:nvSpPr>
            <p:cNvPr id="362" name="Google Shape;362;p18"/>
            <p:cNvSpPr txBox="1"/>
            <p:nvPr/>
          </p:nvSpPr>
          <p:spPr>
            <a:xfrm>
              <a:off x="0" y="38100"/>
              <a:ext cx="11821354" cy="1020318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000000"/>
                </a:buClr>
                <a:buSzPts val="3000"/>
                <a:buFont typeface="Arial"/>
                <a:buNone/>
              </a:pPr>
              <a:r>
                <a:rPr b="0" i="0" lang="en-US" sz="3000" u="none" cap="none" strike="noStrike">
                  <a:solidFill>
                    <a:srgbClr val="595959"/>
                  </a:solidFill>
                  <a:latin typeface="PT Sans"/>
                  <a:ea typeface="PT Sans"/>
                  <a:cs typeface="PT Sans"/>
                  <a:sym typeface="PT Sans"/>
                </a:rPr>
                <a:t>¿QUÉ ES?, ¿PARA QUÉ SIRVE?, FUNCIONES, ¿CÓMO FUNCIONA?</a:t>
              </a:r>
              <a:endParaRPr b="0" i="0" sz="1400" u="none" cap="none" strike="noStrike">
                <a:solidFill>
                  <a:srgbClr val="000000"/>
                </a:solidFill>
                <a:latin typeface="Arial"/>
                <a:ea typeface="Arial"/>
                <a:cs typeface="Arial"/>
                <a:sym typeface="Arial"/>
              </a:endParaRPr>
            </a:p>
          </p:txBody>
        </p:sp>
      </p:grpSp>
      <p:sp>
        <p:nvSpPr>
          <p:cNvPr id="363" name="Google Shape;363;p18"/>
          <p:cNvSpPr/>
          <p:nvPr/>
        </p:nvSpPr>
        <p:spPr>
          <a:xfrm>
            <a:off x="17525982" y="1151738"/>
            <a:ext cx="762000" cy="7992237"/>
          </a:xfrm>
          <a:custGeom>
            <a:rect b="b" l="l" r="r" t="t"/>
            <a:pathLst>
              <a:path extrusionOk="0" h="10656316" w="1016000">
                <a:moveTo>
                  <a:pt x="0" y="0"/>
                </a:moveTo>
                <a:lnTo>
                  <a:pt x="1016000" y="0"/>
                </a:lnTo>
                <a:lnTo>
                  <a:pt x="1016000" y="10656316"/>
                </a:lnTo>
                <a:lnTo>
                  <a:pt x="0" y="10656316"/>
                </a:lnTo>
                <a:close/>
              </a:path>
            </a:pathLst>
          </a:custGeom>
          <a:solidFill>
            <a:srgbClr val="C8C8C8">
              <a:alpha val="24706"/>
            </a:srgbClr>
          </a:solidFill>
          <a:ln>
            <a:noFill/>
          </a:ln>
        </p:spPr>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19"/>
          <p:cNvSpPr/>
          <p:nvPr/>
        </p:nvSpPr>
        <p:spPr>
          <a:xfrm>
            <a:off x="1" y="1138428"/>
            <a:ext cx="5165408" cy="7996428"/>
          </a:xfrm>
          <a:custGeom>
            <a:rect b="b" l="l" r="r" t="t"/>
            <a:pathLst>
              <a:path extrusionOk="0" h="10661904" w="6887210">
                <a:moveTo>
                  <a:pt x="0" y="0"/>
                </a:moveTo>
                <a:lnTo>
                  <a:pt x="6887210" y="0"/>
                </a:lnTo>
                <a:lnTo>
                  <a:pt x="6887210" y="10661904"/>
                </a:lnTo>
                <a:lnTo>
                  <a:pt x="0" y="10661904"/>
                </a:lnTo>
                <a:close/>
              </a:path>
            </a:pathLst>
          </a:custGeom>
          <a:solidFill>
            <a:srgbClr val="40BAD2"/>
          </a:solidFill>
          <a:ln>
            <a:noFill/>
          </a:ln>
        </p:spPr>
      </p:sp>
      <p:sp>
        <p:nvSpPr>
          <p:cNvPr id="369" name="Google Shape;369;p19"/>
          <p:cNvSpPr/>
          <p:nvPr/>
        </p:nvSpPr>
        <p:spPr>
          <a:xfrm>
            <a:off x="17723796" y="1138428"/>
            <a:ext cx="576072" cy="7996428"/>
          </a:xfrm>
          <a:custGeom>
            <a:rect b="b" l="l" r="r" t="t"/>
            <a:pathLst>
              <a:path extrusionOk="0" h="10661904" w="768096">
                <a:moveTo>
                  <a:pt x="0" y="0"/>
                </a:moveTo>
                <a:lnTo>
                  <a:pt x="768096" y="0"/>
                </a:lnTo>
                <a:lnTo>
                  <a:pt x="768096" y="10661904"/>
                </a:lnTo>
                <a:lnTo>
                  <a:pt x="0" y="10661904"/>
                </a:lnTo>
                <a:close/>
              </a:path>
            </a:pathLst>
          </a:custGeom>
          <a:solidFill>
            <a:srgbClr val="C8C8C8">
              <a:alpha val="24706"/>
            </a:srgbClr>
          </a:solidFill>
          <a:ln>
            <a:noFill/>
          </a:ln>
        </p:spPr>
      </p:sp>
      <p:sp>
        <p:nvSpPr>
          <p:cNvPr id="370" name="Google Shape;370;p19"/>
          <p:cNvSpPr/>
          <p:nvPr/>
        </p:nvSpPr>
        <p:spPr>
          <a:xfrm>
            <a:off x="0" y="0"/>
            <a:ext cx="18288000" cy="10287000"/>
          </a:xfrm>
          <a:custGeom>
            <a:rect b="b" l="l" r="r" t="t"/>
            <a:pathLst>
              <a:path extrusionOk="0" h="13716000" w="24384000">
                <a:moveTo>
                  <a:pt x="0" y="0"/>
                </a:moveTo>
                <a:lnTo>
                  <a:pt x="24384000" y="0"/>
                </a:lnTo>
                <a:lnTo>
                  <a:pt x="24384000" y="13716000"/>
                </a:lnTo>
                <a:lnTo>
                  <a:pt x="0" y="13716000"/>
                </a:lnTo>
                <a:close/>
              </a:path>
            </a:pathLst>
          </a:custGeom>
          <a:solidFill>
            <a:srgbClr val="FFFFFF"/>
          </a:solidFill>
          <a:ln>
            <a:noFill/>
          </a:ln>
        </p:spPr>
      </p:sp>
      <p:grpSp>
        <p:nvGrpSpPr>
          <p:cNvPr id="371" name="Google Shape;371;p19"/>
          <p:cNvGrpSpPr/>
          <p:nvPr/>
        </p:nvGrpSpPr>
        <p:grpSpPr>
          <a:xfrm>
            <a:off x="2308674" y="1296162"/>
            <a:ext cx="4610871" cy="7680958"/>
            <a:chOff x="0" y="0"/>
            <a:chExt cx="6147828" cy="10241278"/>
          </a:xfrm>
        </p:grpSpPr>
        <p:sp>
          <p:nvSpPr>
            <p:cNvPr id="372" name="Google Shape;372;p19"/>
            <p:cNvSpPr/>
            <p:nvPr/>
          </p:nvSpPr>
          <p:spPr>
            <a:xfrm>
              <a:off x="0" y="0"/>
              <a:ext cx="6147828" cy="10241278"/>
            </a:xfrm>
            <a:custGeom>
              <a:rect b="b" l="l" r="r" t="t"/>
              <a:pathLst>
                <a:path extrusionOk="0" h="10241278" w="6147828">
                  <a:moveTo>
                    <a:pt x="0" y="0"/>
                  </a:moveTo>
                  <a:lnTo>
                    <a:pt x="6147828" y="0"/>
                  </a:lnTo>
                  <a:lnTo>
                    <a:pt x="6147828" y="10241278"/>
                  </a:lnTo>
                  <a:lnTo>
                    <a:pt x="0" y="10241278"/>
                  </a:lnTo>
                  <a:close/>
                </a:path>
              </a:pathLst>
            </a:custGeom>
            <a:solidFill>
              <a:srgbClr val="000000">
                <a:alpha val="0"/>
              </a:srgbClr>
            </a:solidFill>
            <a:ln>
              <a:noFill/>
            </a:ln>
          </p:spPr>
        </p:sp>
        <p:sp>
          <p:nvSpPr>
            <p:cNvPr id="373" name="Google Shape;373;p19"/>
            <p:cNvSpPr txBox="1"/>
            <p:nvPr/>
          </p:nvSpPr>
          <p:spPr>
            <a:xfrm>
              <a:off x="0" y="47625"/>
              <a:ext cx="6147828" cy="10193653"/>
            </a:xfrm>
            <a:prstGeom prst="rect">
              <a:avLst/>
            </a:prstGeom>
            <a:noFill/>
            <a:ln>
              <a:noFill/>
            </a:ln>
          </p:spPr>
          <p:txBody>
            <a:bodyPr anchorCtr="0" anchor="ctr" bIns="0" lIns="0" spcFirstLastPara="1" rIns="0" wrap="square" tIns="0">
              <a:noAutofit/>
            </a:bodyPr>
            <a:lstStyle/>
            <a:p>
              <a:pPr indent="0" lvl="0" marL="0" marR="0" rtl="0" algn="r">
                <a:lnSpc>
                  <a:spcPct val="108000"/>
                </a:lnSpc>
                <a:spcBef>
                  <a:spcPts val="0"/>
                </a:spcBef>
                <a:spcAft>
                  <a:spcPts val="0"/>
                </a:spcAft>
                <a:buClr>
                  <a:srgbClr val="000000"/>
                </a:buClr>
                <a:buSzPts val="5400"/>
                <a:buFont typeface="Arial"/>
                <a:buNone/>
              </a:pPr>
              <a:r>
                <a:rPr b="0" i="0" lang="en-US" sz="5400" u="none" cap="none" strike="noStrike">
                  <a:solidFill>
                    <a:srgbClr val="262626"/>
                  </a:solidFill>
                  <a:latin typeface="PT Sans"/>
                  <a:ea typeface="PT Sans"/>
                  <a:cs typeface="PT Sans"/>
                  <a:sym typeface="PT Sans"/>
                </a:rPr>
                <a:t>¿Qué es?</a:t>
              </a:r>
              <a:endParaRPr b="0" i="0" sz="1400" u="none" cap="none" strike="noStrike">
                <a:solidFill>
                  <a:srgbClr val="000000"/>
                </a:solidFill>
                <a:latin typeface="Arial"/>
                <a:ea typeface="Arial"/>
                <a:cs typeface="Arial"/>
                <a:sym typeface="Arial"/>
              </a:endParaRPr>
            </a:p>
          </p:txBody>
        </p:sp>
      </p:grpSp>
      <p:sp>
        <p:nvSpPr>
          <p:cNvPr id="374" name="Google Shape;374;p19"/>
          <p:cNvSpPr/>
          <p:nvPr/>
        </p:nvSpPr>
        <p:spPr>
          <a:xfrm>
            <a:off x="0" y="1142998"/>
            <a:ext cx="1930432" cy="8001000"/>
          </a:xfrm>
          <a:custGeom>
            <a:rect b="b" l="l" r="r" t="t"/>
            <a:pathLst>
              <a:path extrusionOk="0" h="10668000" w="2573909">
                <a:moveTo>
                  <a:pt x="0" y="0"/>
                </a:moveTo>
                <a:lnTo>
                  <a:pt x="2573909" y="0"/>
                </a:lnTo>
                <a:lnTo>
                  <a:pt x="2573909" y="10668000"/>
                </a:lnTo>
                <a:lnTo>
                  <a:pt x="0" y="10668000"/>
                </a:lnTo>
                <a:close/>
              </a:path>
            </a:pathLst>
          </a:custGeom>
          <a:solidFill>
            <a:srgbClr val="40BAD2"/>
          </a:solidFill>
          <a:ln>
            <a:noFill/>
          </a:ln>
        </p:spPr>
      </p:sp>
      <p:cxnSp>
        <p:nvCxnSpPr>
          <p:cNvPr id="375" name="Google Shape;375;p19"/>
          <p:cNvCxnSpPr/>
          <p:nvPr/>
        </p:nvCxnSpPr>
        <p:spPr>
          <a:xfrm rot="5383826">
            <a:off x="5402167" y="5143501"/>
            <a:ext cx="4049053" cy="0"/>
          </a:xfrm>
          <a:prstGeom prst="straightConnector1">
            <a:avLst/>
          </a:prstGeom>
          <a:noFill/>
          <a:ln cap="rnd" cmpd="sng" w="9525">
            <a:solidFill>
              <a:srgbClr val="7F7F7F"/>
            </a:solidFill>
            <a:prstDash val="solid"/>
            <a:round/>
            <a:headEnd len="sm" w="sm" type="none"/>
            <a:tailEnd len="sm" w="sm" type="none"/>
          </a:ln>
        </p:spPr>
      </p:cxnSp>
      <p:grpSp>
        <p:nvGrpSpPr>
          <p:cNvPr id="376" name="Google Shape;376;p19"/>
          <p:cNvGrpSpPr/>
          <p:nvPr/>
        </p:nvGrpSpPr>
        <p:grpSpPr>
          <a:xfrm>
            <a:off x="7933844" y="1296162"/>
            <a:ext cx="8866015" cy="7680960"/>
            <a:chOff x="0" y="0"/>
            <a:chExt cx="11821354" cy="10241280"/>
          </a:xfrm>
        </p:grpSpPr>
        <p:sp>
          <p:nvSpPr>
            <p:cNvPr id="377" name="Google Shape;377;p19"/>
            <p:cNvSpPr/>
            <p:nvPr/>
          </p:nvSpPr>
          <p:spPr>
            <a:xfrm>
              <a:off x="0" y="0"/>
              <a:ext cx="11821354" cy="10241280"/>
            </a:xfrm>
            <a:custGeom>
              <a:rect b="b" l="l" r="r" t="t"/>
              <a:pathLst>
                <a:path extrusionOk="0" h="10241280" w="11821354">
                  <a:moveTo>
                    <a:pt x="0" y="0"/>
                  </a:moveTo>
                  <a:lnTo>
                    <a:pt x="11821354" y="0"/>
                  </a:lnTo>
                  <a:lnTo>
                    <a:pt x="11821354" y="10241280"/>
                  </a:lnTo>
                  <a:lnTo>
                    <a:pt x="0" y="10241280"/>
                  </a:lnTo>
                  <a:close/>
                </a:path>
              </a:pathLst>
            </a:custGeom>
            <a:solidFill>
              <a:srgbClr val="000000">
                <a:alpha val="0"/>
              </a:srgbClr>
            </a:solidFill>
            <a:ln>
              <a:noFill/>
            </a:ln>
          </p:spPr>
        </p:sp>
        <p:sp>
          <p:nvSpPr>
            <p:cNvPr id="378" name="Google Shape;378;p19"/>
            <p:cNvSpPr txBox="1"/>
            <p:nvPr/>
          </p:nvSpPr>
          <p:spPr>
            <a:xfrm>
              <a:off x="0" y="38100"/>
              <a:ext cx="11821354" cy="1020318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000000"/>
                </a:buClr>
                <a:buSzPts val="3000"/>
                <a:buFont typeface="Arial"/>
                <a:buNone/>
              </a:pPr>
              <a:r>
                <a:rPr b="0" i="0" lang="en-US" sz="3000" u="none" cap="none" strike="noStrike">
                  <a:solidFill>
                    <a:srgbClr val="595959"/>
                  </a:solidFill>
                  <a:latin typeface="PT Sans"/>
                  <a:ea typeface="PT Sans"/>
                  <a:cs typeface="PT Sans"/>
                  <a:sym typeface="PT Sans"/>
                </a:rPr>
                <a:t>La recursividad simple es una técnica de programación en la que un método se llama a sí mismo para resolver un problema. Divide el problema en subproblemas más pequeños hasta llegar a un caso base que puede resolverse directamente.</a:t>
              </a:r>
              <a:endParaRPr b="0" i="0" sz="1400" u="none" cap="none" strike="noStrike">
                <a:solidFill>
                  <a:srgbClr val="000000"/>
                </a:solidFill>
                <a:latin typeface="Arial"/>
                <a:ea typeface="Arial"/>
                <a:cs typeface="Arial"/>
                <a:sym typeface="Arial"/>
              </a:endParaRPr>
            </a:p>
          </p:txBody>
        </p:sp>
      </p:grpSp>
      <p:sp>
        <p:nvSpPr>
          <p:cNvPr id="379" name="Google Shape;379;p19"/>
          <p:cNvSpPr/>
          <p:nvPr/>
        </p:nvSpPr>
        <p:spPr>
          <a:xfrm>
            <a:off x="17525982" y="1151738"/>
            <a:ext cx="762000" cy="7992237"/>
          </a:xfrm>
          <a:custGeom>
            <a:rect b="b" l="l" r="r" t="t"/>
            <a:pathLst>
              <a:path extrusionOk="0" h="10656316" w="1016000">
                <a:moveTo>
                  <a:pt x="0" y="0"/>
                </a:moveTo>
                <a:lnTo>
                  <a:pt x="1016000" y="0"/>
                </a:lnTo>
                <a:lnTo>
                  <a:pt x="1016000" y="10656316"/>
                </a:lnTo>
                <a:lnTo>
                  <a:pt x="0" y="10656316"/>
                </a:lnTo>
                <a:close/>
              </a:path>
            </a:pathLst>
          </a:custGeom>
          <a:solidFill>
            <a:srgbClr val="C8C8C8">
              <a:alpha val="24706"/>
            </a:srgbClr>
          </a:solidFill>
          <a:ln>
            <a:noFill/>
          </a:ln>
        </p:spPr>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20"/>
          <p:cNvSpPr/>
          <p:nvPr/>
        </p:nvSpPr>
        <p:spPr>
          <a:xfrm>
            <a:off x="1" y="1138428"/>
            <a:ext cx="5165408" cy="7996428"/>
          </a:xfrm>
          <a:custGeom>
            <a:rect b="b" l="l" r="r" t="t"/>
            <a:pathLst>
              <a:path extrusionOk="0" h="10661904" w="6887210">
                <a:moveTo>
                  <a:pt x="0" y="0"/>
                </a:moveTo>
                <a:lnTo>
                  <a:pt x="6887210" y="0"/>
                </a:lnTo>
                <a:lnTo>
                  <a:pt x="6887210" y="10661904"/>
                </a:lnTo>
                <a:lnTo>
                  <a:pt x="0" y="10661904"/>
                </a:lnTo>
                <a:close/>
              </a:path>
            </a:pathLst>
          </a:custGeom>
          <a:solidFill>
            <a:srgbClr val="40BAD2"/>
          </a:solidFill>
          <a:ln>
            <a:noFill/>
          </a:ln>
        </p:spPr>
      </p:sp>
      <p:sp>
        <p:nvSpPr>
          <p:cNvPr id="385" name="Google Shape;385;p20"/>
          <p:cNvSpPr/>
          <p:nvPr/>
        </p:nvSpPr>
        <p:spPr>
          <a:xfrm>
            <a:off x="17723796" y="1138428"/>
            <a:ext cx="576072" cy="7996428"/>
          </a:xfrm>
          <a:custGeom>
            <a:rect b="b" l="l" r="r" t="t"/>
            <a:pathLst>
              <a:path extrusionOk="0" h="10661904" w="768096">
                <a:moveTo>
                  <a:pt x="0" y="0"/>
                </a:moveTo>
                <a:lnTo>
                  <a:pt x="768096" y="0"/>
                </a:lnTo>
                <a:lnTo>
                  <a:pt x="768096" y="10661904"/>
                </a:lnTo>
                <a:lnTo>
                  <a:pt x="0" y="10661904"/>
                </a:lnTo>
                <a:close/>
              </a:path>
            </a:pathLst>
          </a:custGeom>
          <a:solidFill>
            <a:srgbClr val="C8C8C8">
              <a:alpha val="24706"/>
            </a:srgbClr>
          </a:solidFill>
          <a:ln>
            <a:noFill/>
          </a:ln>
        </p:spPr>
      </p:sp>
      <p:sp>
        <p:nvSpPr>
          <p:cNvPr id="386" name="Google Shape;386;p20"/>
          <p:cNvSpPr/>
          <p:nvPr/>
        </p:nvSpPr>
        <p:spPr>
          <a:xfrm>
            <a:off x="0" y="0"/>
            <a:ext cx="18288000" cy="10287000"/>
          </a:xfrm>
          <a:custGeom>
            <a:rect b="b" l="l" r="r" t="t"/>
            <a:pathLst>
              <a:path extrusionOk="0" h="13716000" w="24384000">
                <a:moveTo>
                  <a:pt x="0" y="0"/>
                </a:moveTo>
                <a:lnTo>
                  <a:pt x="24384000" y="0"/>
                </a:lnTo>
                <a:lnTo>
                  <a:pt x="24384000" y="13716000"/>
                </a:lnTo>
                <a:lnTo>
                  <a:pt x="0" y="13716000"/>
                </a:lnTo>
                <a:close/>
              </a:path>
            </a:pathLst>
          </a:custGeom>
          <a:solidFill>
            <a:srgbClr val="FFFFFF"/>
          </a:solidFill>
          <a:ln>
            <a:noFill/>
          </a:ln>
        </p:spPr>
      </p:sp>
      <p:sp>
        <p:nvSpPr>
          <p:cNvPr id="387" name="Google Shape;387;p20"/>
          <p:cNvSpPr/>
          <p:nvPr/>
        </p:nvSpPr>
        <p:spPr>
          <a:xfrm>
            <a:off x="11775180" y="1135988"/>
            <a:ext cx="6512814" cy="7993952"/>
          </a:xfrm>
          <a:custGeom>
            <a:rect b="b" l="l" r="r" t="t"/>
            <a:pathLst>
              <a:path extrusionOk="0" h="10658602" w="8683752">
                <a:moveTo>
                  <a:pt x="0" y="0"/>
                </a:moveTo>
                <a:lnTo>
                  <a:pt x="8683752" y="0"/>
                </a:lnTo>
                <a:lnTo>
                  <a:pt x="8683752" y="10658602"/>
                </a:lnTo>
                <a:lnTo>
                  <a:pt x="0" y="10658602"/>
                </a:lnTo>
                <a:close/>
              </a:path>
            </a:pathLst>
          </a:custGeom>
          <a:solidFill>
            <a:srgbClr val="40BAD2"/>
          </a:solidFill>
          <a:ln>
            <a:noFill/>
          </a:ln>
        </p:spPr>
      </p:sp>
      <p:grpSp>
        <p:nvGrpSpPr>
          <p:cNvPr id="388" name="Google Shape;388;p20"/>
          <p:cNvGrpSpPr/>
          <p:nvPr/>
        </p:nvGrpSpPr>
        <p:grpSpPr>
          <a:xfrm>
            <a:off x="12242085" y="1619655"/>
            <a:ext cx="5482286" cy="2290866"/>
            <a:chOff x="0" y="0"/>
            <a:chExt cx="7309714" cy="3054488"/>
          </a:xfrm>
        </p:grpSpPr>
        <p:sp>
          <p:nvSpPr>
            <p:cNvPr id="389" name="Google Shape;389;p20"/>
            <p:cNvSpPr/>
            <p:nvPr/>
          </p:nvSpPr>
          <p:spPr>
            <a:xfrm>
              <a:off x="0" y="0"/>
              <a:ext cx="7309714" cy="3054488"/>
            </a:xfrm>
            <a:custGeom>
              <a:rect b="b" l="l" r="r" t="t"/>
              <a:pathLst>
                <a:path extrusionOk="0" h="3054488" w="7309714">
                  <a:moveTo>
                    <a:pt x="0" y="0"/>
                  </a:moveTo>
                  <a:lnTo>
                    <a:pt x="7309714" y="0"/>
                  </a:lnTo>
                  <a:lnTo>
                    <a:pt x="7309714" y="3054488"/>
                  </a:lnTo>
                  <a:lnTo>
                    <a:pt x="0" y="3054488"/>
                  </a:lnTo>
                  <a:close/>
                </a:path>
              </a:pathLst>
            </a:custGeom>
            <a:solidFill>
              <a:srgbClr val="000000">
                <a:alpha val="0"/>
              </a:srgbClr>
            </a:solidFill>
            <a:ln>
              <a:noFill/>
            </a:ln>
          </p:spPr>
        </p:sp>
        <p:sp>
          <p:nvSpPr>
            <p:cNvPr id="390" name="Google Shape;390;p20"/>
            <p:cNvSpPr txBox="1"/>
            <p:nvPr/>
          </p:nvSpPr>
          <p:spPr>
            <a:xfrm>
              <a:off x="0" y="57150"/>
              <a:ext cx="7309714" cy="2997338"/>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000000"/>
                </a:buClr>
                <a:buSzPts val="4800"/>
                <a:buFont typeface="Arial"/>
                <a:buNone/>
              </a:pPr>
              <a:r>
                <a:rPr b="0" i="0" lang="en-US" sz="4800" u="none" cap="none" strike="noStrike">
                  <a:solidFill>
                    <a:srgbClr val="FFFFFF"/>
                  </a:solidFill>
                  <a:latin typeface="PT Sans"/>
                  <a:ea typeface="PT Sans"/>
                  <a:cs typeface="PT Sans"/>
                  <a:sym typeface="PT Sans"/>
                </a:rPr>
                <a:t>¿Para qué sirve?</a:t>
              </a:r>
              <a:endParaRPr b="0" i="0" sz="1400" u="none" cap="none" strike="noStrike">
                <a:solidFill>
                  <a:srgbClr val="000000"/>
                </a:solidFill>
                <a:latin typeface="Arial"/>
                <a:ea typeface="Arial"/>
                <a:cs typeface="Arial"/>
                <a:sym typeface="Arial"/>
              </a:endParaRPr>
            </a:p>
          </p:txBody>
        </p:sp>
      </p:grpSp>
      <p:sp>
        <p:nvSpPr>
          <p:cNvPr id="391" name="Google Shape;391;p20"/>
          <p:cNvSpPr/>
          <p:nvPr/>
        </p:nvSpPr>
        <p:spPr>
          <a:xfrm>
            <a:off x="0" y="1138428"/>
            <a:ext cx="576072" cy="7996428"/>
          </a:xfrm>
          <a:custGeom>
            <a:rect b="b" l="l" r="r" t="t"/>
            <a:pathLst>
              <a:path extrusionOk="0" h="10661904" w="768096">
                <a:moveTo>
                  <a:pt x="0" y="0"/>
                </a:moveTo>
                <a:lnTo>
                  <a:pt x="768096" y="0"/>
                </a:lnTo>
                <a:lnTo>
                  <a:pt x="768096" y="10661904"/>
                </a:lnTo>
                <a:lnTo>
                  <a:pt x="0" y="10661904"/>
                </a:lnTo>
                <a:close/>
              </a:path>
            </a:pathLst>
          </a:custGeom>
          <a:solidFill>
            <a:srgbClr val="C8C8C8">
              <a:alpha val="24706"/>
            </a:srgbClr>
          </a:solidFill>
          <a:ln>
            <a:noFill/>
          </a:ln>
        </p:spPr>
      </p:sp>
      <p:sp>
        <p:nvSpPr>
          <p:cNvPr descr="Una fórmula de cálculo" id="392" name="Google Shape;392;p20"/>
          <p:cNvSpPr/>
          <p:nvPr/>
        </p:nvSpPr>
        <p:spPr>
          <a:xfrm>
            <a:off x="1296772" y="2380956"/>
            <a:ext cx="9751505" cy="5504021"/>
          </a:xfrm>
          <a:custGeom>
            <a:rect b="b" l="l" r="r" t="t"/>
            <a:pathLst>
              <a:path extrusionOk="0" h="7338695" w="13002006">
                <a:moveTo>
                  <a:pt x="0" y="0"/>
                </a:moveTo>
                <a:lnTo>
                  <a:pt x="13002006" y="0"/>
                </a:lnTo>
                <a:lnTo>
                  <a:pt x="13002006" y="7338695"/>
                </a:lnTo>
                <a:lnTo>
                  <a:pt x="0" y="7338695"/>
                </a:lnTo>
                <a:lnTo>
                  <a:pt x="0" y="0"/>
                </a:lnTo>
                <a:close/>
              </a:path>
            </a:pathLst>
          </a:custGeom>
          <a:blipFill rotWithShape="1">
            <a:blip r:embed="rId3">
              <a:alphaModFix/>
            </a:blip>
            <a:stretch>
              <a:fillRect b="-15965" l="0" r="-72" t="-2292"/>
            </a:stretch>
          </a:blipFill>
          <a:ln>
            <a:noFill/>
          </a:ln>
        </p:spPr>
      </p:sp>
      <p:sp>
        <p:nvSpPr>
          <p:cNvPr id="393" name="Google Shape;393;p20"/>
          <p:cNvSpPr txBox="1"/>
          <p:nvPr/>
        </p:nvSpPr>
        <p:spPr>
          <a:xfrm>
            <a:off x="12333510" y="3984796"/>
            <a:ext cx="5299436" cy="4616879"/>
          </a:xfrm>
          <a:prstGeom prst="rect">
            <a:avLst/>
          </a:prstGeom>
          <a:noFill/>
          <a:ln>
            <a:noFill/>
          </a:ln>
        </p:spPr>
        <p:txBody>
          <a:bodyPr anchorCtr="0" anchor="t" bIns="0" lIns="0" spcFirstLastPara="1" rIns="0" wrap="square" tIns="0">
            <a:spAutoFit/>
          </a:bodyPr>
          <a:lstStyle/>
          <a:p>
            <a:pPr indent="-217170" lvl="1" marL="434340" marR="0" rtl="0" algn="l">
              <a:lnSpc>
                <a:spcPct val="108000"/>
              </a:lnSpc>
              <a:spcBef>
                <a:spcPts val="0"/>
              </a:spcBef>
              <a:spcAft>
                <a:spcPts val="0"/>
              </a:spcAft>
              <a:buClr>
                <a:srgbClr val="FFFFFF"/>
              </a:buClr>
              <a:buSzPts val="2400"/>
              <a:buFont typeface="Arial"/>
              <a:buChar char="•"/>
            </a:pPr>
            <a:r>
              <a:rPr b="0" i="0" lang="en-US" sz="2400" u="none" cap="none" strike="noStrike">
                <a:solidFill>
                  <a:srgbClr val="FFFFFF"/>
                </a:solidFill>
                <a:latin typeface="PT Sans"/>
                <a:ea typeface="PT Sans"/>
                <a:cs typeface="PT Sans"/>
                <a:sym typeface="PT Sans"/>
              </a:rPr>
              <a:t>Resolver problemas que tienen una naturaleza recursiva (como factoriales, Fibonacci, etc.).</a:t>
            </a:r>
            <a:endParaRPr b="0" i="0" sz="1400" u="none" cap="none" strike="noStrike">
              <a:solidFill>
                <a:srgbClr val="000000"/>
              </a:solidFill>
              <a:latin typeface="Arial"/>
              <a:ea typeface="Arial"/>
              <a:cs typeface="Arial"/>
              <a:sym typeface="Arial"/>
            </a:endParaRPr>
          </a:p>
          <a:p>
            <a:pPr indent="-217170" lvl="1" marL="434340" marR="0" rtl="0" algn="l">
              <a:lnSpc>
                <a:spcPct val="108000"/>
              </a:lnSpc>
              <a:spcBef>
                <a:spcPts val="0"/>
              </a:spcBef>
              <a:spcAft>
                <a:spcPts val="0"/>
              </a:spcAft>
              <a:buClr>
                <a:srgbClr val="FFFFFF"/>
              </a:buClr>
              <a:buSzPts val="2400"/>
              <a:buFont typeface="Arial"/>
              <a:buChar char="•"/>
            </a:pPr>
            <a:r>
              <a:rPr b="0" i="0" lang="en-US" sz="2400" u="none" cap="none" strike="noStrike">
                <a:solidFill>
                  <a:srgbClr val="FFFFFF"/>
                </a:solidFill>
                <a:latin typeface="PT Sans"/>
                <a:ea typeface="PT Sans"/>
                <a:cs typeface="PT Sans"/>
                <a:sym typeface="PT Sans"/>
              </a:rPr>
              <a:t>Simplificar el código en algunos casos.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21"/>
          <p:cNvSpPr/>
          <p:nvPr/>
        </p:nvSpPr>
        <p:spPr>
          <a:xfrm>
            <a:off x="1" y="1138428"/>
            <a:ext cx="5165408" cy="7996428"/>
          </a:xfrm>
          <a:custGeom>
            <a:rect b="b" l="l" r="r" t="t"/>
            <a:pathLst>
              <a:path extrusionOk="0" h="10661904" w="6887210">
                <a:moveTo>
                  <a:pt x="0" y="0"/>
                </a:moveTo>
                <a:lnTo>
                  <a:pt x="6887210" y="0"/>
                </a:lnTo>
                <a:lnTo>
                  <a:pt x="6887210" y="10661904"/>
                </a:lnTo>
                <a:lnTo>
                  <a:pt x="0" y="10661904"/>
                </a:lnTo>
                <a:close/>
              </a:path>
            </a:pathLst>
          </a:custGeom>
          <a:solidFill>
            <a:srgbClr val="40BAD2"/>
          </a:solidFill>
          <a:ln>
            <a:noFill/>
          </a:ln>
        </p:spPr>
      </p:sp>
      <p:sp>
        <p:nvSpPr>
          <p:cNvPr id="399" name="Google Shape;399;p21"/>
          <p:cNvSpPr/>
          <p:nvPr/>
        </p:nvSpPr>
        <p:spPr>
          <a:xfrm>
            <a:off x="17723796" y="1138428"/>
            <a:ext cx="576072" cy="7996428"/>
          </a:xfrm>
          <a:custGeom>
            <a:rect b="b" l="l" r="r" t="t"/>
            <a:pathLst>
              <a:path extrusionOk="0" h="10661904" w="768096">
                <a:moveTo>
                  <a:pt x="0" y="0"/>
                </a:moveTo>
                <a:lnTo>
                  <a:pt x="768096" y="0"/>
                </a:lnTo>
                <a:lnTo>
                  <a:pt x="768096" y="10661904"/>
                </a:lnTo>
                <a:lnTo>
                  <a:pt x="0" y="10661904"/>
                </a:lnTo>
                <a:close/>
              </a:path>
            </a:pathLst>
          </a:custGeom>
          <a:solidFill>
            <a:srgbClr val="C8C8C8">
              <a:alpha val="24706"/>
            </a:srgbClr>
          </a:solidFill>
          <a:ln>
            <a:noFill/>
          </a:ln>
        </p:spPr>
      </p:sp>
      <p:sp>
        <p:nvSpPr>
          <p:cNvPr id="400" name="Google Shape;400;p21"/>
          <p:cNvSpPr/>
          <p:nvPr/>
        </p:nvSpPr>
        <p:spPr>
          <a:xfrm>
            <a:off x="0" y="0"/>
            <a:ext cx="18288000" cy="10287000"/>
          </a:xfrm>
          <a:custGeom>
            <a:rect b="b" l="l" r="r" t="t"/>
            <a:pathLst>
              <a:path extrusionOk="0" h="13716000" w="24384000">
                <a:moveTo>
                  <a:pt x="0" y="0"/>
                </a:moveTo>
                <a:lnTo>
                  <a:pt x="24384000" y="0"/>
                </a:lnTo>
                <a:lnTo>
                  <a:pt x="24384000" y="13716000"/>
                </a:lnTo>
                <a:lnTo>
                  <a:pt x="0" y="13716000"/>
                </a:lnTo>
                <a:close/>
              </a:path>
            </a:pathLst>
          </a:custGeom>
          <a:solidFill>
            <a:srgbClr val="FFFFFF"/>
          </a:solidFill>
          <a:ln>
            <a:noFill/>
          </a:ln>
        </p:spPr>
      </p:sp>
      <p:sp>
        <p:nvSpPr>
          <p:cNvPr id="401" name="Google Shape;401;p21"/>
          <p:cNvSpPr/>
          <p:nvPr/>
        </p:nvSpPr>
        <p:spPr>
          <a:xfrm>
            <a:off x="12964284" y="1135988"/>
            <a:ext cx="5323713" cy="7993952"/>
          </a:xfrm>
          <a:custGeom>
            <a:rect b="b" l="l" r="r" t="t"/>
            <a:pathLst>
              <a:path extrusionOk="0" h="10658602" w="7098284">
                <a:moveTo>
                  <a:pt x="0" y="0"/>
                </a:moveTo>
                <a:lnTo>
                  <a:pt x="7098284" y="0"/>
                </a:lnTo>
                <a:lnTo>
                  <a:pt x="7098284" y="10658602"/>
                </a:lnTo>
                <a:lnTo>
                  <a:pt x="0" y="10658602"/>
                </a:lnTo>
                <a:close/>
              </a:path>
            </a:pathLst>
          </a:custGeom>
          <a:solidFill>
            <a:srgbClr val="40BAD2"/>
          </a:solidFill>
          <a:ln>
            <a:noFill/>
          </a:ln>
        </p:spPr>
      </p:sp>
      <p:grpSp>
        <p:nvGrpSpPr>
          <p:cNvPr id="402" name="Google Shape;402;p21"/>
          <p:cNvGrpSpPr/>
          <p:nvPr/>
        </p:nvGrpSpPr>
        <p:grpSpPr>
          <a:xfrm>
            <a:off x="13343662" y="1685756"/>
            <a:ext cx="4421223" cy="6901775"/>
            <a:chOff x="0" y="0"/>
            <a:chExt cx="5894964" cy="9202366"/>
          </a:xfrm>
        </p:grpSpPr>
        <p:sp>
          <p:nvSpPr>
            <p:cNvPr id="403" name="Google Shape;403;p21"/>
            <p:cNvSpPr/>
            <p:nvPr/>
          </p:nvSpPr>
          <p:spPr>
            <a:xfrm>
              <a:off x="0" y="0"/>
              <a:ext cx="5894964" cy="9202366"/>
            </a:xfrm>
            <a:custGeom>
              <a:rect b="b" l="l" r="r" t="t"/>
              <a:pathLst>
                <a:path extrusionOk="0" h="9202366" w="5894964">
                  <a:moveTo>
                    <a:pt x="0" y="0"/>
                  </a:moveTo>
                  <a:lnTo>
                    <a:pt x="5894964" y="0"/>
                  </a:lnTo>
                  <a:lnTo>
                    <a:pt x="5894964" y="9202366"/>
                  </a:lnTo>
                  <a:lnTo>
                    <a:pt x="0" y="9202366"/>
                  </a:lnTo>
                  <a:close/>
                </a:path>
              </a:pathLst>
            </a:custGeom>
            <a:solidFill>
              <a:srgbClr val="000000">
                <a:alpha val="0"/>
              </a:srgbClr>
            </a:solidFill>
            <a:ln>
              <a:noFill/>
            </a:ln>
          </p:spPr>
        </p:sp>
        <p:sp>
          <p:nvSpPr>
            <p:cNvPr id="404" name="Google Shape;404;p21"/>
            <p:cNvSpPr txBox="1"/>
            <p:nvPr/>
          </p:nvSpPr>
          <p:spPr>
            <a:xfrm>
              <a:off x="0" y="47625"/>
              <a:ext cx="5894964" cy="9154741"/>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000000"/>
                </a:buClr>
                <a:buSzPts val="5400"/>
                <a:buFont typeface="Arial"/>
                <a:buNone/>
              </a:pPr>
              <a:r>
                <a:rPr b="0" i="0" lang="en-US" sz="5400" u="none" cap="none" strike="noStrike">
                  <a:solidFill>
                    <a:srgbClr val="FFFFFF"/>
                  </a:solidFill>
                  <a:latin typeface="PT Sans"/>
                  <a:ea typeface="PT Sans"/>
                  <a:cs typeface="PT Sans"/>
                  <a:sym typeface="PT Sans"/>
                </a:rPr>
                <a:t>Funciones</a:t>
              </a:r>
              <a:endParaRPr b="0" i="0" sz="1400" u="none" cap="none" strike="noStrike">
                <a:solidFill>
                  <a:srgbClr val="000000"/>
                </a:solidFill>
                <a:latin typeface="Arial"/>
                <a:ea typeface="Arial"/>
                <a:cs typeface="Arial"/>
                <a:sym typeface="Arial"/>
              </a:endParaRPr>
            </a:p>
          </p:txBody>
        </p:sp>
      </p:grpSp>
      <p:sp>
        <p:nvSpPr>
          <p:cNvPr id="405" name="Google Shape;405;p21"/>
          <p:cNvSpPr/>
          <p:nvPr/>
        </p:nvSpPr>
        <p:spPr>
          <a:xfrm>
            <a:off x="0" y="1138428"/>
            <a:ext cx="576072" cy="7996428"/>
          </a:xfrm>
          <a:custGeom>
            <a:rect b="b" l="l" r="r" t="t"/>
            <a:pathLst>
              <a:path extrusionOk="0" h="10661904" w="768096">
                <a:moveTo>
                  <a:pt x="0" y="0"/>
                </a:moveTo>
                <a:lnTo>
                  <a:pt x="768096" y="0"/>
                </a:lnTo>
                <a:lnTo>
                  <a:pt x="768096" y="10661904"/>
                </a:lnTo>
                <a:lnTo>
                  <a:pt x="0" y="10661904"/>
                </a:lnTo>
                <a:close/>
              </a:path>
            </a:pathLst>
          </a:custGeom>
          <a:solidFill>
            <a:srgbClr val="C8C8C8">
              <a:alpha val="24706"/>
            </a:srgbClr>
          </a:solidFill>
          <a:ln>
            <a:noFill/>
          </a:ln>
        </p:spPr>
      </p:sp>
      <p:sp>
        <p:nvSpPr>
          <p:cNvPr id="406" name="Google Shape;406;p21"/>
          <p:cNvSpPr/>
          <p:nvPr/>
        </p:nvSpPr>
        <p:spPr>
          <a:xfrm>
            <a:off x="2938972" y="3457270"/>
            <a:ext cx="1758601" cy="1758601"/>
          </a:xfrm>
          <a:custGeom>
            <a:rect b="b" l="l" r="r" t="t"/>
            <a:pathLst>
              <a:path extrusionOk="0" h="2344801" w="2344801">
                <a:moveTo>
                  <a:pt x="0" y="0"/>
                </a:moveTo>
                <a:lnTo>
                  <a:pt x="2344801" y="0"/>
                </a:lnTo>
                <a:lnTo>
                  <a:pt x="2344801" y="2344801"/>
                </a:lnTo>
                <a:lnTo>
                  <a:pt x="0" y="2344801"/>
                </a:lnTo>
                <a:close/>
              </a:path>
            </a:pathLst>
          </a:custGeom>
          <a:blipFill rotWithShape="1">
            <a:blip r:embed="rId3">
              <a:alphaModFix/>
            </a:blip>
            <a:stretch>
              <a:fillRect b="0" l="0" r="0" t="0"/>
            </a:stretch>
          </a:blipFill>
          <a:ln>
            <a:noFill/>
          </a:ln>
        </p:spPr>
      </p:sp>
      <p:sp>
        <p:nvSpPr>
          <p:cNvPr id="407" name="Google Shape;407;p21"/>
          <p:cNvSpPr txBox="1"/>
          <p:nvPr/>
        </p:nvSpPr>
        <p:spPr>
          <a:xfrm>
            <a:off x="1305999" y="5411822"/>
            <a:ext cx="5024531" cy="706055"/>
          </a:xfrm>
          <a:prstGeom prst="rect">
            <a:avLst/>
          </a:prstGeom>
          <a:noFill/>
          <a:ln>
            <a:noFill/>
          </a:ln>
        </p:spPr>
        <p:txBody>
          <a:bodyPr anchorCtr="0" anchor="t" bIns="0" lIns="0" spcFirstLastPara="1" rIns="0" wrap="square" tIns="0">
            <a:spAutoFit/>
          </a:bodyPr>
          <a:lstStyle/>
          <a:p>
            <a:pPr indent="0" lvl="0" marL="0" marR="0" rtl="0" algn="ctr">
              <a:lnSpc>
                <a:spcPct val="108000"/>
              </a:lnSpc>
              <a:spcBef>
                <a:spcPts val="0"/>
              </a:spcBef>
              <a:spcAft>
                <a:spcPts val="0"/>
              </a:spcAft>
              <a:buClr>
                <a:srgbClr val="000000"/>
              </a:buClr>
              <a:buSzPts val="5400"/>
              <a:buFont typeface="Arial"/>
              <a:buNone/>
            </a:pPr>
            <a:r>
              <a:rPr b="1" i="0" lang="en-US" sz="5400" u="none" cap="none" strike="noStrike">
                <a:solidFill>
                  <a:srgbClr val="000000"/>
                </a:solidFill>
                <a:latin typeface="PT Sans"/>
                <a:ea typeface="PT Sans"/>
                <a:cs typeface="PT Sans"/>
                <a:sym typeface="PT Sans"/>
              </a:rPr>
              <a:t>Caso base</a:t>
            </a:r>
            <a:endParaRPr b="0" i="0" sz="1400" u="none" cap="none" strike="noStrike">
              <a:solidFill>
                <a:srgbClr val="000000"/>
              </a:solidFill>
              <a:latin typeface="Arial"/>
              <a:ea typeface="Arial"/>
              <a:cs typeface="Arial"/>
              <a:sym typeface="Arial"/>
            </a:endParaRPr>
          </a:p>
        </p:txBody>
      </p:sp>
      <p:sp>
        <p:nvSpPr>
          <p:cNvPr id="408" name="Google Shape;408;p21"/>
          <p:cNvSpPr txBox="1"/>
          <p:nvPr/>
        </p:nvSpPr>
        <p:spPr>
          <a:xfrm>
            <a:off x="1305999" y="6215447"/>
            <a:ext cx="5024531" cy="691587"/>
          </a:xfrm>
          <a:prstGeom prst="rect">
            <a:avLst/>
          </a:prstGeom>
          <a:noFill/>
          <a:ln>
            <a:noFill/>
          </a:ln>
        </p:spPr>
        <p:txBody>
          <a:bodyPr anchorCtr="0" anchor="t" bIns="0" lIns="0" spcFirstLastPara="1" rIns="0" wrap="square" tIns="0">
            <a:spAutoFit/>
          </a:bodyPr>
          <a:lstStyle/>
          <a:p>
            <a:pPr indent="0" lvl="0" marL="0" marR="0" rtl="0" algn="ctr">
              <a:lnSpc>
                <a:spcPct val="108000"/>
              </a:lnSpc>
              <a:spcBef>
                <a:spcPts val="0"/>
              </a:spcBef>
              <a:spcAft>
                <a:spcPts val="0"/>
              </a:spcAft>
              <a:buClr>
                <a:srgbClr val="000000"/>
              </a:buClr>
              <a:buSzPts val="2550"/>
              <a:buFont typeface="Arial"/>
              <a:buNone/>
            </a:pPr>
            <a:r>
              <a:rPr b="0" i="0" lang="en-US" sz="2550" u="none" cap="none" strike="noStrike">
                <a:solidFill>
                  <a:srgbClr val="000000"/>
                </a:solidFill>
                <a:latin typeface="PT Sans"/>
                <a:ea typeface="PT Sans"/>
                <a:cs typeface="PT Sans"/>
                <a:sym typeface="PT Sans"/>
              </a:rPr>
              <a:t>Condición que detiene la recursión.</a:t>
            </a:r>
            <a:endParaRPr b="0" i="0" sz="1400" u="none" cap="none" strike="noStrike">
              <a:solidFill>
                <a:srgbClr val="000000"/>
              </a:solidFill>
              <a:latin typeface="Arial"/>
              <a:ea typeface="Arial"/>
              <a:cs typeface="Arial"/>
              <a:sym typeface="Arial"/>
            </a:endParaRPr>
          </a:p>
        </p:txBody>
      </p:sp>
      <p:sp>
        <p:nvSpPr>
          <p:cNvPr id="409" name="Google Shape;409;p21"/>
          <p:cNvSpPr/>
          <p:nvPr/>
        </p:nvSpPr>
        <p:spPr>
          <a:xfrm>
            <a:off x="8842797" y="3457270"/>
            <a:ext cx="1758601" cy="1758601"/>
          </a:xfrm>
          <a:custGeom>
            <a:rect b="b" l="l" r="r" t="t"/>
            <a:pathLst>
              <a:path extrusionOk="0" h="2344801" w="2344801">
                <a:moveTo>
                  <a:pt x="0" y="0"/>
                </a:moveTo>
                <a:lnTo>
                  <a:pt x="2344801" y="0"/>
                </a:lnTo>
                <a:lnTo>
                  <a:pt x="2344801" y="2344801"/>
                </a:lnTo>
                <a:lnTo>
                  <a:pt x="0" y="2344801"/>
                </a:lnTo>
                <a:close/>
              </a:path>
            </a:pathLst>
          </a:custGeom>
          <a:blipFill rotWithShape="1">
            <a:blip r:embed="rId4">
              <a:alphaModFix/>
            </a:blip>
            <a:stretch>
              <a:fillRect b="0" l="0" r="0" t="0"/>
            </a:stretch>
          </a:blipFill>
          <a:ln>
            <a:noFill/>
          </a:ln>
        </p:spPr>
      </p:sp>
      <p:sp>
        <p:nvSpPr>
          <p:cNvPr id="410" name="Google Shape;410;p21"/>
          <p:cNvSpPr txBox="1"/>
          <p:nvPr/>
        </p:nvSpPr>
        <p:spPr>
          <a:xfrm>
            <a:off x="7209824" y="5411822"/>
            <a:ext cx="5024530" cy="706055"/>
          </a:xfrm>
          <a:prstGeom prst="rect">
            <a:avLst/>
          </a:prstGeom>
          <a:noFill/>
          <a:ln>
            <a:noFill/>
          </a:ln>
        </p:spPr>
        <p:txBody>
          <a:bodyPr anchorCtr="0" anchor="t" bIns="0" lIns="0" spcFirstLastPara="1" rIns="0" wrap="square" tIns="0">
            <a:spAutoFit/>
          </a:bodyPr>
          <a:lstStyle/>
          <a:p>
            <a:pPr indent="0" lvl="0" marL="0" marR="0" rtl="0" algn="ctr">
              <a:lnSpc>
                <a:spcPct val="108000"/>
              </a:lnSpc>
              <a:spcBef>
                <a:spcPts val="0"/>
              </a:spcBef>
              <a:spcAft>
                <a:spcPts val="0"/>
              </a:spcAft>
              <a:buClr>
                <a:srgbClr val="000000"/>
              </a:buClr>
              <a:buSzPts val="5400"/>
              <a:buFont typeface="Arial"/>
              <a:buNone/>
            </a:pPr>
            <a:r>
              <a:rPr b="1" i="0" lang="en-US" sz="5400" u="none" cap="none" strike="noStrike">
                <a:solidFill>
                  <a:srgbClr val="000000"/>
                </a:solidFill>
                <a:latin typeface="PT Sans"/>
                <a:ea typeface="PT Sans"/>
                <a:cs typeface="PT Sans"/>
                <a:sym typeface="PT Sans"/>
              </a:rPr>
              <a:t>Caso recursivo</a:t>
            </a:r>
            <a:endParaRPr b="0" i="0" sz="1400" u="none" cap="none" strike="noStrike">
              <a:solidFill>
                <a:srgbClr val="000000"/>
              </a:solidFill>
              <a:latin typeface="Arial"/>
              <a:ea typeface="Arial"/>
              <a:cs typeface="Arial"/>
              <a:sym typeface="Arial"/>
            </a:endParaRPr>
          </a:p>
        </p:txBody>
      </p:sp>
      <p:sp>
        <p:nvSpPr>
          <p:cNvPr id="411" name="Google Shape;411;p21"/>
          <p:cNvSpPr txBox="1"/>
          <p:nvPr/>
        </p:nvSpPr>
        <p:spPr>
          <a:xfrm>
            <a:off x="7209824" y="6215447"/>
            <a:ext cx="5024530" cy="691587"/>
          </a:xfrm>
          <a:prstGeom prst="rect">
            <a:avLst/>
          </a:prstGeom>
          <a:noFill/>
          <a:ln>
            <a:noFill/>
          </a:ln>
        </p:spPr>
        <p:txBody>
          <a:bodyPr anchorCtr="0" anchor="t" bIns="0" lIns="0" spcFirstLastPara="1" rIns="0" wrap="square" tIns="0">
            <a:spAutoFit/>
          </a:bodyPr>
          <a:lstStyle/>
          <a:p>
            <a:pPr indent="0" lvl="0" marL="0" marR="0" rtl="0" algn="ctr">
              <a:lnSpc>
                <a:spcPct val="108000"/>
              </a:lnSpc>
              <a:spcBef>
                <a:spcPts val="0"/>
              </a:spcBef>
              <a:spcAft>
                <a:spcPts val="0"/>
              </a:spcAft>
              <a:buClr>
                <a:srgbClr val="000000"/>
              </a:buClr>
              <a:buSzPts val="2550"/>
              <a:buFont typeface="Arial"/>
              <a:buNone/>
            </a:pPr>
            <a:r>
              <a:rPr b="0" i="0" lang="en-US" sz="2550" u="none" cap="none" strike="noStrike">
                <a:solidFill>
                  <a:srgbClr val="000000"/>
                </a:solidFill>
                <a:latin typeface="PT Sans"/>
                <a:ea typeface="PT Sans"/>
                <a:cs typeface="PT Sans"/>
                <a:sym typeface="PT Sans"/>
              </a:rPr>
              <a:t>Llamada al mismo método con un subproblema más pequeño.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22"/>
          <p:cNvSpPr/>
          <p:nvPr/>
        </p:nvSpPr>
        <p:spPr>
          <a:xfrm>
            <a:off x="1" y="1138428"/>
            <a:ext cx="5165408" cy="7996428"/>
          </a:xfrm>
          <a:custGeom>
            <a:rect b="b" l="l" r="r" t="t"/>
            <a:pathLst>
              <a:path extrusionOk="0" h="10661904" w="6887210">
                <a:moveTo>
                  <a:pt x="0" y="0"/>
                </a:moveTo>
                <a:lnTo>
                  <a:pt x="6887210" y="0"/>
                </a:lnTo>
                <a:lnTo>
                  <a:pt x="6887210" y="10661904"/>
                </a:lnTo>
                <a:lnTo>
                  <a:pt x="0" y="10661904"/>
                </a:lnTo>
                <a:close/>
              </a:path>
            </a:pathLst>
          </a:custGeom>
          <a:solidFill>
            <a:srgbClr val="40BAD2"/>
          </a:solidFill>
          <a:ln>
            <a:noFill/>
          </a:ln>
        </p:spPr>
      </p:sp>
      <p:sp>
        <p:nvSpPr>
          <p:cNvPr id="417" name="Google Shape;417;p22"/>
          <p:cNvSpPr/>
          <p:nvPr/>
        </p:nvSpPr>
        <p:spPr>
          <a:xfrm>
            <a:off x="17723796" y="1138428"/>
            <a:ext cx="576072" cy="7996428"/>
          </a:xfrm>
          <a:custGeom>
            <a:rect b="b" l="l" r="r" t="t"/>
            <a:pathLst>
              <a:path extrusionOk="0" h="10661904" w="768096">
                <a:moveTo>
                  <a:pt x="0" y="0"/>
                </a:moveTo>
                <a:lnTo>
                  <a:pt x="768096" y="0"/>
                </a:lnTo>
                <a:lnTo>
                  <a:pt x="768096" y="10661904"/>
                </a:lnTo>
                <a:lnTo>
                  <a:pt x="0" y="10661904"/>
                </a:lnTo>
                <a:close/>
              </a:path>
            </a:pathLst>
          </a:custGeom>
          <a:solidFill>
            <a:srgbClr val="C8C8C8">
              <a:alpha val="24706"/>
            </a:srgbClr>
          </a:solidFill>
          <a:ln>
            <a:noFill/>
          </a:ln>
        </p:spPr>
      </p:sp>
      <p:grpSp>
        <p:nvGrpSpPr>
          <p:cNvPr id="418" name="Google Shape;418;p22"/>
          <p:cNvGrpSpPr/>
          <p:nvPr/>
        </p:nvGrpSpPr>
        <p:grpSpPr>
          <a:xfrm>
            <a:off x="379379" y="1685756"/>
            <a:ext cx="4421223" cy="6901775"/>
            <a:chOff x="0" y="0"/>
            <a:chExt cx="5894964" cy="9202366"/>
          </a:xfrm>
        </p:grpSpPr>
        <p:sp>
          <p:nvSpPr>
            <p:cNvPr id="419" name="Google Shape;419;p22"/>
            <p:cNvSpPr/>
            <p:nvPr/>
          </p:nvSpPr>
          <p:spPr>
            <a:xfrm>
              <a:off x="0" y="0"/>
              <a:ext cx="5894964" cy="9202366"/>
            </a:xfrm>
            <a:custGeom>
              <a:rect b="b" l="l" r="r" t="t"/>
              <a:pathLst>
                <a:path extrusionOk="0" h="9202366" w="5894964">
                  <a:moveTo>
                    <a:pt x="0" y="0"/>
                  </a:moveTo>
                  <a:lnTo>
                    <a:pt x="5894964" y="0"/>
                  </a:lnTo>
                  <a:lnTo>
                    <a:pt x="5894964" y="9202366"/>
                  </a:lnTo>
                  <a:lnTo>
                    <a:pt x="0" y="9202366"/>
                  </a:lnTo>
                  <a:close/>
                </a:path>
              </a:pathLst>
            </a:custGeom>
            <a:solidFill>
              <a:srgbClr val="000000">
                <a:alpha val="0"/>
              </a:srgbClr>
            </a:solidFill>
            <a:ln>
              <a:noFill/>
            </a:ln>
          </p:spPr>
        </p:sp>
        <p:sp>
          <p:nvSpPr>
            <p:cNvPr id="420" name="Google Shape;420;p22"/>
            <p:cNvSpPr txBox="1"/>
            <p:nvPr/>
          </p:nvSpPr>
          <p:spPr>
            <a:xfrm>
              <a:off x="0" y="47625"/>
              <a:ext cx="5894964" cy="9154741"/>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000000"/>
                </a:buClr>
                <a:buSzPts val="5400"/>
                <a:buFont typeface="Arial"/>
                <a:buNone/>
              </a:pPr>
              <a:r>
                <a:rPr b="0" i="0" lang="en-US" sz="5400" u="none" cap="none" strike="noStrike">
                  <a:solidFill>
                    <a:srgbClr val="FFFFFF"/>
                  </a:solidFill>
                  <a:latin typeface="PT Sans"/>
                  <a:ea typeface="PT Sans"/>
                  <a:cs typeface="PT Sans"/>
                  <a:sym typeface="PT Sans"/>
                </a:rPr>
                <a:t>¿Cómo funciona?</a:t>
              </a:r>
              <a:endParaRPr b="0" i="0" sz="1400" u="none" cap="none" strike="noStrike">
                <a:solidFill>
                  <a:srgbClr val="000000"/>
                </a:solidFill>
                <a:latin typeface="Arial"/>
                <a:ea typeface="Arial"/>
                <a:cs typeface="Arial"/>
                <a:sym typeface="Arial"/>
              </a:endParaRPr>
            </a:p>
          </p:txBody>
        </p:sp>
      </p:grpSp>
      <p:grpSp>
        <p:nvGrpSpPr>
          <p:cNvPr id="421" name="Google Shape;421;p22"/>
          <p:cNvGrpSpPr/>
          <p:nvPr/>
        </p:nvGrpSpPr>
        <p:grpSpPr>
          <a:xfrm>
            <a:off x="5631763" y="1320107"/>
            <a:ext cx="9869614" cy="2305431"/>
            <a:chOff x="0" y="0"/>
            <a:chExt cx="13159485" cy="3073908"/>
          </a:xfrm>
        </p:grpSpPr>
        <p:sp>
          <p:nvSpPr>
            <p:cNvPr id="422" name="Google Shape;422;p22"/>
            <p:cNvSpPr/>
            <p:nvPr/>
          </p:nvSpPr>
          <p:spPr>
            <a:xfrm>
              <a:off x="10795" y="10795"/>
              <a:ext cx="13137895" cy="3052318"/>
            </a:xfrm>
            <a:custGeom>
              <a:rect b="b" l="l" r="r" t="t"/>
              <a:pathLst>
                <a:path extrusionOk="0" h="3052318" w="13137895">
                  <a:moveTo>
                    <a:pt x="0" y="305181"/>
                  </a:moveTo>
                  <a:cubicBezTo>
                    <a:pt x="0" y="136652"/>
                    <a:pt x="137414" y="0"/>
                    <a:pt x="306832" y="0"/>
                  </a:cubicBezTo>
                  <a:lnTo>
                    <a:pt x="12831064" y="0"/>
                  </a:lnTo>
                  <a:cubicBezTo>
                    <a:pt x="13000609" y="0"/>
                    <a:pt x="13137895" y="136652"/>
                    <a:pt x="13137895" y="305181"/>
                  </a:cubicBezTo>
                  <a:lnTo>
                    <a:pt x="13137895" y="2747137"/>
                  </a:lnTo>
                  <a:cubicBezTo>
                    <a:pt x="13137895" y="2915666"/>
                    <a:pt x="13000482" y="3052318"/>
                    <a:pt x="12831064" y="3052318"/>
                  </a:cubicBezTo>
                  <a:lnTo>
                    <a:pt x="306832" y="3052318"/>
                  </a:lnTo>
                  <a:cubicBezTo>
                    <a:pt x="137414" y="3052318"/>
                    <a:pt x="0" y="2915666"/>
                    <a:pt x="0" y="2747137"/>
                  </a:cubicBezTo>
                  <a:close/>
                </a:path>
              </a:pathLst>
            </a:custGeom>
            <a:solidFill>
              <a:srgbClr val="FAB9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 name="Google Shape;423;p22"/>
            <p:cNvSpPr/>
            <p:nvPr/>
          </p:nvSpPr>
          <p:spPr>
            <a:xfrm>
              <a:off x="0" y="0"/>
              <a:ext cx="13159485" cy="3073908"/>
            </a:xfrm>
            <a:custGeom>
              <a:rect b="b" l="l" r="r" t="t"/>
              <a:pathLst>
                <a:path extrusionOk="0" h="3073908" w="13159485">
                  <a:moveTo>
                    <a:pt x="0" y="315976"/>
                  </a:moveTo>
                  <a:cubicBezTo>
                    <a:pt x="0" y="141478"/>
                    <a:pt x="142240" y="0"/>
                    <a:pt x="317627" y="0"/>
                  </a:cubicBezTo>
                  <a:lnTo>
                    <a:pt x="12841859" y="0"/>
                  </a:lnTo>
                  <a:lnTo>
                    <a:pt x="12841859" y="10795"/>
                  </a:lnTo>
                  <a:lnTo>
                    <a:pt x="12841859" y="0"/>
                  </a:lnTo>
                  <a:cubicBezTo>
                    <a:pt x="13017246" y="0"/>
                    <a:pt x="13159485" y="141478"/>
                    <a:pt x="13159485" y="315976"/>
                  </a:cubicBezTo>
                  <a:lnTo>
                    <a:pt x="13148690" y="315976"/>
                  </a:lnTo>
                  <a:lnTo>
                    <a:pt x="13159485" y="315976"/>
                  </a:lnTo>
                  <a:lnTo>
                    <a:pt x="13159485" y="2757932"/>
                  </a:lnTo>
                  <a:lnTo>
                    <a:pt x="13148690" y="2757932"/>
                  </a:lnTo>
                  <a:lnTo>
                    <a:pt x="13159485" y="2757932"/>
                  </a:lnTo>
                  <a:cubicBezTo>
                    <a:pt x="13159485" y="2932557"/>
                    <a:pt x="13017246" y="3073908"/>
                    <a:pt x="12841859" y="3073908"/>
                  </a:cubicBezTo>
                  <a:lnTo>
                    <a:pt x="12841859" y="3063113"/>
                  </a:lnTo>
                  <a:lnTo>
                    <a:pt x="12841859" y="3073908"/>
                  </a:lnTo>
                  <a:lnTo>
                    <a:pt x="317627" y="3073908"/>
                  </a:lnTo>
                  <a:lnTo>
                    <a:pt x="317627" y="3063113"/>
                  </a:lnTo>
                  <a:lnTo>
                    <a:pt x="317627" y="3073908"/>
                  </a:lnTo>
                  <a:cubicBezTo>
                    <a:pt x="142240" y="3073908"/>
                    <a:pt x="0" y="2932557"/>
                    <a:pt x="0" y="2757932"/>
                  </a:cubicBezTo>
                  <a:lnTo>
                    <a:pt x="0" y="315976"/>
                  </a:lnTo>
                  <a:lnTo>
                    <a:pt x="10795" y="315976"/>
                  </a:lnTo>
                  <a:lnTo>
                    <a:pt x="0" y="315976"/>
                  </a:lnTo>
                  <a:moveTo>
                    <a:pt x="21590" y="315976"/>
                  </a:moveTo>
                  <a:lnTo>
                    <a:pt x="21590" y="2757932"/>
                  </a:lnTo>
                  <a:lnTo>
                    <a:pt x="10795" y="2757932"/>
                  </a:lnTo>
                  <a:lnTo>
                    <a:pt x="21590" y="2757932"/>
                  </a:lnTo>
                  <a:cubicBezTo>
                    <a:pt x="21590" y="2920492"/>
                    <a:pt x="154051" y="3052445"/>
                    <a:pt x="317754" y="3052445"/>
                  </a:cubicBezTo>
                  <a:lnTo>
                    <a:pt x="12841986" y="3052445"/>
                  </a:lnTo>
                  <a:cubicBezTo>
                    <a:pt x="13005561" y="3052445"/>
                    <a:pt x="13138150" y="2920492"/>
                    <a:pt x="13138150" y="2757932"/>
                  </a:cubicBezTo>
                  <a:lnTo>
                    <a:pt x="13138150" y="315976"/>
                  </a:lnTo>
                  <a:cubicBezTo>
                    <a:pt x="13138150" y="153416"/>
                    <a:pt x="13005688" y="21463"/>
                    <a:pt x="12841986" y="21463"/>
                  </a:cubicBezTo>
                  <a:lnTo>
                    <a:pt x="317627" y="21463"/>
                  </a:lnTo>
                  <a:lnTo>
                    <a:pt x="317627" y="10795"/>
                  </a:lnTo>
                  <a:lnTo>
                    <a:pt x="317627" y="21590"/>
                  </a:lnTo>
                  <a:cubicBezTo>
                    <a:pt x="154051" y="21590"/>
                    <a:pt x="21590" y="153416"/>
                    <a:pt x="21590" y="315976"/>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24" name="Google Shape;424;p22"/>
          <p:cNvGrpSpPr/>
          <p:nvPr/>
        </p:nvGrpSpPr>
        <p:grpSpPr>
          <a:xfrm>
            <a:off x="5706896" y="1395240"/>
            <a:ext cx="7383210" cy="2155192"/>
            <a:chOff x="0" y="0"/>
            <a:chExt cx="9844280" cy="2873590"/>
          </a:xfrm>
        </p:grpSpPr>
        <p:sp>
          <p:nvSpPr>
            <p:cNvPr id="425" name="Google Shape;425;p22"/>
            <p:cNvSpPr/>
            <p:nvPr/>
          </p:nvSpPr>
          <p:spPr>
            <a:xfrm>
              <a:off x="0" y="0"/>
              <a:ext cx="9844280" cy="2873590"/>
            </a:xfrm>
            <a:custGeom>
              <a:rect b="b" l="l" r="r" t="t"/>
              <a:pathLst>
                <a:path extrusionOk="0" h="2873590" w="9844280">
                  <a:moveTo>
                    <a:pt x="0" y="0"/>
                  </a:moveTo>
                  <a:lnTo>
                    <a:pt x="9844280" y="0"/>
                  </a:lnTo>
                  <a:lnTo>
                    <a:pt x="9844280" y="2873590"/>
                  </a:lnTo>
                  <a:lnTo>
                    <a:pt x="0" y="2873590"/>
                  </a:lnTo>
                  <a:close/>
                </a:path>
              </a:pathLst>
            </a:custGeom>
            <a:solidFill>
              <a:srgbClr val="000000">
                <a:alpha val="0"/>
              </a:srgbClr>
            </a:solidFill>
            <a:ln>
              <a:noFill/>
            </a:ln>
          </p:spPr>
        </p:sp>
        <p:sp>
          <p:nvSpPr>
            <p:cNvPr id="426" name="Google Shape;426;p22"/>
            <p:cNvSpPr txBox="1"/>
            <p:nvPr/>
          </p:nvSpPr>
          <p:spPr>
            <a:xfrm>
              <a:off x="0" y="57150"/>
              <a:ext cx="9844280" cy="281644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000000"/>
                </a:buClr>
                <a:buSzPts val="4350"/>
                <a:buFont typeface="Arial"/>
                <a:buNone/>
              </a:pPr>
              <a:r>
                <a:rPr b="0" i="0" lang="en-US" sz="4350" u="none" cap="none" strike="noStrike">
                  <a:solidFill>
                    <a:srgbClr val="FFFFFF"/>
                  </a:solidFill>
                  <a:latin typeface="PT Sans"/>
                  <a:ea typeface="PT Sans"/>
                  <a:cs typeface="PT Sans"/>
                  <a:sym typeface="PT Sans"/>
                </a:rPr>
                <a:t>El método verifica si se ha alcanzado el caso base.</a:t>
              </a:r>
              <a:endParaRPr b="0" i="0" sz="1400" u="none" cap="none" strike="noStrike">
                <a:solidFill>
                  <a:srgbClr val="000000"/>
                </a:solidFill>
                <a:latin typeface="Arial"/>
                <a:ea typeface="Arial"/>
                <a:cs typeface="Arial"/>
                <a:sym typeface="Arial"/>
              </a:endParaRPr>
            </a:p>
          </p:txBody>
        </p:sp>
      </p:grpSp>
      <p:grpSp>
        <p:nvGrpSpPr>
          <p:cNvPr id="427" name="Google Shape;427;p22"/>
          <p:cNvGrpSpPr/>
          <p:nvPr/>
        </p:nvGrpSpPr>
        <p:grpSpPr>
          <a:xfrm>
            <a:off x="6501193" y="3990952"/>
            <a:ext cx="9869614" cy="2305431"/>
            <a:chOff x="0" y="0"/>
            <a:chExt cx="13159485" cy="3073908"/>
          </a:xfrm>
        </p:grpSpPr>
        <p:sp>
          <p:nvSpPr>
            <p:cNvPr id="428" name="Google Shape;428;p22"/>
            <p:cNvSpPr/>
            <p:nvPr/>
          </p:nvSpPr>
          <p:spPr>
            <a:xfrm>
              <a:off x="10795" y="10795"/>
              <a:ext cx="13137895" cy="3052318"/>
            </a:xfrm>
            <a:custGeom>
              <a:rect b="b" l="l" r="r" t="t"/>
              <a:pathLst>
                <a:path extrusionOk="0" h="3052318" w="13137895">
                  <a:moveTo>
                    <a:pt x="0" y="305181"/>
                  </a:moveTo>
                  <a:cubicBezTo>
                    <a:pt x="0" y="136652"/>
                    <a:pt x="137414" y="0"/>
                    <a:pt x="306832" y="0"/>
                  </a:cubicBezTo>
                  <a:lnTo>
                    <a:pt x="12831064" y="0"/>
                  </a:lnTo>
                  <a:cubicBezTo>
                    <a:pt x="13000609" y="0"/>
                    <a:pt x="13137895" y="136652"/>
                    <a:pt x="13137895" y="305181"/>
                  </a:cubicBezTo>
                  <a:lnTo>
                    <a:pt x="13137895" y="2747137"/>
                  </a:lnTo>
                  <a:cubicBezTo>
                    <a:pt x="13137895" y="2915666"/>
                    <a:pt x="13000482" y="3052318"/>
                    <a:pt x="12831064" y="3052318"/>
                  </a:cubicBezTo>
                  <a:lnTo>
                    <a:pt x="306832" y="3052318"/>
                  </a:lnTo>
                  <a:cubicBezTo>
                    <a:pt x="137414" y="3052318"/>
                    <a:pt x="0" y="2915666"/>
                    <a:pt x="0" y="2747137"/>
                  </a:cubicBezTo>
                  <a:close/>
                </a:path>
              </a:pathLst>
            </a:custGeom>
            <a:solidFill>
              <a:srgbClr val="D6D91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 name="Google Shape;429;p22"/>
            <p:cNvSpPr/>
            <p:nvPr/>
          </p:nvSpPr>
          <p:spPr>
            <a:xfrm>
              <a:off x="0" y="0"/>
              <a:ext cx="13159485" cy="3073908"/>
            </a:xfrm>
            <a:custGeom>
              <a:rect b="b" l="l" r="r" t="t"/>
              <a:pathLst>
                <a:path extrusionOk="0" h="3073908" w="13159485">
                  <a:moveTo>
                    <a:pt x="0" y="315976"/>
                  </a:moveTo>
                  <a:cubicBezTo>
                    <a:pt x="0" y="141478"/>
                    <a:pt x="142240" y="0"/>
                    <a:pt x="317627" y="0"/>
                  </a:cubicBezTo>
                  <a:lnTo>
                    <a:pt x="12841859" y="0"/>
                  </a:lnTo>
                  <a:lnTo>
                    <a:pt x="12841859" y="10795"/>
                  </a:lnTo>
                  <a:lnTo>
                    <a:pt x="12841859" y="0"/>
                  </a:lnTo>
                  <a:cubicBezTo>
                    <a:pt x="13017246" y="0"/>
                    <a:pt x="13159485" y="141478"/>
                    <a:pt x="13159485" y="315976"/>
                  </a:cubicBezTo>
                  <a:lnTo>
                    <a:pt x="13148690" y="315976"/>
                  </a:lnTo>
                  <a:lnTo>
                    <a:pt x="13159485" y="315976"/>
                  </a:lnTo>
                  <a:lnTo>
                    <a:pt x="13159485" y="2757932"/>
                  </a:lnTo>
                  <a:lnTo>
                    <a:pt x="13148690" y="2757932"/>
                  </a:lnTo>
                  <a:lnTo>
                    <a:pt x="13159485" y="2757932"/>
                  </a:lnTo>
                  <a:cubicBezTo>
                    <a:pt x="13159485" y="2932557"/>
                    <a:pt x="13017246" y="3073908"/>
                    <a:pt x="12841859" y="3073908"/>
                  </a:cubicBezTo>
                  <a:lnTo>
                    <a:pt x="12841859" y="3063113"/>
                  </a:lnTo>
                  <a:lnTo>
                    <a:pt x="12841859" y="3073908"/>
                  </a:lnTo>
                  <a:lnTo>
                    <a:pt x="317627" y="3073908"/>
                  </a:lnTo>
                  <a:lnTo>
                    <a:pt x="317627" y="3063113"/>
                  </a:lnTo>
                  <a:lnTo>
                    <a:pt x="317627" y="3073908"/>
                  </a:lnTo>
                  <a:cubicBezTo>
                    <a:pt x="142240" y="3073908"/>
                    <a:pt x="0" y="2932557"/>
                    <a:pt x="0" y="2757932"/>
                  </a:cubicBezTo>
                  <a:lnTo>
                    <a:pt x="0" y="315976"/>
                  </a:lnTo>
                  <a:lnTo>
                    <a:pt x="10795" y="315976"/>
                  </a:lnTo>
                  <a:lnTo>
                    <a:pt x="0" y="315976"/>
                  </a:lnTo>
                  <a:moveTo>
                    <a:pt x="21590" y="315976"/>
                  </a:moveTo>
                  <a:lnTo>
                    <a:pt x="21590" y="2757932"/>
                  </a:lnTo>
                  <a:lnTo>
                    <a:pt x="10795" y="2757932"/>
                  </a:lnTo>
                  <a:lnTo>
                    <a:pt x="21590" y="2757932"/>
                  </a:lnTo>
                  <a:cubicBezTo>
                    <a:pt x="21590" y="2920492"/>
                    <a:pt x="154051" y="3052445"/>
                    <a:pt x="317754" y="3052445"/>
                  </a:cubicBezTo>
                  <a:lnTo>
                    <a:pt x="12841986" y="3052445"/>
                  </a:lnTo>
                  <a:cubicBezTo>
                    <a:pt x="13005561" y="3052445"/>
                    <a:pt x="13138150" y="2920492"/>
                    <a:pt x="13138150" y="2757932"/>
                  </a:cubicBezTo>
                  <a:lnTo>
                    <a:pt x="13138150" y="315976"/>
                  </a:lnTo>
                  <a:cubicBezTo>
                    <a:pt x="13138150" y="153416"/>
                    <a:pt x="13005688" y="21463"/>
                    <a:pt x="12841986" y="21463"/>
                  </a:cubicBezTo>
                  <a:lnTo>
                    <a:pt x="317627" y="21463"/>
                  </a:lnTo>
                  <a:lnTo>
                    <a:pt x="317627" y="10795"/>
                  </a:lnTo>
                  <a:lnTo>
                    <a:pt x="317627" y="21590"/>
                  </a:lnTo>
                  <a:cubicBezTo>
                    <a:pt x="154051" y="21590"/>
                    <a:pt x="21590" y="153416"/>
                    <a:pt x="21590" y="315976"/>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30" name="Google Shape;430;p22"/>
          <p:cNvGrpSpPr/>
          <p:nvPr/>
        </p:nvGrpSpPr>
        <p:grpSpPr>
          <a:xfrm>
            <a:off x="6576326" y="4066084"/>
            <a:ext cx="7361964" cy="2155192"/>
            <a:chOff x="0" y="0"/>
            <a:chExt cx="9815952" cy="2873590"/>
          </a:xfrm>
        </p:grpSpPr>
        <p:sp>
          <p:nvSpPr>
            <p:cNvPr id="431" name="Google Shape;431;p22"/>
            <p:cNvSpPr/>
            <p:nvPr/>
          </p:nvSpPr>
          <p:spPr>
            <a:xfrm>
              <a:off x="0" y="0"/>
              <a:ext cx="9815952" cy="2873590"/>
            </a:xfrm>
            <a:custGeom>
              <a:rect b="b" l="l" r="r" t="t"/>
              <a:pathLst>
                <a:path extrusionOk="0" h="2873590" w="9815952">
                  <a:moveTo>
                    <a:pt x="0" y="0"/>
                  </a:moveTo>
                  <a:lnTo>
                    <a:pt x="9815952" y="0"/>
                  </a:lnTo>
                  <a:lnTo>
                    <a:pt x="9815952" y="2873590"/>
                  </a:lnTo>
                  <a:lnTo>
                    <a:pt x="0" y="2873590"/>
                  </a:lnTo>
                  <a:close/>
                </a:path>
              </a:pathLst>
            </a:custGeom>
            <a:solidFill>
              <a:srgbClr val="000000">
                <a:alpha val="0"/>
              </a:srgbClr>
            </a:solidFill>
            <a:ln>
              <a:noFill/>
            </a:ln>
          </p:spPr>
        </p:sp>
        <p:sp>
          <p:nvSpPr>
            <p:cNvPr id="432" name="Google Shape;432;p22"/>
            <p:cNvSpPr txBox="1"/>
            <p:nvPr/>
          </p:nvSpPr>
          <p:spPr>
            <a:xfrm>
              <a:off x="0" y="57150"/>
              <a:ext cx="9815952" cy="281644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000000"/>
                </a:buClr>
                <a:buSzPts val="4350"/>
                <a:buFont typeface="Arial"/>
                <a:buNone/>
              </a:pPr>
              <a:r>
                <a:rPr b="0" i="0" lang="en-US" sz="4350" u="none" cap="none" strike="noStrike">
                  <a:solidFill>
                    <a:srgbClr val="FFFFFF"/>
                  </a:solidFill>
                  <a:latin typeface="PT Sans"/>
                  <a:ea typeface="PT Sans"/>
                  <a:cs typeface="PT Sans"/>
                  <a:sym typeface="PT Sans"/>
                </a:rPr>
                <a:t>Si no, realiza una llamada recursiva con un subproblema más pequeño.</a:t>
              </a:r>
              <a:endParaRPr b="0" i="0" sz="1400" u="none" cap="none" strike="noStrike">
                <a:solidFill>
                  <a:srgbClr val="000000"/>
                </a:solidFill>
                <a:latin typeface="Arial"/>
                <a:ea typeface="Arial"/>
                <a:cs typeface="Arial"/>
                <a:sym typeface="Arial"/>
              </a:endParaRPr>
            </a:p>
          </p:txBody>
        </p:sp>
      </p:grpSp>
      <p:grpSp>
        <p:nvGrpSpPr>
          <p:cNvPr id="433" name="Google Shape;433;p22"/>
          <p:cNvGrpSpPr/>
          <p:nvPr/>
        </p:nvGrpSpPr>
        <p:grpSpPr>
          <a:xfrm>
            <a:off x="7370623" y="6661796"/>
            <a:ext cx="9869614" cy="2305431"/>
            <a:chOff x="0" y="0"/>
            <a:chExt cx="13159485" cy="3073908"/>
          </a:xfrm>
        </p:grpSpPr>
        <p:sp>
          <p:nvSpPr>
            <p:cNvPr id="434" name="Google Shape;434;p22"/>
            <p:cNvSpPr/>
            <p:nvPr/>
          </p:nvSpPr>
          <p:spPr>
            <a:xfrm>
              <a:off x="10795" y="10795"/>
              <a:ext cx="13137895" cy="3052318"/>
            </a:xfrm>
            <a:custGeom>
              <a:rect b="b" l="l" r="r" t="t"/>
              <a:pathLst>
                <a:path extrusionOk="0" h="3052318" w="13137895">
                  <a:moveTo>
                    <a:pt x="0" y="305181"/>
                  </a:moveTo>
                  <a:cubicBezTo>
                    <a:pt x="0" y="136652"/>
                    <a:pt x="137414" y="0"/>
                    <a:pt x="306832" y="0"/>
                  </a:cubicBezTo>
                  <a:lnTo>
                    <a:pt x="12831064" y="0"/>
                  </a:lnTo>
                  <a:cubicBezTo>
                    <a:pt x="13000609" y="0"/>
                    <a:pt x="13137895" y="136652"/>
                    <a:pt x="13137895" y="305181"/>
                  </a:cubicBezTo>
                  <a:lnTo>
                    <a:pt x="13137895" y="2747137"/>
                  </a:lnTo>
                  <a:cubicBezTo>
                    <a:pt x="13137895" y="2915666"/>
                    <a:pt x="13000482" y="3052318"/>
                    <a:pt x="12831064" y="3052318"/>
                  </a:cubicBezTo>
                  <a:lnTo>
                    <a:pt x="306832" y="3052318"/>
                  </a:lnTo>
                  <a:cubicBezTo>
                    <a:pt x="137414" y="3052318"/>
                    <a:pt x="0" y="2915666"/>
                    <a:pt x="0" y="2747137"/>
                  </a:cubicBezTo>
                  <a:close/>
                </a:path>
              </a:pathLst>
            </a:custGeom>
            <a:solidFill>
              <a:srgbClr val="8EBA2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5" name="Google Shape;435;p22"/>
            <p:cNvSpPr/>
            <p:nvPr/>
          </p:nvSpPr>
          <p:spPr>
            <a:xfrm>
              <a:off x="0" y="0"/>
              <a:ext cx="13159485" cy="3073908"/>
            </a:xfrm>
            <a:custGeom>
              <a:rect b="b" l="l" r="r" t="t"/>
              <a:pathLst>
                <a:path extrusionOk="0" h="3073908" w="13159485">
                  <a:moveTo>
                    <a:pt x="0" y="315976"/>
                  </a:moveTo>
                  <a:cubicBezTo>
                    <a:pt x="0" y="141478"/>
                    <a:pt x="142240" y="0"/>
                    <a:pt x="317627" y="0"/>
                  </a:cubicBezTo>
                  <a:lnTo>
                    <a:pt x="12841859" y="0"/>
                  </a:lnTo>
                  <a:lnTo>
                    <a:pt x="12841859" y="10795"/>
                  </a:lnTo>
                  <a:lnTo>
                    <a:pt x="12841859" y="0"/>
                  </a:lnTo>
                  <a:cubicBezTo>
                    <a:pt x="13017246" y="0"/>
                    <a:pt x="13159485" y="141478"/>
                    <a:pt x="13159485" y="315976"/>
                  </a:cubicBezTo>
                  <a:lnTo>
                    <a:pt x="13148690" y="315976"/>
                  </a:lnTo>
                  <a:lnTo>
                    <a:pt x="13159485" y="315976"/>
                  </a:lnTo>
                  <a:lnTo>
                    <a:pt x="13159485" y="2757932"/>
                  </a:lnTo>
                  <a:lnTo>
                    <a:pt x="13148690" y="2757932"/>
                  </a:lnTo>
                  <a:lnTo>
                    <a:pt x="13159485" y="2757932"/>
                  </a:lnTo>
                  <a:cubicBezTo>
                    <a:pt x="13159485" y="2932557"/>
                    <a:pt x="13017246" y="3073908"/>
                    <a:pt x="12841859" y="3073908"/>
                  </a:cubicBezTo>
                  <a:lnTo>
                    <a:pt x="12841859" y="3063113"/>
                  </a:lnTo>
                  <a:lnTo>
                    <a:pt x="12841859" y="3073908"/>
                  </a:lnTo>
                  <a:lnTo>
                    <a:pt x="317627" y="3073908"/>
                  </a:lnTo>
                  <a:lnTo>
                    <a:pt x="317627" y="3063113"/>
                  </a:lnTo>
                  <a:lnTo>
                    <a:pt x="317627" y="3073908"/>
                  </a:lnTo>
                  <a:cubicBezTo>
                    <a:pt x="142240" y="3073908"/>
                    <a:pt x="0" y="2932557"/>
                    <a:pt x="0" y="2757932"/>
                  </a:cubicBezTo>
                  <a:lnTo>
                    <a:pt x="0" y="315976"/>
                  </a:lnTo>
                  <a:lnTo>
                    <a:pt x="10795" y="315976"/>
                  </a:lnTo>
                  <a:lnTo>
                    <a:pt x="0" y="315976"/>
                  </a:lnTo>
                  <a:moveTo>
                    <a:pt x="21590" y="315976"/>
                  </a:moveTo>
                  <a:lnTo>
                    <a:pt x="21590" y="2757932"/>
                  </a:lnTo>
                  <a:lnTo>
                    <a:pt x="10795" y="2757932"/>
                  </a:lnTo>
                  <a:lnTo>
                    <a:pt x="21590" y="2757932"/>
                  </a:lnTo>
                  <a:cubicBezTo>
                    <a:pt x="21590" y="2920492"/>
                    <a:pt x="154051" y="3052445"/>
                    <a:pt x="317754" y="3052445"/>
                  </a:cubicBezTo>
                  <a:lnTo>
                    <a:pt x="12841986" y="3052445"/>
                  </a:lnTo>
                  <a:cubicBezTo>
                    <a:pt x="13005561" y="3052445"/>
                    <a:pt x="13138150" y="2920492"/>
                    <a:pt x="13138150" y="2757932"/>
                  </a:cubicBezTo>
                  <a:lnTo>
                    <a:pt x="13138150" y="315976"/>
                  </a:lnTo>
                  <a:cubicBezTo>
                    <a:pt x="13138150" y="153416"/>
                    <a:pt x="13005688" y="21463"/>
                    <a:pt x="12841986" y="21463"/>
                  </a:cubicBezTo>
                  <a:lnTo>
                    <a:pt x="317627" y="21463"/>
                  </a:lnTo>
                  <a:lnTo>
                    <a:pt x="317627" y="10795"/>
                  </a:lnTo>
                  <a:lnTo>
                    <a:pt x="317627" y="21590"/>
                  </a:lnTo>
                  <a:cubicBezTo>
                    <a:pt x="154051" y="21590"/>
                    <a:pt x="21590" y="153416"/>
                    <a:pt x="21590" y="315976"/>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36" name="Google Shape;436;p22"/>
          <p:cNvGrpSpPr/>
          <p:nvPr/>
        </p:nvGrpSpPr>
        <p:grpSpPr>
          <a:xfrm>
            <a:off x="7445755" y="6736929"/>
            <a:ext cx="7361964" cy="2155193"/>
            <a:chOff x="0" y="0"/>
            <a:chExt cx="9815952" cy="2873590"/>
          </a:xfrm>
        </p:grpSpPr>
        <p:sp>
          <p:nvSpPr>
            <p:cNvPr id="437" name="Google Shape;437;p22"/>
            <p:cNvSpPr/>
            <p:nvPr/>
          </p:nvSpPr>
          <p:spPr>
            <a:xfrm>
              <a:off x="0" y="0"/>
              <a:ext cx="9815952" cy="2873590"/>
            </a:xfrm>
            <a:custGeom>
              <a:rect b="b" l="l" r="r" t="t"/>
              <a:pathLst>
                <a:path extrusionOk="0" h="2873590" w="9815952">
                  <a:moveTo>
                    <a:pt x="0" y="0"/>
                  </a:moveTo>
                  <a:lnTo>
                    <a:pt x="9815952" y="0"/>
                  </a:lnTo>
                  <a:lnTo>
                    <a:pt x="9815952" y="2873590"/>
                  </a:lnTo>
                  <a:lnTo>
                    <a:pt x="0" y="2873590"/>
                  </a:lnTo>
                  <a:close/>
                </a:path>
              </a:pathLst>
            </a:custGeom>
            <a:solidFill>
              <a:srgbClr val="000000">
                <a:alpha val="0"/>
              </a:srgbClr>
            </a:solidFill>
            <a:ln>
              <a:noFill/>
            </a:ln>
          </p:spPr>
        </p:sp>
        <p:sp>
          <p:nvSpPr>
            <p:cNvPr id="438" name="Google Shape;438;p22"/>
            <p:cNvSpPr txBox="1"/>
            <p:nvPr/>
          </p:nvSpPr>
          <p:spPr>
            <a:xfrm>
              <a:off x="0" y="57150"/>
              <a:ext cx="9815952" cy="281644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000000"/>
                </a:buClr>
                <a:buSzPts val="4350"/>
                <a:buFont typeface="Arial"/>
                <a:buNone/>
              </a:pPr>
              <a:r>
                <a:rPr b="0" i="0" lang="en-US" sz="4350" u="none" cap="none" strike="noStrike">
                  <a:solidFill>
                    <a:srgbClr val="FFFFFF"/>
                  </a:solidFill>
                  <a:latin typeface="PT Sans"/>
                  <a:ea typeface="PT Sans"/>
                  <a:cs typeface="PT Sans"/>
                  <a:sym typeface="PT Sans"/>
                </a:rPr>
                <a:t>Cada llamada recursiva agrega un marco de pila a la pila de ejecución.</a:t>
              </a:r>
              <a:endParaRPr b="0" i="0" sz="1400" u="none" cap="none" strike="noStrike">
                <a:solidFill>
                  <a:srgbClr val="000000"/>
                </a:solidFill>
                <a:latin typeface="Arial"/>
                <a:ea typeface="Arial"/>
                <a:cs typeface="Arial"/>
                <a:sym typeface="Arial"/>
              </a:endParaRPr>
            </a:p>
          </p:txBody>
        </p:sp>
      </p:grpSp>
      <p:grpSp>
        <p:nvGrpSpPr>
          <p:cNvPr id="439" name="Google Shape;439;p22"/>
          <p:cNvGrpSpPr/>
          <p:nvPr/>
        </p:nvGrpSpPr>
        <p:grpSpPr>
          <a:xfrm>
            <a:off x="13996593" y="3056156"/>
            <a:ext cx="1505426" cy="1504855"/>
            <a:chOff x="-889" y="0"/>
            <a:chExt cx="2007235" cy="2006473"/>
          </a:xfrm>
        </p:grpSpPr>
        <p:sp>
          <p:nvSpPr>
            <p:cNvPr id="440" name="Google Shape;440;p22"/>
            <p:cNvSpPr/>
            <p:nvPr/>
          </p:nvSpPr>
          <p:spPr>
            <a:xfrm>
              <a:off x="10795" y="10795"/>
              <a:ext cx="1983994" cy="1983994"/>
            </a:xfrm>
            <a:custGeom>
              <a:rect b="b" l="l" r="r" t="t"/>
              <a:pathLst>
                <a:path extrusionOk="0" h="1983994" w="1983994">
                  <a:moveTo>
                    <a:pt x="0" y="1091184"/>
                  </a:moveTo>
                  <a:lnTo>
                    <a:pt x="446405" y="1091184"/>
                  </a:lnTo>
                  <a:lnTo>
                    <a:pt x="446405" y="0"/>
                  </a:lnTo>
                  <a:lnTo>
                    <a:pt x="1537589" y="0"/>
                  </a:lnTo>
                  <a:lnTo>
                    <a:pt x="1537589" y="1091184"/>
                  </a:lnTo>
                  <a:lnTo>
                    <a:pt x="1983994" y="1091184"/>
                  </a:lnTo>
                  <a:lnTo>
                    <a:pt x="991997" y="1983994"/>
                  </a:lnTo>
                  <a:close/>
                </a:path>
              </a:pathLst>
            </a:custGeom>
            <a:solidFill>
              <a:srgbClr val="FDE6C8">
                <a:alpha val="80000"/>
              </a:srgbClr>
            </a:solidFill>
            <a:ln>
              <a:noFill/>
            </a:ln>
          </p:spPr>
        </p:sp>
        <p:sp>
          <p:nvSpPr>
            <p:cNvPr id="441" name="Google Shape;441;p22"/>
            <p:cNvSpPr/>
            <p:nvPr/>
          </p:nvSpPr>
          <p:spPr>
            <a:xfrm>
              <a:off x="-889" y="0"/>
              <a:ext cx="2007235" cy="2006473"/>
            </a:xfrm>
            <a:custGeom>
              <a:rect b="b" l="l" r="r" t="t"/>
              <a:pathLst>
                <a:path extrusionOk="0" h="2006473" w="2007235">
                  <a:moveTo>
                    <a:pt x="11684" y="1091184"/>
                  </a:moveTo>
                  <a:lnTo>
                    <a:pt x="458089" y="1091184"/>
                  </a:lnTo>
                  <a:lnTo>
                    <a:pt x="458089" y="1101979"/>
                  </a:lnTo>
                  <a:lnTo>
                    <a:pt x="447294" y="1101979"/>
                  </a:lnTo>
                  <a:lnTo>
                    <a:pt x="447294" y="10795"/>
                  </a:lnTo>
                  <a:cubicBezTo>
                    <a:pt x="447294" y="4826"/>
                    <a:pt x="452120" y="0"/>
                    <a:pt x="458089" y="0"/>
                  </a:cubicBezTo>
                  <a:lnTo>
                    <a:pt x="1549273" y="0"/>
                  </a:lnTo>
                  <a:cubicBezTo>
                    <a:pt x="1555242" y="0"/>
                    <a:pt x="1560068" y="4826"/>
                    <a:pt x="1560068" y="10795"/>
                  </a:cubicBezTo>
                  <a:lnTo>
                    <a:pt x="1560068" y="1101979"/>
                  </a:lnTo>
                  <a:lnTo>
                    <a:pt x="1549273" y="1101979"/>
                  </a:lnTo>
                  <a:lnTo>
                    <a:pt x="1549273" y="1091184"/>
                  </a:lnTo>
                  <a:lnTo>
                    <a:pt x="1995678" y="1091184"/>
                  </a:lnTo>
                  <a:cubicBezTo>
                    <a:pt x="2000123" y="1091184"/>
                    <a:pt x="2004187" y="1093978"/>
                    <a:pt x="2005711" y="1098042"/>
                  </a:cubicBezTo>
                  <a:cubicBezTo>
                    <a:pt x="2007235" y="1102106"/>
                    <a:pt x="2006219" y="1106932"/>
                    <a:pt x="2002917" y="1109853"/>
                  </a:cubicBezTo>
                  <a:lnTo>
                    <a:pt x="1010920" y="2002790"/>
                  </a:lnTo>
                  <a:cubicBezTo>
                    <a:pt x="1006856" y="2006473"/>
                    <a:pt x="1000633" y="2006473"/>
                    <a:pt x="996442" y="2002790"/>
                  </a:cubicBezTo>
                  <a:lnTo>
                    <a:pt x="4445" y="1109980"/>
                  </a:lnTo>
                  <a:cubicBezTo>
                    <a:pt x="1143" y="1106932"/>
                    <a:pt x="0" y="1102233"/>
                    <a:pt x="1651" y="1098169"/>
                  </a:cubicBezTo>
                  <a:cubicBezTo>
                    <a:pt x="3302" y="1094105"/>
                    <a:pt x="7239" y="1091311"/>
                    <a:pt x="11684" y="1091311"/>
                  </a:cubicBezTo>
                  <a:moveTo>
                    <a:pt x="11684" y="1112901"/>
                  </a:moveTo>
                  <a:lnTo>
                    <a:pt x="11684" y="1102106"/>
                  </a:lnTo>
                  <a:lnTo>
                    <a:pt x="18923" y="1094105"/>
                  </a:lnTo>
                  <a:lnTo>
                    <a:pt x="1010920" y="1986915"/>
                  </a:lnTo>
                  <a:lnTo>
                    <a:pt x="1003681" y="1994916"/>
                  </a:lnTo>
                  <a:lnTo>
                    <a:pt x="996442" y="1986915"/>
                  </a:lnTo>
                  <a:lnTo>
                    <a:pt x="1988439" y="1094105"/>
                  </a:lnTo>
                  <a:lnTo>
                    <a:pt x="1995678" y="1102106"/>
                  </a:lnTo>
                  <a:lnTo>
                    <a:pt x="1995678" y="1112901"/>
                  </a:lnTo>
                  <a:lnTo>
                    <a:pt x="1549273" y="1112901"/>
                  </a:lnTo>
                  <a:cubicBezTo>
                    <a:pt x="1543304" y="1112901"/>
                    <a:pt x="1538478" y="1108075"/>
                    <a:pt x="1538478" y="1102106"/>
                  </a:cubicBezTo>
                  <a:lnTo>
                    <a:pt x="1538478" y="10795"/>
                  </a:lnTo>
                  <a:lnTo>
                    <a:pt x="1549273" y="10795"/>
                  </a:lnTo>
                  <a:lnTo>
                    <a:pt x="1549273" y="21590"/>
                  </a:lnTo>
                  <a:lnTo>
                    <a:pt x="458089" y="21590"/>
                  </a:lnTo>
                  <a:lnTo>
                    <a:pt x="458089" y="10795"/>
                  </a:lnTo>
                  <a:lnTo>
                    <a:pt x="468884" y="10795"/>
                  </a:lnTo>
                  <a:lnTo>
                    <a:pt x="468884" y="1101979"/>
                  </a:lnTo>
                  <a:cubicBezTo>
                    <a:pt x="468884" y="1107948"/>
                    <a:pt x="464058" y="1112774"/>
                    <a:pt x="458089" y="1112774"/>
                  </a:cubicBezTo>
                  <a:lnTo>
                    <a:pt x="11684" y="1112774"/>
                  </a:lnTo>
                  <a:close/>
                </a:path>
              </a:pathLst>
            </a:custGeom>
            <a:solidFill>
              <a:srgbClr val="FDE6C8">
                <a:alpha val="8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42" name="Google Shape;442;p22"/>
          <p:cNvGrpSpPr/>
          <p:nvPr/>
        </p:nvGrpSpPr>
        <p:grpSpPr>
          <a:xfrm>
            <a:off x="14866023" y="5711738"/>
            <a:ext cx="1505426" cy="1504855"/>
            <a:chOff x="-889" y="0"/>
            <a:chExt cx="2007235" cy="2006473"/>
          </a:xfrm>
        </p:grpSpPr>
        <p:sp>
          <p:nvSpPr>
            <p:cNvPr id="443" name="Google Shape;443;p22"/>
            <p:cNvSpPr/>
            <p:nvPr/>
          </p:nvSpPr>
          <p:spPr>
            <a:xfrm>
              <a:off x="10795" y="10795"/>
              <a:ext cx="1983994" cy="1983994"/>
            </a:xfrm>
            <a:custGeom>
              <a:rect b="b" l="l" r="r" t="t"/>
              <a:pathLst>
                <a:path extrusionOk="0" h="1983994" w="1983994">
                  <a:moveTo>
                    <a:pt x="0" y="1091184"/>
                  </a:moveTo>
                  <a:lnTo>
                    <a:pt x="446405" y="1091184"/>
                  </a:lnTo>
                  <a:lnTo>
                    <a:pt x="446405" y="0"/>
                  </a:lnTo>
                  <a:lnTo>
                    <a:pt x="1537589" y="0"/>
                  </a:lnTo>
                  <a:lnTo>
                    <a:pt x="1537589" y="1091184"/>
                  </a:lnTo>
                  <a:lnTo>
                    <a:pt x="1983994" y="1091184"/>
                  </a:lnTo>
                  <a:lnTo>
                    <a:pt x="991997" y="1983994"/>
                  </a:lnTo>
                  <a:close/>
                </a:path>
              </a:pathLst>
            </a:custGeom>
            <a:solidFill>
              <a:srgbClr val="DAE6C9">
                <a:alpha val="80000"/>
              </a:srgbClr>
            </a:solidFill>
            <a:ln>
              <a:noFill/>
            </a:ln>
          </p:spPr>
        </p:sp>
        <p:sp>
          <p:nvSpPr>
            <p:cNvPr id="444" name="Google Shape;444;p22"/>
            <p:cNvSpPr/>
            <p:nvPr/>
          </p:nvSpPr>
          <p:spPr>
            <a:xfrm>
              <a:off x="-889" y="0"/>
              <a:ext cx="2007235" cy="2006473"/>
            </a:xfrm>
            <a:custGeom>
              <a:rect b="b" l="l" r="r" t="t"/>
              <a:pathLst>
                <a:path extrusionOk="0" h="2006473" w="2007235">
                  <a:moveTo>
                    <a:pt x="11684" y="1091184"/>
                  </a:moveTo>
                  <a:lnTo>
                    <a:pt x="458089" y="1091184"/>
                  </a:lnTo>
                  <a:lnTo>
                    <a:pt x="458089" y="1101979"/>
                  </a:lnTo>
                  <a:lnTo>
                    <a:pt x="447294" y="1101979"/>
                  </a:lnTo>
                  <a:lnTo>
                    <a:pt x="447294" y="10795"/>
                  </a:lnTo>
                  <a:cubicBezTo>
                    <a:pt x="447294" y="4826"/>
                    <a:pt x="452120" y="0"/>
                    <a:pt x="458089" y="0"/>
                  </a:cubicBezTo>
                  <a:lnTo>
                    <a:pt x="1549273" y="0"/>
                  </a:lnTo>
                  <a:cubicBezTo>
                    <a:pt x="1555242" y="0"/>
                    <a:pt x="1560068" y="4826"/>
                    <a:pt x="1560068" y="10795"/>
                  </a:cubicBezTo>
                  <a:lnTo>
                    <a:pt x="1560068" y="1101979"/>
                  </a:lnTo>
                  <a:lnTo>
                    <a:pt x="1549273" y="1101979"/>
                  </a:lnTo>
                  <a:lnTo>
                    <a:pt x="1549273" y="1091184"/>
                  </a:lnTo>
                  <a:lnTo>
                    <a:pt x="1995678" y="1091184"/>
                  </a:lnTo>
                  <a:cubicBezTo>
                    <a:pt x="2000123" y="1091184"/>
                    <a:pt x="2004187" y="1093978"/>
                    <a:pt x="2005711" y="1098042"/>
                  </a:cubicBezTo>
                  <a:cubicBezTo>
                    <a:pt x="2007235" y="1102106"/>
                    <a:pt x="2006219" y="1106932"/>
                    <a:pt x="2002917" y="1109853"/>
                  </a:cubicBezTo>
                  <a:lnTo>
                    <a:pt x="1010920" y="2002790"/>
                  </a:lnTo>
                  <a:cubicBezTo>
                    <a:pt x="1006856" y="2006473"/>
                    <a:pt x="1000633" y="2006473"/>
                    <a:pt x="996442" y="2002790"/>
                  </a:cubicBezTo>
                  <a:lnTo>
                    <a:pt x="4445" y="1109980"/>
                  </a:lnTo>
                  <a:cubicBezTo>
                    <a:pt x="1143" y="1106932"/>
                    <a:pt x="0" y="1102233"/>
                    <a:pt x="1651" y="1098169"/>
                  </a:cubicBezTo>
                  <a:cubicBezTo>
                    <a:pt x="3302" y="1094105"/>
                    <a:pt x="7239" y="1091311"/>
                    <a:pt x="11684" y="1091311"/>
                  </a:cubicBezTo>
                  <a:moveTo>
                    <a:pt x="11684" y="1112901"/>
                  </a:moveTo>
                  <a:lnTo>
                    <a:pt x="11684" y="1102106"/>
                  </a:lnTo>
                  <a:lnTo>
                    <a:pt x="18923" y="1094105"/>
                  </a:lnTo>
                  <a:lnTo>
                    <a:pt x="1010920" y="1986915"/>
                  </a:lnTo>
                  <a:lnTo>
                    <a:pt x="1003681" y="1994916"/>
                  </a:lnTo>
                  <a:lnTo>
                    <a:pt x="996442" y="1986915"/>
                  </a:lnTo>
                  <a:lnTo>
                    <a:pt x="1988439" y="1094105"/>
                  </a:lnTo>
                  <a:lnTo>
                    <a:pt x="1995678" y="1102106"/>
                  </a:lnTo>
                  <a:lnTo>
                    <a:pt x="1995678" y="1112901"/>
                  </a:lnTo>
                  <a:lnTo>
                    <a:pt x="1549273" y="1112901"/>
                  </a:lnTo>
                  <a:cubicBezTo>
                    <a:pt x="1543304" y="1112901"/>
                    <a:pt x="1538478" y="1108075"/>
                    <a:pt x="1538478" y="1102106"/>
                  </a:cubicBezTo>
                  <a:lnTo>
                    <a:pt x="1538478" y="10795"/>
                  </a:lnTo>
                  <a:lnTo>
                    <a:pt x="1549273" y="10795"/>
                  </a:lnTo>
                  <a:lnTo>
                    <a:pt x="1549273" y="21590"/>
                  </a:lnTo>
                  <a:lnTo>
                    <a:pt x="458089" y="21590"/>
                  </a:lnTo>
                  <a:lnTo>
                    <a:pt x="458089" y="10795"/>
                  </a:lnTo>
                  <a:lnTo>
                    <a:pt x="468884" y="10795"/>
                  </a:lnTo>
                  <a:lnTo>
                    <a:pt x="468884" y="1101979"/>
                  </a:lnTo>
                  <a:cubicBezTo>
                    <a:pt x="468884" y="1107948"/>
                    <a:pt x="464058" y="1112774"/>
                    <a:pt x="458089" y="1112774"/>
                  </a:cubicBezTo>
                  <a:lnTo>
                    <a:pt x="11684" y="1112774"/>
                  </a:lnTo>
                  <a:close/>
                </a:path>
              </a:pathLst>
            </a:custGeom>
            <a:solidFill>
              <a:srgbClr val="DAE6C9">
                <a:alpha val="8000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23"/>
          <p:cNvSpPr/>
          <p:nvPr/>
        </p:nvSpPr>
        <p:spPr>
          <a:xfrm>
            <a:off x="1" y="1138428"/>
            <a:ext cx="5165408" cy="7996428"/>
          </a:xfrm>
          <a:custGeom>
            <a:rect b="b" l="l" r="r" t="t"/>
            <a:pathLst>
              <a:path extrusionOk="0" h="10661904" w="6887210">
                <a:moveTo>
                  <a:pt x="0" y="0"/>
                </a:moveTo>
                <a:lnTo>
                  <a:pt x="6887210" y="0"/>
                </a:lnTo>
                <a:lnTo>
                  <a:pt x="6887210" y="10661904"/>
                </a:lnTo>
                <a:lnTo>
                  <a:pt x="0" y="10661904"/>
                </a:lnTo>
                <a:close/>
              </a:path>
            </a:pathLst>
          </a:custGeom>
          <a:solidFill>
            <a:srgbClr val="40BAD2"/>
          </a:solidFill>
          <a:ln>
            <a:noFill/>
          </a:ln>
        </p:spPr>
      </p:sp>
      <p:sp>
        <p:nvSpPr>
          <p:cNvPr id="450" name="Google Shape;450;p23"/>
          <p:cNvSpPr/>
          <p:nvPr/>
        </p:nvSpPr>
        <p:spPr>
          <a:xfrm>
            <a:off x="17723796" y="1138428"/>
            <a:ext cx="576072" cy="7996428"/>
          </a:xfrm>
          <a:custGeom>
            <a:rect b="b" l="l" r="r" t="t"/>
            <a:pathLst>
              <a:path extrusionOk="0" h="10661904" w="768096">
                <a:moveTo>
                  <a:pt x="0" y="0"/>
                </a:moveTo>
                <a:lnTo>
                  <a:pt x="768096" y="0"/>
                </a:lnTo>
                <a:lnTo>
                  <a:pt x="768096" y="10661904"/>
                </a:lnTo>
                <a:lnTo>
                  <a:pt x="0" y="10661904"/>
                </a:lnTo>
                <a:close/>
              </a:path>
            </a:pathLst>
          </a:custGeom>
          <a:solidFill>
            <a:srgbClr val="C8C8C8">
              <a:alpha val="24706"/>
            </a:srgbClr>
          </a:solidFill>
          <a:ln>
            <a:noFill/>
          </a:ln>
        </p:spPr>
      </p:sp>
      <p:sp>
        <p:nvSpPr>
          <p:cNvPr id="451" name="Google Shape;451;p23"/>
          <p:cNvSpPr/>
          <p:nvPr/>
        </p:nvSpPr>
        <p:spPr>
          <a:xfrm>
            <a:off x="0" y="1142998"/>
            <a:ext cx="13712475" cy="8001000"/>
          </a:xfrm>
          <a:custGeom>
            <a:rect b="b" l="l" r="r" t="t"/>
            <a:pathLst>
              <a:path extrusionOk="0" h="10668000" w="18283301">
                <a:moveTo>
                  <a:pt x="0" y="0"/>
                </a:moveTo>
                <a:lnTo>
                  <a:pt x="18283301" y="0"/>
                </a:lnTo>
                <a:lnTo>
                  <a:pt x="18283301" y="10668000"/>
                </a:lnTo>
                <a:lnTo>
                  <a:pt x="0" y="10668000"/>
                </a:lnTo>
                <a:close/>
              </a:path>
            </a:pathLst>
          </a:custGeom>
          <a:solidFill>
            <a:srgbClr val="40BAD2"/>
          </a:solidFill>
          <a:ln>
            <a:noFill/>
          </a:ln>
        </p:spPr>
      </p:sp>
      <p:sp>
        <p:nvSpPr>
          <p:cNvPr id="452" name="Google Shape;452;p23"/>
          <p:cNvSpPr/>
          <p:nvPr/>
        </p:nvSpPr>
        <p:spPr>
          <a:xfrm>
            <a:off x="13905394" y="1142998"/>
            <a:ext cx="4387977" cy="8001000"/>
          </a:xfrm>
          <a:custGeom>
            <a:rect b="b" l="l" r="r" t="t"/>
            <a:pathLst>
              <a:path extrusionOk="0" h="10668000" w="5850636">
                <a:moveTo>
                  <a:pt x="0" y="0"/>
                </a:moveTo>
                <a:lnTo>
                  <a:pt x="5850636" y="0"/>
                </a:lnTo>
                <a:lnTo>
                  <a:pt x="5850636" y="10668000"/>
                </a:lnTo>
                <a:lnTo>
                  <a:pt x="0" y="10668000"/>
                </a:lnTo>
                <a:close/>
              </a:path>
            </a:pathLst>
          </a:custGeom>
          <a:solidFill>
            <a:srgbClr val="C8C8C8">
              <a:alpha val="24706"/>
            </a:srgbClr>
          </a:solidFill>
          <a:ln>
            <a:noFill/>
          </a:ln>
        </p:spPr>
      </p:sp>
      <p:sp>
        <p:nvSpPr>
          <p:cNvPr id="453" name="Google Shape;453;p23"/>
          <p:cNvSpPr/>
          <p:nvPr/>
        </p:nvSpPr>
        <p:spPr>
          <a:xfrm>
            <a:off x="0" y="0"/>
            <a:ext cx="18287999" cy="10287000"/>
          </a:xfrm>
          <a:custGeom>
            <a:rect b="b" l="l" r="r" t="t"/>
            <a:pathLst>
              <a:path extrusionOk="0" h="13716000" w="24384000">
                <a:moveTo>
                  <a:pt x="0" y="0"/>
                </a:moveTo>
                <a:lnTo>
                  <a:pt x="24384000" y="0"/>
                </a:lnTo>
                <a:lnTo>
                  <a:pt x="24384000" y="13716000"/>
                </a:lnTo>
                <a:lnTo>
                  <a:pt x="0" y="13716000"/>
                </a:lnTo>
                <a:close/>
              </a:path>
            </a:pathLst>
          </a:custGeom>
          <a:solidFill>
            <a:srgbClr val="FFFFFF"/>
          </a:solidFill>
          <a:ln>
            <a:noFill/>
          </a:ln>
        </p:spPr>
      </p:sp>
      <p:sp>
        <p:nvSpPr>
          <p:cNvPr id="454" name="Google Shape;454;p23"/>
          <p:cNvSpPr/>
          <p:nvPr/>
        </p:nvSpPr>
        <p:spPr>
          <a:xfrm>
            <a:off x="0" y="6551458"/>
            <a:ext cx="17561052" cy="2778252"/>
          </a:xfrm>
          <a:custGeom>
            <a:rect b="b" l="l" r="r" t="t"/>
            <a:pathLst>
              <a:path extrusionOk="0" h="3704336" w="23414737">
                <a:moveTo>
                  <a:pt x="0" y="0"/>
                </a:moveTo>
                <a:lnTo>
                  <a:pt x="23414737" y="0"/>
                </a:lnTo>
                <a:lnTo>
                  <a:pt x="23414737" y="3704336"/>
                </a:lnTo>
                <a:lnTo>
                  <a:pt x="0" y="3704336"/>
                </a:lnTo>
                <a:close/>
              </a:path>
            </a:pathLst>
          </a:custGeom>
          <a:solidFill>
            <a:srgbClr val="40BAD2"/>
          </a:solidFill>
          <a:ln>
            <a:noFill/>
          </a:ln>
        </p:spPr>
      </p:sp>
      <p:grpSp>
        <p:nvGrpSpPr>
          <p:cNvPr id="455" name="Google Shape;455;p23"/>
          <p:cNvGrpSpPr/>
          <p:nvPr/>
        </p:nvGrpSpPr>
        <p:grpSpPr>
          <a:xfrm>
            <a:off x="1604772" y="6885992"/>
            <a:ext cx="15316293" cy="1598535"/>
            <a:chOff x="0" y="0"/>
            <a:chExt cx="20421724" cy="2131380"/>
          </a:xfrm>
        </p:grpSpPr>
        <p:sp>
          <p:nvSpPr>
            <p:cNvPr id="456" name="Google Shape;456;p23"/>
            <p:cNvSpPr/>
            <p:nvPr/>
          </p:nvSpPr>
          <p:spPr>
            <a:xfrm>
              <a:off x="0" y="0"/>
              <a:ext cx="20421724" cy="2131380"/>
            </a:xfrm>
            <a:custGeom>
              <a:rect b="b" l="l" r="r" t="t"/>
              <a:pathLst>
                <a:path extrusionOk="0" h="2131380" w="20421724">
                  <a:moveTo>
                    <a:pt x="0" y="0"/>
                  </a:moveTo>
                  <a:lnTo>
                    <a:pt x="20421724" y="0"/>
                  </a:lnTo>
                  <a:lnTo>
                    <a:pt x="20421724" y="2131380"/>
                  </a:lnTo>
                  <a:lnTo>
                    <a:pt x="0" y="2131380"/>
                  </a:lnTo>
                  <a:close/>
                </a:path>
              </a:pathLst>
            </a:custGeom>
            <a:solidFill>
              <a:srgbClr val="000000">
                <a:alpha val="0"/>
              </a:srgbClr>
            </a:solidFill>
            <a:ln>
              <a:noFill/>
            </a:ln>
          </p:spPr>
        </p:sp>
        <p:sp>
          <p:nvSpPr>
            <p:cNvPr id="457" name="Google Shape;457;p23"/>
            <p:cNvSpPr txBox="1"/>
            <p:nvPr/>
          </p:nvSpPr>
          <p:spPr>
            <a:xfrm>
              <a:off x="0" y="104775"/>
              <a:ext cx="20421724" cy="2026605"/>
            </a:xfrm>
            <a:prstGeom prst="rect">
              <a:avLst/>
            </a:prstGeom>
            <a:noFill/>
            <a:ln>
              <a:noFill/>
            </a:ln>
          </p:spPr>
          <p:txBody>
            <a:bodyPr anchorCtr="0" anchor="b" bIns="0" lIns="0" spcFirstLastPara="1" rIns="0" wrap="square" tIns="0">
              <a:noAutofit/>
            </a:bodyPr>
            <a:lstStyle/>
            <a:p>
              <a:pPr indent="0" lvl="0" marL="0" marR="0" rtl="0" algn="l">
                <a:lnSpc>
                  <a:spcPct val="108000"/>
                </a:lnSpc>
                <a:spcBef>
                  <a:spcPts val="0"/>
                </a:spcBef>
                <a:spcAft>
                  <a:spcPts val="0"/>
                </a:spcAft>
                <a:buClr>
                  <a:srgbClr val="000000"/>
                </a:buClr>
                <a:buSzPts val="8850"/>
                <a:buFont typeface="Arial"/>
                <a:buNone/>
              </a:pPr>
              <a:r>
                <a:rPr b="0" i="0" lang="en-US" sz="8850" u="none" cap="none" strike="noStrike">
                  <a:solidFill>
                    <a:srgbClr val="FFFFFF"/>
                  </a:solidFill>
                  <a:latin typeface="PT Sans"/>
                  <a:ea typeface="PT Sans"/>
                  <a:cs typeface="PT Sans"/>
                  <a:sym typeface="PT Sans"/>
                </a:rPr>
                <a:t>Ejemplo</a:t>
              </a:r>
              <a:endParaRPr b="0" i="0" sz="1400" u="none" cap="none" strike="noStrike">
                <a:solidFill>
                  <a:srgbClr val="000000"/>
                </a:solidFill>
                <a:latin typeface="Arial"/>
                <a:ea typeface="Arial"/>
                <a:cs typeface="Arial"/>
                <a:sym typeface="Arial"/>
              </a:endParaRPr>
            </a:p>
          </p:txBody>
        </p:sp>
      </p:grpSp>
      <p:sp>
        <p:nvSpPr>
          <p:cNvPr id="458" name="Google Shape;458;p23"/>
          <p:cNvSpPr/>
          <p:nvPr/>
        </p:nvSpPr>
        <p:spPr>
          <a:xfrm>
            <a:off x="1604770" y="726948"/>
            <a:ext cx="15956279" cy="5335142"/>
          </a:xfrm>
          <a:custGeom>
            <a:rect b="b" l="l" r="r" t="t"/>
            <a:pathLst>
              <a:path extrusionOk="0" h="7113524" w="21275039">
                <a:moveTo>
                  <a:pt x="0" y="0"/>
                </a:moveTo>
                <a:lnTo>
                  <a:pt x="21275039" y="0"/>
                </a:lnTo>
                <a:lnTo>
                  <a:pt x="21275039" y="7113524"/>
                </a:lnTo>
                <a:lnTo>
                  <a:pt x="0" y="7113524"/>
                </a:lnTo>
                <a:lnTo>
                  <a:pt x="0" y="0"/>
                </a:lnTo>
                <a:close/>
              </a:path>
            </a:pathLst>
          </a:custGeom>
          <a:blipFill rotWithShape="1">
            <a:blip r:embed="rId3">
              <a:alphaModFix/>
            </a:blip>
            <a:stretch>
              <a:fillRect b="-34405" l="0" r="0" t="-6749"/>
            </a:stretch>
          </a:blipFill>
          <a:ln>
            <a:noFill/>
          </a:ln>
        </p:spPr>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24"/>
          <p:cNvSpPr/>
          <p:nvPr/>
        </p:nvSpPr>
        <p:spPr>
          <a:xfrm>
            <a:off x="1" y="1138428"/>
            <a:ext cx="5165408" cy="7996428"/>
          </a:xfrm>
          <a:custGeom>
            <a:rect b="b" l="l" r="r" t="t"/>
            <a:pathLst>
              <a:path extrusionOk="0" h="10661904" w="6887210">
                <a:moveTo>
                  <a:pt x="0" y="0"/>
                </a:moveTo>
                <a:lnTo>
                  <a:pt x="6887210" y="0"/>
                </a:lnTo>
                <a:lnTo>
                  <a:pt x="6887210" y="10661904"/>
                </a:lnTo>
                <a:lnTo>
                  <a:pt x="0" y="10661904"/>
                </a:lnTo>
                <a:close/>
              </a:path>
            </a:pathLst>
          </a:custGeom>
          <a:solidFill>
            <a:srgbClr val="40BAD2"/>
          </a:solidFill>
          <a:ln>
            <a:noFill/>
          </a:ln>
        </p:spPr>
      </p:sp>
      <p:sp>
        <p:nvSpPr>
          <p:cNvPr id="464" name="Google Shape;464;p24"/>
          <p:cNvSpPr/>
          <p:nvPr/>
        </p:nvSpPr>
        <p:spPr>
          <a:xfrm>
            <a:off x="17723796" y="1138428"/>
            <a:ext cx="576072" cy="7996428"/>
          </a:xfrm>
          <a:custGeom>
            <a:rect b="b" l="l" r="r" t="t"/>
            <a:pathLst>
              <a:path extrusionOk="0" h="10661904" w="768096">
                <a:moveTo>
                  <a:pt x="0" y="0"/>
                </a:moveTo>
                <a:lnTo>
                  <a:pt x="768096" y="0"/>
                </a:lnTo>
                <a:lnTo>
                  <a:pt x="768096" y="10661904"/>
                </a:lnTo>
                <a:lnTo>
                  <a:pt x="0" y="10661904"/>
                </a:lnTo>
                <a:close/>
              </a:path>
            </a:pathLst>
          </a:custGeom>
          <a:solidFill>
            <a:srgbClr val="C8C8C8">
              <a:alpha val="24706"/>
            </a:srgbClr>
          </a:solidFill>
          <a:ln>
            <a:noFill/>
          </a:ln>
        </p:spPr>
      </p:sp>
      <p:sp>
        <p:nvSpPr>
          <p:cNvPr id="465" name="Google Shape;465;p24"/>
          <p:cNvSpPr/>
          <p:nvPr/>
        </p:nvSpPr>
        <p:spPr>
          <a:xfrm>
            <a:off x="0" y="0"/>
            <a:ext cx="18288000" cy="10287000"/>
          </a:xfrm>
          <a:custGeom>
            <a:rect b="b" l="l" r="r" t="t"/>
            <a:pathLst>
              <a:path extrusionOk="0" h="13716000" w="24384000">
                <a:moveTo>
                  <a:pt x="0" y="0"/>
                </a:moveTo>
                <a:lnTo>
                  <a:pt x="24384000" y="0"/>
                </a:lnTo>
                <a:lnTo>
                  <a:pt x="24384000" y="13716000"/>
                </a:lnTo>
                <a:lnTo>
                  <a:pt x="0" y="13716000"/>
                </a:lnTo>
                <a:close/>
              </a:path>
            </a:pathLst>
          </a:custGeom>
          <a:solidFill>
            <a:srgbClr val="FFFFFF"/>
          </a:solidFill>
          <a:ln>
            <a:noFill/>
          </a:ln>
        </p:spPr>
      </p:sp>
      <p:grpSp>
        <p:nvGrpSpPr>
          <p:cNvPr id="466" name="Google Shape;466;p24"/>
          <p:cNvGrpSpPr/>
          <p:nvPr/>
        </p:nvGrpSpPr>
        <p:grpSpPr>
          <a:xfrm>
            <a:off x="2308674" y="1296162"/>
            <a:ext cx="4610871" cy="7680958"/>
            <a:chOff x="0" y="0"/>
            <a:chExt cx="6147828" cy="10241278"/>
          </a:xfrm>
        </p:grpSpPr>
        <p:sp>
          <p:nvSpPr>
            <p:cNvPr id="467" name="Google Shape;467;p24"/>
            <p:cNvSpPr/>
            <p:nvPr/>
          </p:nvSpPr>
          <p:spPr>
            <a:xfrm>
              <a:off x="0" y="0"/>
              <a:ext cx="6147828" cy="10241278"/>
            </a:xfrm>
            <a:custGeom>
              <a:rect b="b" l="l" r="r" t="t"/>
              <a:pathLst>
                <a:path extrusionOk="0" h="10241278" w="6147828">
                  <a:moveTo>
                    <a:pt x="0" y="0"/>
                  </a:moveTo>
                  <a:lnTo>
                    <a:pt x="6147828" y="0"/>
                  </a:lnTo>
                  <a:lnTo>
                    <a:pt x="6147828" y="10241278"/>
                  </a:lnTo>
                  <a:lnTo>
                    <a:pt x="0" y="10241278"/>
                  </a:lnTo>
                  <a:close/>
                </a:path>
              </a:pathLst>
            </a:custGeom>
            <a:solidFill>
              <a:srgbClr val="000000">
                <a:alpha val="0"/>
              </a:srgbClr>
            </a:solidFill>
            <a:ln>
              <a:noFill/>
            </a:ln>
          </p:spPr>
        </p:sp>
        <p:sp>
          <p:nvSpPr>
            <p:cNvPr id="468" name="Google Shape;468;p24"/>
            <p:cNvSpPr txBox="1"/>
            <p:nvPr/>
          </p:nvSpPr>
          <p:spPr>
            <a:xfrm>
              <a:off x="0" y="47625"/>
              <a:ext cx="6147828" cy="10193653"/>
            </a:xfrm>
            <a:prstGeom prst="rect">
              <a:avLst/>
            </a:prstGeom>
            <a:noFill/>
            <a:ln>
              <a:noFill/>
            </a:ln>
          </p:spPr>
          <p:txBody>
            <a:bodyPr anchorCtr="0" anchor="ctr" bIns="0" lIns="0" spcFirstLastPara="1" rIns="0" wrap="square" tIns="0">
              <a:noAutofit/>
            </a:bodyPr>
            <a:lstStyle/>
            <a:p>
              <a:pPr indent="0" lvl="0" marL="0" marR="0" rtl="0" algn="r">
                <a:lnSpc>
                  <a:spcPct val="108000"/>
                </a:lnSpc>
                <a:spcBef>
                  <a:spcPts val="0"/>
                </a:spcBef>
                <a:spcAft>
                  <a:spcPts val="0"/>
                </a:spcAft>
                <a:buClr>
                  <a:srgbClr val="000000"/>
                </a:buClr>
                <a:buSzPts val="5400"/>
                <a:buFont typeface="Arial"/>
                <a:buNone/>
              </a:pPr>
              <a:r>
                <a:rPr b="0" i="0" lang="en-US" sz="5400" u="none" cap="none" strike="noStrike">
                  <a:solidFill>
                    <a:srgbClr val="262626"/>
                  </a:solidFill>
                  <a:latin typeface="PT Sans"/>
                  <a:ea typeface="PT Sans"/>
                  <a:cs typeface="PT Sans"/>
                  <a:sym typeface="PT Sans"/>
                </a:rPr>
                <a:t>Recursividad de Cola</a:t>
              </a:r>
              <a:endParaRPr b="0" i="0" sz="1400" u="none" cap="none" strike="noStrike">
                <a:solidFill>
                  <a:srgbClr val="000000"/>
                </a:solidFill>
                <a:latin typeface="Arial"/>
                <a:ea typeface="Arial"/>
                <a:cs typeface="Arial"/>
                <a:sym typeface="Arial"/>
              </a:endParaRPr>
            </a:p>
          </p:txBody>
        </p:sp>
      </p:grpSp>
      <p:sp>
        <p:nvSpPr>
          <p:cNvPr id="469" name="Google Shape;469;p24"/>
          <p:cNvSpPr/>
          <p:nvPr/>
        </p:nvSpPr>
        <p:spPr>
          <a:xfrm>
            <a:off x="0" y="1142998"/>
            <a:ext cx="1930432" cy="8001000"/>
          </a:xfrm>
          <a:custGeom>
            <a:rect b="b" l="l" r="r" t="t"/>
            <a:pathLst>
              <a:path extrusionOk="0" h="10668000" w="2573909">
                <a:moveTo>
                  <a:pt x="0" y="0"/>
                </a:moveTo>
                <a:lnTo>
                  <a:pt x="2573909" y="0"/>
                </a:lnTo>
                <a:lnTo>
                  <a:pt x="2573909" y="10668000"/>
                </a:lnTo>
                <a:lnTo>
                  <a:pt x="0" y="10668000"/>
                </a:lnTo>
                <a:close/>
              </a:path>
            </a:pathLst>
          </a:custGeom>
          <a:solidFill>
            <a:srgbClr val="40BAD2"/>
          </a:solidFill>
          <a:ln>
            <a:noFill/>
          </a:ln>
        </p:spPr>
      </p:sp>
      <p:cxnSp>
        <p:nvCxnSpPr>
          <p:cNvPr id="470" name="Google Shape;470;p24"/>
          <p:cNvCxnSpPr/>
          <p:nvPr/>
        </p:nvCxnSpPr>
        <p:spPr>
          <a:xfrm rot="5383826">
            <a:off x="5402167" y="5143501"/>
            <a:ext cx="4049053" cy="0"/>
          </a:xfrm>
          <a:prstGeom prst="straightConnector1">
            <a:avLst/>
          </a:prstGeom>
          <a:noFill/>
          <a:ln cap="rnd" cmpd="sng" w="9525">
            <a:solidFill>
              <a:srgbClr val="7F7F7F"/>
            </a:solidFill>
            <a:prstDash val="solid"/>
            <a:round/>
            <a:headEnd len="sm" w="sm" type="none"/>
            <a:tailEnd len="sm" w="sm" type="none"/>
          </a:ln>
        </p:spPr>
      </p:cxnSp>
      <p:grpSp>
        <p:nvGrpSpPr>
          <p:cNvPr id="471" name="Google Shape;471;p24"/>
          <p:cNvGrpSpPr/>
          <p:nvPr/>
        </p:nvGrpSpPr>
        <p:grpSpPr>
          <a:xfrm>
            <a:off x="7933844" y="1296162"/>
            <a:ext cx="8866015" cy="7680960"/>
            <a:chOff x="0" y="0"/>
            <a:chExt cx="11821354" cy="10241280"/>
          </a:xfrm>
        </p:grpSpPr>
        <p:sp>
          <p:nvSpPr>
            <p:cNvPr id="472" name="Google Shape;472;p24"/>
            <p:cNvSpPr/>
            <p:nvPr/>
          </p:nvSpPr>
          <p:spPr>
            <a:xfrm>
              <a:off x="0" y="0"/>
              <a:ext cx="11821354" cy="10241280"/>
            </a:xfrm>
            <a:custGeom>
              <a:rect b="b" l="l" r="r" t="t"/>
              <a:pathLst>
                <a:path extrusionOk="0" h="10241280" w="11821354">
                  <a:moveTo>
                    <a:pt x="0" y="0"/>
                  </a:moveTo>
                  <a:lnTo>
                    <a:pt x="11821354" y="0"/>
                  </a:lnTo>
                  <a:lnTo>
                    <a:pt x="11821354" y="10241280"/>
                  </a:lnTo>
                  <a:lnTo>
                    <a:pt x="0" y="10241280"/>
                  </a:lnTo>
                  <a:close/>
                </a:path>
              </a:pathLst>
            </a:custGeom>
            <a:solidFill>
              <a:srgbClr val="000000">
                <a:alpha val="0"/>
              </a:srgbClr>
            </a:solidFill>
            <a:ln>
              <a:noFill/>
            </a:ln>
          </p:spPr>
        </p:sp>
        <p:sp>
          <p:nvSpPr>
            <p:cNvPr id="473" name="Google Shape;473;p24"/>
            <p:cNvSpPr txBox="1"/>
            <p:nvPr/>
          </p:nvSpPr>
          <p:spPr>
            <a:xfrm>
              <a:off x="0" y="38100"/>
              <a:ext cx="11821354" cy="1020318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000000"/>
                </a:buClr>
                <a:buSzPts val="3000"/>
                <a:buFont typeface="Arial"/>
                <a:buNone/>
              </a:pPr>
              <a:r>
                <a:rPr b="0" i="0" lang="en-US" sz="3000" u="none" cap="none" strike="noStrike">
                  <a:solidFill>
                    <a:srgbClr val="595959"/>
                  </a:solidFill>
                  <a:latin typeface="PT Sans"/>
                  <a:ea typeface="PT Sans"/>
                  <a:cs typeface="PT Sans"/>
                  <a:sym typeface="PT Sans"/>
                </a:rPr>
                <a:t>¿Qué es?, ¿Para qué sirve?, Funciones, ¿Cómo funciona?</a:t>
              </a:r>
              <a:endParaRPr b="0" i="0" sz="1400" u="none" cap="none" strike="noStrike">
                <a:solidFill>
                  <a:srgbClr val="000000"/>
                </a:solidFill>
                <a:latin typeface="Arial"/>
                <a:ea typeface="Arial"/>
                <a:cs typeface="Arial"/>
                <a:sym typeface="Arial"/>
              </a:endParaRPr>
            </a:p>
          </p:txBody>
        </p:sp>
      </p:grpSp>
      <p:sp>
        <p:nvSpPr>
          <p:cNvPr id="474" name="Google Shape;474;p24"/>
          <p:cNvSpPr/>
          <p:nvPr/>
        </p:nvSpPr>
        <p:spPr>
          <a:xfrm>
            <a:off x="17525982" y="1151738"/>
            <a:ext cx="762000" cy="7992237"/>
          </a:xfrm>
          <a:custGeom>
            <a:rect b="b" l="l" r="r" t="t"/>
            <a:pathLst>
              <a:path extrusionOk="0" h="10656316" w="1016000">
                <a:moveTo>
                  <a:pt x="0" y="0"/>
                </a:moveTo>
                <a:lnTo>
                  <a:pt x="1016000" y="0"/>
                </a:lnTo>
                <a:lnTo>
                  <a:pt x="1016000" y="10656316"/>
                </a:lnTo>
                <a:lnTo>
                  <a:pt x="0" y="10656316"/>
                </a:lnTo>
                <a:close/>
              </a:path>
            </a:pathLst>
          </a:custGeom>
          <a:solidFill>
            <a:srgbClr val="C8C8C8">
              <a:alpha val="24706"/>
            </a:srgbClr>
          </a:solidFill>
          <a:ln>
            <a:noFill/>
          </a:ln>
        </p:spPr>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25"/>
          <p:cNvSpPr/>
          <p:nvPr/>
        </p:nvSpPr>
        <p:spPr>
          <a:xfrm>
            <a:off x="1" y="1138428"/>
            <a:ext cx="5165408" cy="7996428"/>
          </a:xfrm>
          <a:custGeom>
            <a:rect b="b" l="l" r="r" t="t"/>
            <a:pathLst>
              <a:path extrusionOk="0" h="10661904" w="6887210">
                <a:moveTo>
                  <a:pt x="0" y="0"/>
                </a:moveTo>
                <a:lnTo>
                  <a:pt x="6887210" y="0"/>
                </a:lnTo>
                <a:lnTo>
                  <a:pt x="6887210" y="10661904"/>
                </a:lnTo>
                <a:lnTo>
                  <a:pt x="0" y="10661904"/>
                </a:lnTo>
                <a:close/>
              </a:path>
            </a:pathLst>
          </a:custGeom>
          <a:solidFill>
            <a:srgbClr val="40BAD2"/>
          </a:solidFill>
          <a:ln>
            <a:noFill/>
          </a:ln>
        </p:spPr>
      </p:sp>
      <p:sp>
        <p:nvSpPr>
          <p:cNvPr id="480" name="Google Shape;480;p25"/>
          <p:cNvSpPr/>
          <p:nvPr/>
        </p:nvSpPr>
        <p:spPr>
          <a:xfrm>
            <a:off x="17723796" y="1138428"/>
            <a:ext cx="576072" cy="7996428"/>
          </a:xfrm>
          <a:custGeom>
            <a:rect b="b" l="l" r="r" t="t"/>
            <a:pathLst>
              <a:path extrusionOk="0" h="10661904" w="768096">
                <a:moveTo>
                  <a:pt x="0" y="0"/>
                </a:moveTo>
                <a:lnTo>
                  <a:pt x="768096" y="0"/>
                </a:lnTo>
                <a:lnTo>
                  <a:pt x="768096" y="10661904"/>
                </a:lnTo>
                <a:lnTo>
                  <a:pt x="0" y="10661904"/>
                </a:lnTo>
                <a:close/>
              </a:path>
            </a:pathLst>
          </a:custGeom>
          <a:solidFill>
            <a:srgbClr val="C8C8C8">
              <a:alpha val="24706"/>
            </a:srgbClr>
          </a:solidFill>
          <a:ln>
            <a:noFill/>
          </a:ln>
        </p:spPr>
      </p:sp>
      <p:sp>
        <p:nvSpPr>
          <p:cNvPr id="481" name="Google Shape;481;p25"/>
          <p:cNvSpPr/>
          <p:nvPr/>
        </p:nvSpPr>
        <p:spPr>
          <a:xfrm>
            <a:off x="0" y="0"/>
            <a:ext cx="18288000" cy="10287000"/>
          </a:xfrm>
          <a:custGeom>
            <a:rect b="b" l="l" r="r" t="t"/>
            <a:pathLst>
              <a:path extrusionOk="0" h="13716000" w="24384000">
                <a:moveTo>
                  <a:pt x="0" y="0"/>
                </a:moveTo>
                <a:lnTo>
                  <a:pt x="24384000" y="0"/>
                </a:lnTo>
                <a:lnTo>
                  <a:pt x="24384000" y="13716000"/>
                </a:lnTo>
                <a:lnTo>
                  <a:pt x="0" y="13716000"/>
                </a:lnTo>
                <a:close/>
              </a:path>
            </a:pathLst>
          </a:custGeom>
          <a:solidFill>
            <a:srgbClr val="FFFFFF"/>
          </a:solidFill>
          <a:ln>
            <a:noFill/>
          </a:ln>
        </p:spPr>
      </p:sp>
      <p:sp>
        <p:nvSpPr>
          <p:cNvPr id="482" name="Google Shape;482;p25"/>
          <p:cNvSpPr/>
          <p:nvPr/>
        </p:nvSpPr>
        <p:spPr>
          <a:xfrm>
            <a:off x="11775180" y="1135988"/>
            <a:ext cx="6512814" cy="7993952"/>
          </a:xfrm>
          <a:custGeom>
            <a:rect b="b" l="l" r="r" t="t"/>
            <a:pathLst>
              <a:path extrusionOk="0" h="10658602" w="8683752">
                <a:moveTo>
                  <a:pt x="0" y="0"/>
                </a:moveTo>
                <a:lnTo>
                  <a:pt x="8683752" y="0"/>
                </a:lnTo>
                <a:lnTo>
                  <a:pt x="8683752" y="10658602"/>
                </a:lnTo>
                <a:lnTo>
                  <a:pt x="0" y="10658602"/>
                </a:lnTo>
                <a:close/>
              </a:path>
            </a:pathLst>
          </a:custGeom>
          <a:solidFill>
            <a:srgbClr val="40BAD2"/>
          </a:solidFill>
          <a:ln>
            <a:noFill/>
          </a:ln>
        </p:spPr>
      </p:sp>
      <p:grpSp>
        <p:nvGrpSpPr>
          <p:cNvPr id="483" name="Google Shape;483;p25"/>
          <p:cNvGrpSpPr/>
          <p:nvPr/>
        </p:nvGrpSpPr>
        <p:grpSpPr>
          <a:xfrm>
            <a:off x="12242085" y="1619655"/>
            <a:ext cx="5482286" cy="2290866"/>
            <a:chOff x="0" y="0"/>
            <a:chExt cx="7309714" cy="3054488"/>
          </a:xfrm>
        </p:grpSpPr>
        <p:sp>
          <p:nvSpPr>
            <p:cNvPr id="484" name="Google Shape;484;p25"/>
            <p:cNvSpPr/>
            <p:nvPr/>
          </p:nvSpPr>
          <p:spPr>
            <a:xfrm>
              <a:off x="0" y="0"/>
              <a:ext cx="7309714" cy="3054488"/>
            </a:xfrm>
            <a:custGeom>
              <a:rect b="b" l="l" r="r" t="t"/>
              <a:pathLst>
                <a:path extrusionOk="0" h="3054488" w="7309714">
                  <a:moveTo>
                    <a:pt x="0" y="0"/>
                  </a:moveTo>
                  <a:lnTo>
                    <a:pt x="7309714" y="0"/>
                  </a:lnTo>
                  <a:lnTo>
                    <a:pt x="7309714" y="3054488"/>
                  </a:lnTo>
                  <a:lnTo>
                    <a:pt x="0" y="3054488"/>
                  </a:lnTo>
                  <a:close/>
                </a:path>
              </a:pathLst>
            </a:custGeom>
            <a:solidFill>
              <a:srgbClr val="000000">
                <a:alpha val="0"/>
              </a:srgbClr>
            </a:solidFill>
            <a:ln>
              <a:noFill/>
            </a:ln>
          </p:spPr>
        </p:sp>
        <p:sp>
          <p:nvSpPr>
            <p:cNvPr id="485" name="Google Shape;485;p25"/>
            <p:cNvSpPr txBox="1"/>
            <p:nvPr/>
          </p:nvSpPr>
          <p:spPr>
            <a:xfrm>
              <a:off x="0" y="57150"/>
              <a:ext cx="7309714" cy="2997338"/>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000000"/>
                </a:buClr>
                <a:buSzPts val="4800"/>
                <a:buFont typeface="Arial"/>
                <a:buNone/>
              </a:pPr>
              <a:r>
                <a:rPr b="0" i="0" lang="en-US" sz="4800" u="none" cap="none" strike="noStrike">
                  <a:solidFill>
                    <a:srgbClr val="FFFFFF"/>
                  </a:solidFill>
                  <a:latin typeface="PT Sans"/>
                  <a:ea typeface="PT Sans"/>
                  <a:cs typeface="PT Sans"/>
                  <a:sym typeface="PT Sans"/>
                </a:rPr>
                <a:t>¿Qué es?</a:t>
              </a:r>
              <a:endParaRPr b="0" i="0" sz="1400" u="none" cap="none" strike="noStrike">
                <a:solidFill>
                  <a:srgbClr val="000000"/>
                </a:solidFill>
                <a:latin typeface="Arial"/>
                <a:ea typeface="Arial"/>
                <a:cs typeface="Arial"/>
                <a:sym typeface="Arial"/>
              </a:endParaRPr>
            </a:p>
          </p:txBody>
        </p:sp>
      </p:grpSp>
      <p:sp>
        <p:nvSpPr>
          <p:cNvPr id="486" name="Google Shape;486;p25"/>
          <p:cNvSpPr/>
          <p:nvPr/>
        </p:nvSpPr>
        <p:spPr>
          <a:xfrm>
            <a:off x="0" y="1138428"/>
            <a:ext cx="576072" cy="7996428"/>
          </a:xfrm>
          <a:custGeom>
            <a:rect b="b" l="l" r="r" t="t"/>
            <a:pathLst>
              <a:path extrusionOk="0" h="10661904" w="768096">
                <a:moveTo>
                  <a:pt x="0" y="0"/>
                </a:moveTo>
                <a:lnTo>
                  <a:pt x="768096" y="0"/>
                </a:lnTo>
                <a:lnTo>
                  <a:pt x="768096" y="10661904"/>
                </a:lnTo>
                <a:lnTo>
                  <a:pt x="0" y="10661904"/>
                </a:lnTo>
                <a:close/>
              </a:path>
            </a:pathLst>
          </a:custGeom>
          <a:solidFill>
            <a:srgbClr val="C8C8C8">
              <a:alpha val="24706"/>
            </a:srgbClr>
          </a:solidFill>
          <a:ln>
            <a:noFill/>
          </a:ln>
        </p:spPr>
      </p:sp>
      <p:sp>
        <p:nvSpPr>
          <p:cNvPr descr="Tres vasos de té con leche de burbujas" id="487" name="Google Shape;487;p25"/>
          <p:cNvSpPr/>
          <p:nvPr/>
        </p:nvSpPr>
        <p:spPr>
          <a:xfrm>
            <a:off x="1296772" y="1691190"/>
            <a:ext cx="9751505" cy="6883622"/>
          </a:xfrm>
          <a:custGeom>
            <a:rect b="b" l="l" r="r" t="t"/>
            <a:pathLst>
              <a:path extrusionOk="0" h="9178163" w="13002006">
                <a:moveTo>
                  <a:pt x="0" y="0"/>
                </a:moveTo>
                <a:lnTo>
                  <a:pt x="13002006" y="0"/>
                </a:lnTo>
                <a:lnTo>
                  <a:pt x="13002006" y="9178163"/>
                </a:lnTo>
                <a:lnTo>
                  <a:pt x="0" y="9178163"/>
                </a:lnTo>
                <a:lnTo>
                  <a:pt x="0" y="0"/>
                </a:lnTo>
                <a:close/>
              </a:path>
            </a:pathLst>
          </a:custGeom>
          <a:blipFill rotWithShape="1">
            <a:blip r:embed="rId3">
              <a:alphaModFix/>
            </a:blip>
            <a:stretch>
              <a:fillRect b="-2" l="0" r="-5760" t="0"/>
            </a:stretch>
          </a:blipFill>
          <a:ln>
            <a:noFill/>
          </a:ln>
        </p:spPr>
      </p:sp>
      <p:sp>
        <p:nvSpPr>
          <p:cNvPr id="488" name="Google Shape;488;p25"/>
          <p:cNvSpPr txBox="1"/>
          <p:nvPr/>
        </p:nvSpPr>
        <p:spPr>
          <a:xfrm>
            <a:off x="12333510" y="3984796"/>
            <a:ext cx="5299436" cy="46168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Clr>
                <a:srgbClr val="000000"/>
              </a:buClr>
              <a:buSzPts val="2400"/>
              <a:buFont typeface="Arial"/>
              <a:buNone/>
            </a:pPr>
            <a:r>
              <a:rPr b="0" i="0" lang="en-US" sz="2400" u="none" cap="none" strike="noStrike">
                <a:solidFill>
                  <a:srgbClr val="FFFFFF"/>
                </a:solidFill>
                <a:latin typeface="PT Sans"/>
                <a:ea typeface="PT Sans"/>
                <a:cs typeface="PT Sans"/>
                <a:sym typeface="PT Sans"/>
              </a:rPr>
              <a:t>La recursividad de cola es una variante de la recursividad en la que la llamada recursiva es la última operación realizada en el método. Esto permite optimizar el uso de la pila de ejecución, ya que no es necesario almacenar información adicional después de la llamada recursiva.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26"/>
          <p:cNvSpPr/>
          <p:nvPr/>
        </p:nvSpPr>
        <p:spPr>
          <a:xfrm>
            <a:off x="1" y="1138428"/>
            <a:ext cx="5165408" cy="7996428"/>
          </a:xfrm>
          <a:custGeom>
            <a:rect b="b" l="l" r="r" t="t"/>
            <a:pathLst>
              <a:path extrusionOk="0" h="10661904" w="6887210">
                <a:moveTo>
                  <a:pt x="0" y="0"/>
                </a:moveTo>
                <a:lnTo>
                  <a:pt x="6887210" y="0"/>
                </a:lnTo>
                <a:lnTo>
                  <a:pt x="6887210" y="10661904"/>
                </a:lnTo>
                <a:lnTo>
                  <a:pt x="0" y="10661904"/>
                </a:lnTo>
                <a:close/>
              </a:path>
            </a:pathLst>
          </a:custGeom>
          <a:solidFill>
            <a:srgbClr val="40BAD2"/>
          </a:solidFill>
          <a:ln>
            <a:noFill/>
          </a:ln>
        </p:spPr>
      </p:sp>
      <p:sp>
        <p:nvSpPr>
          <p:cNvPr id="494" name="Google Shape;494;p26"/>
          <p:cNvSpPr/>
          <p:nvPr/>
        </p:nvSpPr>
        <p:spPr>
          <a:xfrm>
            <a:off x="17723796" y="1138428"/>
            <a:ext cx="576072" cy="7996428"/>
          </a:xfrm>
          <a:custGeom>
            <a:rect b="b" l="l" r="r" t="t"/>
            <a:pathLst>
              <a:path extrusionOk="0" h="10661904" w="768096">
                <a:moveTo>
                  <a:pt x="0" y="0"/>
                </a:moveTo>
                <a:lnTo>
                  <a:pt x="768096" y="0"/>
                </a:lnTo>
                <a:lnTo>
                  <a:pt x="768096" y="10661904"/>
                </a:lnTo>
                <a:lnTo>
                  <a:pt x="0" y="10661904"/>
                </a:lnTo>
                <a:close/>
              </a:path>
            </a:pathLst>
          </a:custGeom>
          <a:solidFill>
            <a:srgbClr val="C8C8C8">
              <a:alpha val="24706"/>
            </a:srgbClr>
          </a:solidFill>
          <a:ln>
            <a:noFill/>
          </a:ln>
        </p:spPr>
      </p:sp>
      <p:sp>
        <p:nvSpPr>
          <p:cNvPr id="495" name="Google Shape;495;p26"/>
          <p:cNvSpPr/>
          <p:nvPr/>
        </p:nvSpPr>
        <p:spPr>
          <a:xfrm>
            <a:off x="0" y="0"/>
            <a:ext cx="18288000" cy="10287000"/>
          </a:xfrm>
          <a:custGeom>
            <a:rect b="b" l="l" r="r" t="t"/>
            <a:pathLst>
              <a:path extrusionOk="0" h="13716000" w="24384000">
                <a:moveTo>
                  <a:pt x="0" y="0"/>
                </a:moveTo>
                <a:lnTo>
                  <a:pt x="24384000" y="0"/>
                </a:lnTo>
                <a:lnTo>
                  <a:pt x="24384000" y="13716000"/>
                </a:lnTo>
                <a:lnTo>
                  <a:pt x="0" y="13716000"/>
                </a:lnTo>
                <a:close/>
              </a:path>
            </a:pathLst>
          </a:custGeom>
          <a:solidFill>
            <a:srgbClr val="FFFFFF"/>
          </a:solidFill>
          <a:ln>
            <a:noFill/>
          </a:ln>
        </p:spPr>
      </p:sp>
      <p:sp>
        <p:nvSpPr>
          <p:cNvPr id="496" name="Google Shape;496;p26"/>
          <p:cNvSpPr/>
          <p:nvPr/>
        </p:nvSpPr>
        <p:spPr>
          <a:xfrm>
            <a:off x="12964284" y="1135988"/>
            <a:ext cx="5323713" cy="7993952"/>
          </a:xfrm>
          <a:custGeom>
            <a:rect b="b" l="l" r="r" t="t"/>
            <a:pathLst>
              <a:path extrusionOk="0" h="10658602" w="7098284">
                <a:moveTo>
                  <a:pt x="0" y="0"/>
                </a:moveTo>
                <a:lnTo>
                  <a:pt x="7098284" y="0"/>
                </a:lnTo>
                <a:lnTo>
                  <a:pt x="7098284" y="10658602"/>
                </a:lnTo>
                <a:lnTo>
                  <a:pt x="0" y="10658602"/>
                </a:lnTo>
                <a:close/>
              </a:path>
            </a:pathLst>
          </a:custGeom>
          <a:solidFill>
            <a:srgbClr val="40BAD2"/>
          </a:solidFill>
          <a:ln>
            <a:noFill/>
          </a:ln>
        </p:spPr>
      </p:sp>
      <p:grpSp>
        <p:nvGrpSpPr>
          <p:cNvPr id="497" name="Google Shape;497;p26"/>
          <p:cNvGrpSpPr/>
          <p:nvPr/>
        </p:nvGrpSpPr>
        <p:grpSpPr>
          <a:xfrm>
            <a:off x="13343662" y="1685756"/>
            <a:ext cx="4421223" cy="6901775"/>
            <a:chOff x="0" y="0"/>
            <a:chExt cx="5894964" cy="9202366"/>
          </a:xfrm>
        </p:grpSpPr>
        <p:sp>
          <p:nvSpPr>
            <p:cNvPr id="498" name="Google Shape;498;p26"/>
            <p:cNvSpPr/>
            <p:nvPr/>
          </p:nvSpPr>
          <p:spPr>
            <a:xfrm>
              <a:off x="0" y="0"/>
              <a:ext cx="5894964" cy="9202366"/>
            </a:xfrm>
            <a:custGeom>
              <a:rect b="b" l="l" r="r" t="t"/>
              <a:pathLst>
                <a:path extrusionOk="0" h="9202366" w="5894964">
                  <a:moveTo>
                    <a:pt x="0" y="0"/>
                  </a:moveTo>
                  <a:lnTo>
                    <a:pt x="5894964" y="0"/>
                  </a:lnTo>
                  <a:lnTo>
                    <a:pt x="5894964" y="9202366"/>
                  </a:lnTo>
                  <a:lnTo>
                    <a:pt x="0" y="9202366"/>
                  </a:lnTo>
                  <a:close/>
                </a:path>
              </a:pathLst>
            </a:custGeom>
            <a:solidFill>
              <a:srgbClr val="000000">
                <a:alpha val="0"/>
              </a:srgbClr>
            </a:solidFill>
            <a:ln>
              <a:noFill/>
            </a:ln>
          </p:spPr>
        </p:sp>
        <p:sp>
          <p:nvSpPr>
            <p:cNvPr id="499" name="Google Shape;499;p26"/>
            <p:cNvSpPr txBox="1"/>
            <p:nvPr/>
          </p:nvSpPr>
          <p:spPr>
            <a:xfrm>
              <a:off x="0" y="47625"/>
              <a:ext cx="5894964" cy="9154741"/>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000000"/>
                </a:buClr>
                <a:buSzPts val="5400"/>
                <a:buFont typeface="Arial"/>
                <a:buNone/>
              </a:pPr>
              <a:r>
                <a:rPr b="0" i="0" lang="en-US" sz="5400" u="none" cap="none" strike="noStrike">
                  <a:solidFill>
                    <a:srgbClr val="FFFFFF"/>
                  </a:solidFill>
                  <a:latin typeface="PT Sans"/>
                  <a:ea typeface="PT Sans"/>
                  <a:cs typeface="PT Sans"/>
                  <a:sym typeface="PT Sans"/>
                </a:rPr>
                <a:t>¿Para qué sirve?</a:t>
              </a:r>
              <a:endParaRPr b="0" i="0" sz="1400" u="none" cap="none" strike="noStrike">
                <a:solidFill>
                  <a:srgbClr val="000000"/>
                </a:solidFill>
                <a:latin typeface="Arial"/>
                <a:ea typeface="Arial"/>
                <a:cs typeface="Arial"/>
                <a:sym typeface="Arial"/>
              </a:endParaRPr>
            </a:p>
          </p:txBody>
        </p:sp>
      </p:grpSp>
      <p:sp>
        <p:nvSpPr>
          <p:cNvPr id="500" name="Google Shape;500;p26"/>
          <p:cNvSpPr/>
          <p:nvPr/>
        </p:nvSpPr>
        <p:spPr>
          <a:xfrm>
            <a:off x="0" y="1138428"/>
            <a:ext cx="576072" cy="7996428"/>
          </a:xfrm>
          <a:custGeom>
            <a:rect b="b" l="l" r="r" t="t"/>
            <a:pathLst>
              <a:path extrusionOk="0" h="10661904" w="768096">
                <a:moveTo>
                  <a:pt x="0" y="0"/>
                </a:moveTo>
                <a:lnTo>
                  <a:pt x="768096" y="0"/>
                </a:lnTo>
                <a:lnTo>
                  <a:pt x="768096" y="10661904"/>
                </a:lnTo>
                <a:lnTo>
                  <a:pt x="0" y="10661904"/>
                </a:lnTo>
                <a:close/>
              </a:path>
            </a:pathLst>
          </a:custGeom>
          <a:solidFill>
            <a:srgbClr val="C8C8C8">
              <a:alpha val="24706"/>
            </a:srgbClr>
          </a:solidFill>
          <a:ln>
            <a:noFill/>
          </a:ln>
        </p:spPr>
      </p:sp>
      <p:sp>
        <p:nvSpPr>
          <p:cNvPr id="501" name="Google Shape;501;p26"/>
          <p:cNvSpPr/>
          <p:nvPr/>
        </p:nvSpPr>
        <p:spPr>
          <a:xfrm>
            <a:off x="2327200" y="2650902"/>
            <a:ext cx="3036570" cy="3036570"/>
          </a:xfrm>
          <a:custGeom>
            <a:rect b="b" l="l" r="r" t="t"/>
            <a:pathLst>
              <a:path extrusionOk="0" h="4048760" w="4048760">
                <a:moveTo>
                  <a:pt x="0" y="2024380"/>
                </a:moveTo>
                <a:cubicBezTo>
                  <a:pt x="0" y="906399"/>
                  <a:pt x="906399" y="0"/>
                  <a:pt x="2024380" y="0"/>
                </a:cubicBezTo>
                <a:cubicBezTo>
                  <a:pt x="3142361" y="0"/>
                  <a:pt x="4048760" y="906399"/>
                  <a:pt x="4048760" y="2024380"/>
                </a:cubicBezTo>
                <a:cubicBezTo>
                  <a:pt x="4048760" y="3142361"/>
                  <a:pt x="3142361" y="4048760"/>
                  <a:pt x="2024380" y="4048760"/>
                </a:cubicBezTo>
                <a:cubicBezTo>
                  <a:pt x="906399" y="4048760"/>
                  <a:pt x="0" y="3142488"/>
                  <a:pt x="0" y="2024380"/>
                </a:cubicBezTo>
                <a:close/>
              </a:path>
            </a:pathLst>
          </a:cu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2" name="Google Shape;502;p26"/>
          <p:cNvSpPr/>
          <p:nvPr/>
        </p:nvSpPr>
        <p:spPr>
          <a:xfrm>
            <a:off x="2974357" y="3298057"/>
            <a:ext cx="1742313" cy="1742313"/>
          </a:xfrm>
          <a:custGeom>
            <a:rect b="b" l="l" r="r" t="t"/>
            <a:pathLst>
              <a:path extrusionOk="0" h="2323084" w="2323084">
                <a:moveTo>
                  <a:pt x="0" y="0"/>
                </a:moveTo>
                <a:lnTo>
                  <a:pt x="2323084" y="0"/>
                </a:lnTo>
                <a:lnTo>
                  <a:pt x="2323084" y="2323084"/>
                </a:lnTo>
                <a:lnTo>
                  <a:pt x="0" y="2323084"/>
                </a:lnTo>
                <a:close/>
              </a:path>
            </a:pathLst>
          </a:custGeom>
          <a:blipFill rotWithShape="1">
            <a:blip r:embed="rId3">
              <a:alphaModFix/>
            </a:blip>
            <a:stretch>
              <a:fillRect b="0" l="0" r="0" t="0"/>
            </a:stretch>
          </a:blipFill>
          <a:ln>
            <a:noFill/>
          </a:ln>
        </p:spPr>
      </p:sp>
      <p:sp>
        <p:nvSpPr>
          <p:cNvPr id="503" name="Google Shape;503;p26"/>
          <p:cNvSpPr txBox="1"/>
          <p:nvPr/>
        </p:nvSpPr>
        <p:spPr>
          <a:xfrm>
            <a:off x="1356466" y="6661977"/>
            <a:ext cx="4978125" cy="1051425"/>
          </a:xfrm>
          <a:prstGeom prst="rect">
            <a:avLst/>
          </a:prstGeom>
          <a:noFill/>
          <a:ln>
            <a:noFill/>
          </a:ln>
        </p:spPr>
        <p:txBody>
          <a:bodyPr anchorCtr="0" anchor="t" bIns="0" lIns="0" spcFirstLastPara="1" rIns="0" wrap="square" tIns="0">
            <a:spAutoFit/>
          </a:bodyPr>
          <a:lstStyle/>
          <a:p>
            <a:pPr indent="0" lvl="0" marL="0" marR="0" rtl="0" algn="ctr">
              <a:lnSpc>
                <a:spcPct val="108000"/>
              </a:lnSpc>
              <a:spcBef>
                <a:spcPts val="0"/>
              </a:spcBef>
              <a:spcAft>
                <a:spcPts val="0"/>
              </a:spcAft>
              <a:buClr>
                <a:srgbClr val="000000"/>
              </a:buClr>
              <a:buSzPts val="2550"/>
              <a:buFont typeface="Arial"/>
              <a:buNone/>
            </a:pPr>
            <a:r>
              <a:rPr b="0" i="0" lang="en-US" sz="2550" u="none" cap="none" strike="noStrike">
                <a:solidFill>
                  <a:srgbClr val="000000"/>
                </a:solidFill>
                <a:latin typeface="PT Sans"/>
                <a:ea typeface="PT Sans"/>
                <a:cs typeface="PT Sans"/>
                <a:sym typeface="PT Sans"/>
              </a:rPr>
              <a:t>OPTIMIZAR EL USO DE MEMORIA AL EVITAR EL CRECIMIENTO EXCESIVO DE LA PILA.</a:t>
            </a:r>
            <a:endParaRPr b="0" i="0" sz="1400" u="none" cap="none" strike="noStrike">
              <a:solidFill>
                <a:srgbClr val="000000"/>
              </a:solidFill>
              <a:latin typeface="Arial"/>
              <a:ea typeface="Arial"/>
              <a:cs typeface="Arial"/>
              <a:sym typeface="Arial"/>
            </a:endParaRPr>
          </a:p>
        </p:txBody>
      </p:sp>
      <p:sp>
        <p:nvSpPr>
          <p:cNvPr id="504" name="Google Shape;504;p26"/>
          <p:cNvSpPr/>
          <p:nvPr/>
        </p:nvSpPr>
        <p:spPr>
          <a:xfrm>
            <a:off x="8176497" y="2650902"/>
            <a:ext cx="3036570" cy="3036570"/>
          </a:xfrm>
          <a:custGeom>
            <a:rect b="b" l="l" r="r" t="t"/>
            <a:pathLst>
              <a:path extrusionOk="0" h="4048760" w="4048760">
                <a:moveTo>
                  <a:pt x="0" y="2024380"/>
                </a:moveTo>
                <a:cubicBezTo>
                  <a:pt x="0" y="906399"/>
                  <a:pt x="906399" y="0"/>
                  <a:pt x="2024380" y="0"/>
                </a:cubicBezTo>
                <a:cubicBezTo>
                  <a:pt x="3142361" y="0"/>
                  <a:pt x="4048760" y="906399"/>
                  <a:pt x="4048760" y="2024380"/>
                </a:cubicBezTo>
                <a:cubicBezTo>
                  <a:pt x="4048760" y="3142361"/>
                  <a:pt x="3142361" y="4048760"/>
                  <a:pt x="2024380" y="4048760"/>
                </a:cubicBezTo>
                <a:cubicBezTo>
                  <a:pt x="906399" y="4048760"/>
                  <a:pt x="0" y="3142488"/>
                  <a:pt x="0" y="2024380"/>
                </a:cubicBezTo>
                <a:close/>
              </a:path>
            </a:pathLst>
          </a:cu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5" name="Google Shape;505;p26"/>
          <p:cNvSpPr/>
          <p:nvPr/>
        </p:nvSpPr>
        <p:spPr>
          <a:xfrm>
            <a:off x="8823654" y="3298057"/>
            <a:ext cx="1742313" cy="1742313"/>
          </a:xfrm>
          <a:custGeom>
            <a:rect b="b" l="l" r="r" t="t"/>
            <a:pathLst>
              <a:path extrusionOk="0" h="2323084" w="2323084">
                <a:moveTo>
                  <a:pt x="0" y="0"/>
                </a:moveTo>
                <a:lnTo>
                  <a:pt x="2323084" y="0"/>
                </a:lnTo>
                <a:lnTo>
                  <a:pt x="2323084" y="2323084"/>
                </a:lnTo>
                <a:lnTo>
                  <a:pt x="0" y="2323084"/>
                </a:lnTo>
                <a:close/>
              </a:path>
            </a:pathLst>
          </a:custGeom>
          <a:blipFill rotWithShape="1">
            <a:blip r:embed="rId4">
              <a:alphaModFix/>
            </a:blip>
            <a:stretch>
              <a:fillRect b="0" l="0" r="0" t="0"/>
            </a:stretch>
          </a:blipFill>
          <a:ln>
            <a:noFill/>
          </a:ln>
        </p:spPr>
      </p:sp>
      <p:sp>
        <p:nvSpPr>
          <p:cNvPr id="506" name="Google Shape;506;p26"/>
          <p:cNvSpPr txBox="1"/>
          <p:nvPr/>
        </p:nvSpPr>
        <p:spPr>
          <a:xfrm>
            <a:off x="7205763" y="6661977"/>
            <a:ext cx="4978125" cy="1051425"/>
          </a:xfrm>
          <a:prstGeom prst="rect">
            <a:avLst/>
          </a:prstGeom>
          <a:noFill/>
          <a:ln>
            <a:noFill/>
          </a:ln>
        </p:spPr>
        <p:txBody>
          <a:bodyPr anchorCtr="0" anchor="t" bIns="0" lIns="0" spcFirstLastPara="1" rIns="0" wrap="square" tIns="0">
            <a:spAutoFit/>
          </a:bodyPr>
          <a:lstStyle/>
          <a:p>
            <a:pPr indent="0" lvl="0" marL="0" marR="0" rtl="0" algn="ctr">
              <a:lnSpc>
                <a:spcPct val="108000"/>
              </a:lnSpc>
              <a:spcBef>
                <a:spcPts val="0"/>
              </a:spcBef>
              <a:spcAft>
                <a:spcPts val="0"/>
              </a:spcAft>
              <a:buClr>
                <a:srgbClr val="000000"/>
              </a:buClr>
              <a:buSzPts val="2550"/>
              <a:buFont typeface="Arial"/>
              <a:buNone/>
            </a:pPr>
            <a:r>
              <a:rPr b="0" i="0" lang="en-US" sz="2550" u="none" cap="none" strike="noStrike">
                <a:solidFill>
                  <a:srgbClr val="000000"/>
                </a:solidFill>
                <a:latin typeface="PT Sans"/>
                <a:ea typeface="PT Sans"/>
                <a:cs typeface="PT Sans"/>
                <a:sym typeface="PT Sans"/>
              </a:rPr>
              <a:t>FACILITAR LA IMPLEMENTACIÓN DE ALGORITMOS ITERATIVOS UTILIZANDO RECURSIVIDAD.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27"/>
          <p:cNvSpPr/>
          <p:nvPr/>
        </p:nvSpPr>
        <p:spPr>
          <a:xfrm>
            <a:off x="1" y="1138428"/>
            <a:ext cx="5165408" cy="7996428"/>
          </a:xfrm>
          <a:custGeom>
            <a:rect b="b" l="l" r="r" t="t"/>
            <a:pathLst>
              <a:path extrusionOk="0" h="10661904" w="6887210">
                <a:moveTo>
                  <a:pt x="0" y="0"/>
                </a:moveTo>
                <a:lnTo>
                  <a:pt x="6887210" y="0"/>
                </a:lnTo>
                <a:lnTo>
                  <a:pt x="6887210" y="10661904"/>
                </a:lnTo>
                <a:lnTo>
                  <a:pt x="0" y="10661904"/>
                </a:lnTo>
                <a:close/>
              </a:path>
            </a:pathLst>
          </a:custGeom>
          <a:solidFill>
            <a:srgbClr val="40BAD2"/>
          </a:solidFill>
          <a:ln>
            <a:noFill/>
          </a:ln>
        </p:spPr>
      </p:sp>
      <p:sp>
        <p:nvSpPr>
          <p:cNvPr id="512" name="Google Shape;512;p27"/>
          <p:cNvSpPr/>
          <p:nvPr/>
        </p:nvSpPr>
        <p:spPr>
          <a:xfrm>
            <a:off x="17723796" y="1138428"/>
            <a:ext cx="576072" cy="7996428"/>
          </a:xfrm>
          <a:custGeom>
            <a:rect b="b" l="l" r="r" t="t"/>
            <a:pathLst>
              <a:path extrusionOk="0" h="10661904" w="768096">
                <a:moveTo>
                  <a:pt x="0" y="0"/>
                </a:moveTo>
                <a:lnTo>
                  <a:pt x="768096" y="0"/>
                </a:lnTo>
                <a:lnTo>
                  <a:pt x="768096" y="10661904"/>
                </a:lnTo>
                <a:lnTo>
                  <a:pt x="0" y="10661904"/>
                </a:lnTo>
                <a:close/>
              </a:path>
            </a:pathLst>
          </a:custGeom>
          <a:solidFill>
            <a:srgbClr val="C8C8C8">
              <a:alpha val="24706"/>
            </a:srgbClr>
          </a:solidFill>
          <a:ln>
            <a:noFill/>
          </a:ln>
        </p:spPr>
      </p:sp>
      <p:sp>
        <p:nvSpPr>
          <p:cNvPr id="513" name="Google Shape;513;p27"/>
          <p:cNvSpPr/>
          <p:nvPr/>
        </p:nvSpPr>
        <p:spPr>
          <a:xfrm>
            <a:off x="0" y="0"/>
            <a:ext cx="18288000" cy="10287000"/>
          </a:xfrm>
          <a:custGeom>
            <a:rect b="b" l="l" r="r" t="t"/>
            <a:pathLst>
              <a:path extrusionOk="0" h="13716000" w="24384000">
                <a:moveTo>
                  <a:pt x="0" y="0"/>
                </a:moveTo>
                <a:lnTo>
                  <a:pt x="24384000" y="0"/>
                </a:lnTo>
                <a:lnTo>
                  <a:pt x="24384000" y="13716000"/>
                </a:lnTo>
                <a:lnTo>
                  <a:pt x="0" y="13716000"/>
                </a:lnTo>
                <a:close/>
              </a:path>
            </a:pathLst>
          </a:custGeom>
          <a:solidFill>
            <a:srgbClr val="FFFFFF"/>
          </a:solidFill>
          <a:ln>
            <a:noFill/>
          </a:ln>
        </p:spPr>
      </p:sp>
      <p:sp>
        <p:nvSpPr>
          <p:cNvPr id="514" name="Google Shape;514;p27"/>
          <p:cNvSpPr/>
          <p:nvPr/>
        </p:nvSpPr>
        <p:spPr>
          <a:xfrm>
            <a:off x="12964284" y="1135988"/>
            <a:ext cx="5323713" cy="7993952"/>
          </a:xfrm>
          <a:custGeom>
            <a:rect b="b" l="l" r="r" t="t"/>
            <a:pathLst>
              <a:path extrusionOk="0" h="10658602" w="7098284">
                <a:moveTo>
                  <a:pt x="0" y="0"/>
                </a:moveTo>
                <a:lnTo>
                  <a:pt x="7098284" y="0"/>
                </a:lnTo>
                <a:lnTo>
                  <a:pt x="7098284" y="10658602"/>
                </a:lnTo>
                <a:lnTo>
                  <a:pt x="0" y="10658602"/>
                </a:lnTo>
                <a:close/>
              </a:path>
            </a:pathLst>
          </a:custGeom>
          <a:solidFill>
            <a:srgbClr val="40BAD2"/>
          </a:solidFill>
          <a:ln>
            <a:noFill/>
          </a:ln>
        </p:spPr>
      </p:sp>
      <p:grpSp>
        <p:nvGrpSpPr>
          <p:cNvPr id="515" name="Google Shape;515;p27"/>
          <p:cNvGrpSpPr/>
          <p:nvPr/>
        </p:nvGrpSpPr>
        <p:grpSpPr>
          <a:xfrm>
            <a:off x="13343662" y="1685756"/>
            <a:ext cx="4421223" cy="6901775"/>
            <a:chOff x="0" y="0"/>
            <a:chExt cx="5894964" cy="9202366"/>
          </a:xfrm>
        </p:grpSpPr>
        <p:sp>
          <p:nvSpPr>
            <p:cNvPr id="516" name="Google Shape;516;p27"/>
            <p:cNvSpPr/>
            <p:nvPr/>
          </p:nvSpPr>
          <p:spPr>
            <a:xfrm>
              <a:off x="0" y="0"/>
              <a:ext cx="5894964" cy="9202366"/>
            </a:xfrm>
            <a:custGeom>
              <a:rect b="b" l="l" r="r" t="t"/>
              <a:pathLst>
                <a:path extrusionOk="0" h="9202366" w="5894964">
                  <a:moveTo>
                    <a:pt x="0" y="0"/>
                  </a:moveTo>
                  <a:lnTo>
                    <a:pt x="5894964" y="0"/>
                  </a:lnTo>
                  <a:lnTo>
                    <a:pt x="5894964" y="9202366"/>
                  </a:lnTo>
                  <a:lnTo>
                    <a:pt x="0" y="9202366"/>
                  </a:lnTo>
                  <a:close/>
                </a:path>
              </a:pathLst>
            </a:custGeom>
            <a:solidFill>
              <a:srgbClr val="000000">
                <a:alpha val="0"/>
              </a:srgbClr>
            </a:solidFill>
            <a:ln>
              <a:noFill/>
            </a:ln>
          </p:spPr>
        </p:sp>
        <p:sp>
          <p:nvSpPr>
            <p:cNvPr id="517" name="Google Shape;517;p27"/>
            <p:cNvSpPr txBox="1"/>
            <p:nvPr/>
          </p:nvSpPr>
          <p:spPr>
            <a:xfrm>
              <a:off x="0" y="47625"/>
              <a:ext cx="5894964" cy="9154741"/>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000000"/>
                </a:buClr>
                <a:buSzPts val="5400"/>
                <a:buFont typeface="Arial"/>
                <a:buNone/>
              </a:pPr>
              <a:r>
                <a:rPr b="0" i="0" lang="en-US" sz="5400" u="none" cap="none" strike="noStrike">
                  <a:solidFill>
                    <a:srgbClr val="FFFFFF"/>
                  </a:solidFill>
                  <a:latin typeface="PT Sans"/>
                  <a:ea typeface="PT Sans"/>
                  <a:cs typeface="PT Sans"/>
                  <a:sym typeface="PT Sans"/>
                </a:rPr>
                <a:t>Funciones</a:t>
              </a:r>
              <a:endParaRPr b="0" i="0" sz="1400" u="none" cap="none" strike="noStrike">
                <a:solidFill>
                  <a:srgbClr val="000000"/>
                </a:solidFill>
                <a:latin typeface="Arial"/>
                <a:ea typeface="Arial"/>
                <a:cs typeface="Arial"/>
                <a:sym typeface="Arial"/>
              </a:endParaRPr>
            </a:p>
          </p:txBody>
        </p:sp>
      </p:grpSp>
      <p:sp>
        <p:nvSpPr>
          <p:cNvPr id="518" name="Google Shape;518;p27"/>
          <p:cNvSpPr/>
          <p:nvPr/>
        </p:nvSpPr>
        <p:spPr>
          <a:xfrm>
            <a:off x="0" y="1138428"/>
            <a:ext cx="576072" cy="7996428"/>
          </a:xfrm>
          <a:custGeom>
            <a:rect b="b" l="l" r="r" t="t"/>
            <a:pathLst>
              <a:path extrusionOk="0" h="10661904" w="768096">
                <a:moveTo>
                  <a:pt x="0" y="0"/>
                </a:moveTo>
                <a:lnTo>
                  <a:pt x="768096" y="0"/>
                </a:lnTo>
                <a:lnTo>
                  <a:pt x="768096" y="10661904"/>
                </a:lnTo>
                <a:lnTo>
                  <a:pt x="0" y="10661904"/>
                </a:lnTo>
                <a:close/>
              </a:path>
            </a:pathLst>
          </a:custGeom>
          <a:solidFill>
            <a:srgbClr val="C8C8C8">
              <a:alpha val="24706"/>
            </a:srgbClr>
          </a:solidFill>
          <a:ln>
            <a:noFill/>
          </a:ln>
        </p:spPr>
      </p:sp>
      <p:sp>
        <p:nvSpPr>
          <p:cNvPr id="519" name="Google Shape;519;p27"/>
          <p:cNvSpPr/>
          <p:nvPr/>
        </p:nvSpPr>
        <p:spPr>
          <a:xfrm>
            <a:off x="2362005" y="3480534"/>
            <a:ext cx="1142905" cy="1142905"/>
          </a:xfrm>
          <a:custGeom>
            <a:rect b="b" l="l" r="r" t="t"/>
            <a:pathLst>
              <a:path extrusionOk="0" h="1523873" w="1523873">
                <a:moveTo>
                  <a:pt x="0" y="0"/>
                </a:moveTo>
                <a:lnTo>
                  <a:pt x="1523873" y="0"/>
                </a:lnTo>
                <a:lnTo>
                  <a:pt x="1523873" y="1523873"/>
                </a:lnTo>
                <a:lnTo>
                  <a:pt x="0" y="1523873"/>
                </a:lnTo>
                <a:close/>
              </a:path>
            </a:pathLst>
          </a:custGeom>
          <a:blipFill rotWithShape="1">
            <a:blip r:embed="rId3">
              <a:alphaModFix/>
            </a:blip>
            <a:stretch>
              <a:fillRect b="4" l="0" r="4" t="0"/>
            </a:stretch>
          </a:blipFill>
          <a:ln>
            <a:noFill/>
          </a:ln>
        </p:spPr>
      </p:sp>
      <p:sp>
        <p:nvSpPr>
          <p:cNvPr id="520" name="Google Shape;520;p27"/>
          <p:cNvSpPr txBox="1"/>
          <p:nvPr/>
        </p:nvSpPr>
        <p:spPr>
          <a:xfrm>
            <a:off x="1300779" y="4807833"/>
            <a:ext cx="3265313" cy="451696"/>
          </a:xfrm>
          <a:prstGeom prst="rect">
            <a:avLst/>
          </a:prstGeom>
          <a:noFill/>
          <a:ln>
            <a:noFill/>
          </a:ln>
        </p:spPr>
        <p:txBody>
          <a:bodyPr anchorCtr="0" anchor="t" bIns="0" lIns="0" spcFirstLastPara="1" rIns="0" wrap="square" tIns="0">
            <a:spAutoFit/>
          </a:bodyPr>
          <a:lstStyle/>
          <a:p>
            <a:pPr indent="0" lvl="0" marL="0" marR="0" rtl="0" algn="ctr">
              <a:lnSpc>
                <a:spcPct val="108000"/>
              </a:lnSpc>
              <a:spcBef>
                <a:spcPts val="0"/>
              </a:spcBef>
              <a:spcAft>
                <a:spcPts val="0"/>
              </a:spcAft>
              <a:buClr>
                <a:srgbClr val="000000"/>
              </a:buClr>
              <a:buSzPts val="3450"/>
              <a:buFont typeface="Arial"/>
              <a:buNone/>
            </a:pPr>
            <a:r>
              <a:rPr b="1" i="0" lang="en-US" sz="3450" u="none" cap="none" strike="noStrike">
                <a:solidFill>
                  <a:srgbClr val="000000"/>
                </a:solidFill>
                <a:latin typeface="PT Sans"/>
                <a:ea typeface="PT Sans"/>
                <a:cs typeface="PT Sans"/>
                <a:sym typeface="PT Sans"/>
              </a:rPr>
              <a:t>Acumulador:</a:t>
            </a:r>
            <a:endParaRPr b="0" i="0" sz="1400" u="none" cap="none" strike="noStrike">
              <a:solidFill>
                <a:srgbClr val="000000"/>
              </a:solidFill>
              <a:latin typeface="Arial"/>
              <a:ea typeface="Arial"/>
              <a:cs typeface="Arial"/>
              <a:sym typeface="Arial"/>
            </a:endParaRPr>
          </a:p>
        </p:txBody>
      </p:sp>
      <p:sp>
        <p:nvSpPr>
          <p:cNvPr id="521" name="Google Shape;521;p27"/>
          <p:cNvSpPr txBox="1"/>
          <p:nvPr/>
        </p:nvSpPr>
        <p:spPr>
          <a:xfrm>
            <a:off x="1300779" y="5356170"/>
            <a:ext cx="3265313" cy="1527598"/>
          </a:xfrm>
          <a:prstGeom prst="rect">
            <a:avLst/>
          </a:prstGeom>
          <a:noFill/>
          <a:ln>
            <a:noFill/>
          </a:ln>
        </p:spPr>
        <p:txBody>
          <a:bodyPr anchorCtr="0" anchor="t" bIns="0" lIns="0" spcFirstLastPara="1" rIns="0" wrap="square" tIns="0">
            <a:spAutoFit/>
          </a:bodyPr>
          <a:lstStyle/>
          <a:p>
            <a:pPr indent="0" lvl="0" marL="0" marR="0" rtl="0" algn="ctr">
              <a:lnSpc>
                <a:spcPct val="108000"/>
              </a:lnSpc>
              <a:spcBef>
                <a:spcPts val="0"/>
              </a:spcBef>
              <a:spcAft>
                <a:spcPts val="0"/>
              </a:spcAft>
              <a:buClr>
                <a:srgbClr val="000000"/>
              </a:buClr>
              <a:buSzPts val="2550"/>
              <a:buFont typeface="Arial"/>
              <a:buNone/>
            </a:pPr>
            <a:r>
              <a:rPr b="0" i="0" lang="en-US" sz="2550" u="none" cap="none" strike="noStrike">
                <a:solidFill>
                  <a:srgbClr val="000000"/>
                </a:solidFill>
                <a:latin typeface="PT Sans"/>
                <a:ea typeface="PT Sans"/>
                <a:cs typeface="PT Sans"/>
                <a:sym typeface="PT Sans"/>
              </a:rPr>
              <a:t>Una variable adicional que lleva el estado actual del cálculo.</a:t>
            </a:r>
            <a:endParaRPr b="0" i="0" sz="1400" u="none" cap="none" strike="noStrike">
              <a:solidFill>
                <a:srgbClr val="000000"/>
              </a:solidFill>
              <a:latin typeface="Arial"/>
              <a:ea typeface="Arial"/>
              <a:cs typeface="Arial"/>
              <a:sym typeface="Arial"/>
            </a:endParaRPr>
          </a:p>
        </p:txBody>
      </p:sp>
      <p:sp>
        <p:nvSpPr>
          <p:cNvPr id="522" name="Google Shape;522;p27"/>
          <p:cNvSpPr/>
          <p:nvPr/>
        </p:nvSpPr>
        <p:spPr>
          <a:xfrm>
            <a:off x="6198747" y="3480534"/>
            <a:ext cx="1142905" cy="1142905"/>
          </a:xfrm>
          <a:custGeom>
            <a:rect b="b" l="l" r="r" t="t"/>
            <a:pathLst>
              <a:path extrusionOk="0" h="1523873" w="1523873">
                <a:moveTo>
                  <a:pt x="0" y="0"/>
                </a:moveTo>
                <a:lnTo>
                  <a:pt x="1523873" y="0"/>
                </a:lnTo>
                <a:lnTo>
                  <a:pt x="1523873" y="1523873"/>
                </a:lnTo>
                <a:lnTo>
                  <a:pt x="0" y="1523873"/>
                </a:lnTo>
                <a:close/>
              </a:path>
            </a:pathLst>
          </a:custGeom>
          <a:blipFill rotWithShape="1">
            <a:blip r:embed="rId4">
              <a:alphaModFix/>
            </a:blip>
            <a:stretch>
              <a:fillRect b="4" l="0" r="4" t="0"/>
            </a:stretch>
          </a:blipFill>
          <a:ln>
            <a:noFill/>
          </a:ln>
        </p:spPr>
      </p:sp>
      <p:sp>
        <p:nvSpPr>
          <p:cNvPr id="523" name="Google Shape;523;p27"/>
          <p:cNvSpPr txBox="1"/>
          <p:nvPr/>
        </p:nvSpPr>
        <p:spPr>
          <a:xfrm>
            <a:off x="5137521" y="4807833"/>
            <a:ext cx="3265313" cy="451696"/>
          </a:xfrm>
          <a:prstGeom prst="rect">
            <a:avLst/>
          </a:prstGeom>
          <a:noFill/>
          <a:ln>
            <a:noFill/>
          </a:ln>
        </p:spPr>
        <p:txBody>
          <a:bodyPr anchorCtr="0" anchor="t" bIns="0" lIns="0" spcFirstLastPara="1" rIns="0" wrap="square" tIns="0">
            <a:spAutoFit/>
          </a:bodyPr>
          <a:lstStyle/>
          <a:p>
            <a:pPr indent="0" lvl="0" marL="0" marR="0" rtl="0" algn="ctr">
              <a:lnSpc>
                <a:spcPct val="108000"/>
              </a:lnSpc>
              <a:spcBef>
                <a:spcPts val="0"/>
              </a:spcBef>
              <a:spcAft>
                <a:spcPts val="0"/>
              </a:spcAft>
              <a:buClr>
                <a:srgbClr val="000000"/>
              </a:buClr>
              <a:buSzPts val="3450"/>
              <a:buFont typeface="Arial"/>
              <a:buNone/>
            </a:pPr>
            <a:r>
              <a:rPr b="1" i="0" lang="en-US" sz="3450" u="none" cap="none" strike="noStrike">
                <a:solidFill>
                  <a:srgbClr val="000000"/>
                </a:solidFill>
                <a:latin typeface="PT Sans"/>
                <a:ea typeface="PT Sans"/>
                <a:cs typeface="PT Sans"/>
                <a:sym typeface="PT Sans"/>
              </a:rPr>
              <a:t>Caso base:</a:t>
            </a:r>
            <a:endParaRPr b="0" i="0" sz="1400" u="none" cap="none" strike="noStrike">
              <a:solidFill>
                <a:srgbClr val="000000"/>
              </a:solidFill>
              <a:latin typeface="Arial"/>
              <a:ea typeface="Arial"/>
              <a:cs typeface="Arial"/>
              <a:sym typeface="Arial"/>
            </a:endParaRPr>
          </a:p>
        </p:txBody>
      </p:sp>
      <p:sp>
        <p:nvSpPr>
          <p:cNvPr id="524" name="Google Shape;524;p27"/>
          <p:cNvSpPr txBox="1"/>
          <p:nvPr/>
        </p:nvSpPr>
        <p:spPr>
          <a:xfrm>
            <a:off x="5137521" y="5356170"/>
            <a:ext cx="3265313" cy="1527598"/>
          </a:xfrm>
          <a:prstGeom prst="rect">
            <a:avLst/>
          </a:prstGeom>
          <a:noFill/>
          <a:ln>
            <a:noFill/>
          </a:ln>
        </p:spPr>
        <p:txBody>
          <a:bodyPr anchorCtr="0" anchor="t" bIns="0" lIns="0" spcFirstLastPara="1" rIns="0" wrap="square" tIns="0">
            <a:spAutoFit/>
          </a:bodyPr>
          <a:lstStyle/>
          <a:p>
            <a:pPr indent="0" lvl="0" marL="0" marR="0" rtl="0" algn="ctr">
              <a:lnSpc>
                <a:spcPct val="108000"/>
              </a:lnSpc>
              <a:spcBef>
                <a:spcPts val="0"/>
              </a:spcBef>
              <a:spcAft>
                <a:spcPts val="0"/>
              </a:spcAft>
              <a:buClr>
                <a:srgbClr val="000000"/>
              </a:buClr>
              <a:buSzPts val="2550"/>
              <a:buFont typeface="Arial"/>
              <a:buNone/>
            </a:pPr>
            <a:r>
              <a:rPr b="0" i="0" lang="en-US" sz="2550" u="none" cap="none" strike="noStrike">
                <a:solidFill>
                  <a:srgbClr val="000000"/>
                </a:solidFill>
                <a:latin typeface="PT Sans"/>
                <a:ea typeface="PT Sans"/>
                <a:cs typeface="PT Sans"/>
                <a:sym typeface="PT Sans"/>
              </a:rPr>
              <a:t>Detiene la recursión.</a:t>
            </a:r>
            <a:endParaRPr b="0" i="0" sz="1400" u="none" cap="none" strike="noStrike">
              <a:solidFill>
                <a:srgbClr val="000000"/>
              </a:solidFill>
              <a:latin typeface="Arial"/>
              <a:ea typeface="Arial"/>
              <a:cs typeface="Arial"/>
              <a:sym typeface="Arial"/>
            </a:endParaRPr>
          </a:p>
        </p:txBody>
      </p:sp>
      <p:sp>
        <p:nvSpPr>
          <p:cNvPr id="525" name="Google Shape;525;p27"/>
          <p:cNvSpPr/>
          <p:nvPr/>
        </p:nvSpPr>
        <p:spPr>
          <a:xfrm>
            <a:off x="10035490" y="3480534"/>
            <a:ext cx="1142905" cy="1142905"/>
          </a:xfrm>
          <a:custGeom>
            <a:rect b="b" l="l" r="r" t="t"/>
            <a:pathLst>
              <a:path extrusionOk="0" h="1523873" w="1523873">
                <a:moveTo>
                  <a:pt x="0" y="0"/>
                </a:moveTo>
                <a:lnTo>
                  <a:pt x="1523873" y="0"/>
                </a:lnTo>
                <a:lnTo>
                  <a:pt x="1523873" y="1523873"/>
                </a:lnTo>
                <a:lnTo>
                  <a:pt x="0" y="1523873"/>
                </a:lnTo>
                <a:close/>
              </a:path>
            </a:pathLst>
          </a:custGeom>
          <a:blipFill rotWithShape="1">
            <a:blip r:embed="rId5">
              <a:alphaModFix/>
            </a:blip>
            <a:stretch>
              <a:fillRect b="4" l="0" r="4" t="0"/>
            </a:stretch>
          </a:blipFill>
          <a:ln>
            <a:noFill/>
          </a:ln>
        </p:spPr>
      </p:sp>
      <p:sp>
        <p:nvSpPr>
          <p:cNvPr id="526" name="Google Shape;526;p27"/>
          <p:cNvSpPr txBox="1"/>
          <p:nvPr/>
        </p:nvSpPr>
        <p:spPr>
          <a:xfrm>
            <a:off x="8974263" y="4807833"/>
            <a:ext cx="3265312" cy="451696"/>
          </a:xfrm>
          <a:prstGeom prst="rect">
            <a:avLst/>
          </a:prstGeom>
          <a:noFill/>
          <a:ln>
            <a:noFill/>
          </a:ln>
        </p:spPr>
        <p:txBody>
          <a:bodyPr anchorCtr="0" anchor="t" bIns="0" lIns="0" spcFirstLastPara="1" rIns="0" wrap="square" tIns="0">
            <a:spAutoFit/>
          </a:bodyPr>
          <a:lstStyle/>
          <a:p>
            <a:pPr indent="0" lvl="0" marL="0" marR="0" rtl="0" algn="ctr">
              <a:lnSpc>
                <a:spcPct val="108000"/>
              </a:lnSpc>
              <a:spcBef>
                <a:spcPts val="0"/>
              </a:spcBef>
              <a:spcAft>
                <a:spcPts val="0"/>
              </a:spcAft>
              <a:buClr>
                <a:srgbClr val="000000"/>
              </a:buClr>
              <a:buSzPts val="3450"/>
              <a:buFont typeface="Arial"/>
              <a:buNone/>
            </a:pPr>
            <a:r>
              <a:rPr b="1" i="0" lang="en-US" sz="3450" u="none" cap="none" strike="noStrike">
                <a:solidFill>
                  <a:srgbClr val="000000"/>
                </a:solidFill>
                <a:latin typeface="PT Sans"/>
                <a:ea typeface="PT Sans"/>
                <a:cs typeface="PT Sans"/>
                <a:sym typeface="PT Sans"/>
              </a:rPr>
              <a:t>Caso recursivo:</a:t>
            </a:r>
            <a:endParaRPr b="0" i="0" sz="1400" u="none" cap="none" strike="noStrike">
              <a:solidFill>
                <a:srgbClr val="000000"/>
              </a:solidFill>
              <a:latin typeface="Arial"/>
              <a:ea typeface="Arial"/>
              <a:cs typeface="Arial"/>
              <a:sym typeface="Arial"/>
            </a:endParaRPr>
          </a:p>
        </p:txBody>
      </p:sp>
      <p:sp>
        <p:nvSpPr>
          <p:cNvPr id="527" name="Google Shape;527;p27"/>
          <p:cNvSpPr txBox="1"/>
          <p:nvPr/>
        </p:nvSpPr>
        <p:spPr>
          <a:xfrm>
            <a:off x="8974263" y="5356170"/>
            <a:ext cx="3265312" cy="1527598"/>
          </a:xfrm>
          <a:prstGeom prst="rect">
            <a:avLst/>
          </a:prstGeom>
          <a:noFill/>
          <a:ln>
            <a:noFill/>
          </a:ln>
        </p:spPr>
        <p:txBody>
          <a:bodyPr anchorCtr="0" anchor="t" bIns="0" lIns="0" spcFirstLastPara="1" rIns="0" wrap="square" tIns="0">
            <a:spAutoFit/>
          </a:bodyPr>
          <a:lstStyle/>
          <a:p>
            <a:pPr indent="0" lvl="0" marL="0" marR="0" rtl="0" algn="ctr">
              <a:lnSpc>
                <a:spcPct val="108000"/>
              </a:lnSpc>
              <a:spcBef>
                <a:spcPts val="0"/>
              </a:spcBef>
              <a:spcAft>
                <a:spcPts val="0"/>
              </a:spcAft>
              <a:buClr>
                <a:srgbClr val="000000"/>
              </a:buClr>
              <a:buSzPts val="2550"/>
              <a:buFont typeface="Arial"/>
              <a:buNone/>
            </a:pPr>
            <a:r>
              <a:rPr b="0" i="0" lang="en-US" sz="2550" u="none" cap="none" strike="noStrike">
                <a:solidFill>
                  <a:srgbClr val="000000"/>
                </a:solidFill>
                <a:latin typeface="PT Sans"/>
                <a:ea typeface="PT Sans"/>
                <a:cs typeface="PT Sans"/>
                <a:sym typeface="PT Sans"/>
              </a:rPr>
              <a:t>Realiza la llamada recursiva como última operación.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p28"/>
          <p:cNvSpPr/>
          <p:nvPr/>
        </p:nvSpPr>
        <p:spPr>
          <a:xfrm>
            <a:off x="1" y="1138428"/>
            <a:ext cx="5165408" cy="7996428"/>
          </a:xfrm>
          <a:custGeom>
            <a:rect b="b" l="l" r="r" t="t"/>
            <a:pathLst>
              <a:path extrusionOk="0" h="10661904" w="6887210">
                <a:moveTo>
                  <a:pt x="0" y="0"/>
                </a:moveTo>
                <a:lnTo>
                  <a:pt x="6887210" y="0"/>
                </a:lnTo>
                <a:lnTo>
                  <a:pt x="6887210" y="10661904"/>
                </a:lnTo>
                <a:lnTo>
                  <a:pt x="0" y="10661904"/>
                </a:lnTo>
                <a:close/>
              </a:path>
            </a:pathLst>
          </a:custGeom>
          <a:solidFill>
            <a:srgbClr val="40BAD2"/>
          </a:solidFill>
          <a:ln>
            <a:noFill/>
          </a:ln>
        </p:spPr>
      </p:sp>
      <p:sp>
        <p:nvSpPr>
          <p:cNvPr id="533" name="Google Shape;533;p28"/>
          <p:cNvSpPr/>
          <p:nvPr/>
        </p:nvSpPr>
        <p:spPr>
          <a:xfrm>
            <a:off x="17723796" y="1138428"/>
            <a:ext cx="576072" cy="7996428"/>
          </a:xfrm>
          <a:custGeom>
            <a:rect b="b" l="l" r="r" t="t"/>
            <a:pathLst>
              <a:path extrusionOk="0" h="10661904" w="768096">
                <a:moveTo>
                  <a:pt x="0" y="0"/>
                </a:moveTo>
                <a:lnTo>
                  <a:pt x="768096" y="0"/>
                </a:lnTo>
                <a:lnTo>
                  <a:pt x="768096" y="10661904"/>
                </a:lnTo>
                <a:lnTo>
                  <a:pt x="0" y="10661904"/>
                </a:lnTo>
                <a:close/>
              </a:path>
            </a:pathLst>
          </a:custGeom>
          <a:solidFill>
            <a:srgbClr val="C8C8C8">
              <a:alpha val="24706"/>
            </a:srgbClr>
          </a:solidFill>
          <a:ln>
            <a:noFill/>
          </a:ln>
        </p:spPr>
      </p:sp>
      <p:sp>
        <p:nvSpPr>
          <p:cNvPr id="534" name="Google Shape;534;p28"/>
          <p:cNvSpPr/>
          <p:nvPr/>
        </p:nvSpPr>
        <p:spPr>
          <a:xfrm>
            <a:off x="0" y="0"/>
            <a:ext cx="18288000" cy="10287000"/>
          </a:xfrm>
          <a:custGeom>
            <a:rect b="b" l="l" r="r" t="t"/>
            <a:pathLst>
              <a:path extrusionOk="0" h="13716000" w="24384000">
                <a:moveTo>
                  <a:pt x="0" y="0"/>
                </a:moveTo>
                <a:lnTo>
                  <a:pt x="24384000" y="0"/>
                </a:lnTo>
                <a:lnTo>
                  <a:pt x="24384000" y="13716000"/>
                </a:lnTo>
                <a:lnTo>
                  <a:pt x="0" y="13716000"/>
                </a:lnTo>
                <a:close/>
              </a:path>
            </a:pathLst>
          </a:custGeom>
          <a:solidFill>
            <a:srgbClr val="FFFFFF"/>
          </a:solidFill>
          <a:ln>
            <a:noFill/>
          </a:ln>
        </p:spPr>
      </p:sp>
      <p:sp>
        <p:nvSpPr>
          <p:cNvPr id="535" name="Google Shape;535;p28"/>
          <p:cNvSpPr/>
          <p:nvPr/>
        </p:nvSpPr>
        <p:spPr>
          <a:xfrm>
            <a:off x="11775180" y="1135988"/>
            <a:ext cx="6512814" cy="7993952"/>
          </a:xfrm>
          <a:custGeom>
            <a:rect b="b" l="l" r="r" t="t"/>
            <a:pathLst>
              <a:path extrusionOk="0" h="10658602" w="8683752">
                <a:moveTo>
                  <a:pt x="0" y="0"/>
                </a:moveTo>
                <a:lnTo>
                  <a:pt x="8683752" y="0"/>
                </a:lnTo>
                <a:lnTo>
                  <a:pt x="8683752" y="10658602"/>
                </a:lnTo>
                <a:lnTo>
                  <a:pt x="0" y="10658602"/>
                </a:lnTo>
                <a:close/>
              </a:path>
            </a:pathLst>
          </a:custGeom>
          <a:solidFill>
            <a:srgbClr val="40BAD2"/>
          </a:solidFill>
          <a:ln>
            <a:noFill/>
          </a:ln>
        </p:spPr>
      </p:sp>
      <p:grpSp>
        <p:nvGrpSpPr>
          <p:cNvPr id="536" name="Google Shape;536;p28"/>
          <p:cNvGrpSpPr/>
          <p:nvPr/>
        </p:nvGrpSpPr>
        <p:grpSpPr>
          <a:xfrm>
            <a:off x="12242085" y="1619655"/>
            <a:ext cx="5482286" cy="2290866"/>
            <a:chOff x="0" y="0"/>
            <a:chExt cx="7309714" cy="3054488"/>
          </a:xfrm>
        </p:grpSpPr>
        <p:sp>
          <p:nvSpPr>
            <p:cNvPr id="537" name="Google Shape;537;p28"/>
            <p:cNvSpPr/>
            <p:nvPr/>
          </p:nvSpPr>
          <p:spPr>
            <a:xfrm>
              <a:off x="0" y="0"/>
              <a:ext cx="7309714" cy="3054488"/>
            </a:xfrm>
            <a:custGeom>
              <a:rect b="b" l="l" r="r" t="t"/>
              <a:pathLst>
                <a:path extrusionOk="0" h="3054488" w="7309714">
                  <a:moveTo>
                    <a:pt x="0" y="0"/>
                  </a:moveTo>
                  <a:lnTo>
                    <a:pt x="7309714" y="0"/>
                  </a:lnTo>
                  <a:lnTo>
                    <a:pt x="7309714" y="3054488"/>
                  </a:lnTo>
                  <a:lnTo>
                    <a:pt x="0" y="3054488"/>
                  </a:lnTo>
                  <a:close/>
                </a:path>
              </a:pathLst>
            </a:custGeom>
            <a:solidFill>
              <a:srgbClr val="000000">
                <a:alpha val="0"/>
              </a:srgbClr>
            </a:solidFill>
            <a:ln>
              <a:noFill/>
            </a:ln>
          </p:spPr>
        </p:sp>
        <p:sp>
          <p:nvSpPr>
            <p:cNvPr id="538" name="Google Shape;538;p28"/>
            <p:cNvSpPr txBox="1"/>
            <p:nvPr/>
          </p:nvSpPr>
          <p:spPr>
            <a:xfrm>
              <a:off x="0" y="57150"/>
              <a:ext cx="7309714" cy="2997338"/>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000000"/>
                </a:buClr>
                <a:buSzPts val="4800"/>
                <a:buFont typeface="Arial"/>
                <a:buNone/>
              </a:pPr>
              <a:r>
                <a:rPr b="0" i="0" lang="en-US" sz="4800" u="none" cap="none" strike="noStrike">
                  <a:solidFill>
                    <a:srgbClr val="FFFFFF"/>
                  </a:solidFill>
                  <a:latin typeface="PT Sans"/>
                  <a:ea typeface="PT Sans"/>
                  <a:cs typeface="PT Sans"/>
                  <a:sym typeface="PT Sans"/>
                </a:rPr>
                <a:t>¿Cómo funciona?</a:t>
              </a:r>
              <a:endParaRPr b="0" i="0" sz="1400" u="none" cap="none" strike="noStrike">
                <a:solidFill>
                  <a:srgbClr val="000000"/>
                </a:solidFill>
                <a:latin typeface="Arial"/>
                <a:ea typeface="Arial"/>
                <a:cs typeface="Arial"/>
                <a:sym typeface="Arial"/>
              </a:endParaRPr>
            </a:p>
          </p:txBody>
        </p:sp>
      </p:grpSp>
      <p:sp>
        <p:nvSpPr>
          <p:cNvPr id="539" name="Google Shape;539;p28"/>
          <p:cNvSpPr/>
          <p:nvPr/>
        </p:nvSpPr>
        <p:spPr>
          <a:xfrm>
            <a:off x="0" y="1138428"/>
            <a:ext cx="576072" cy="7996428"/>
          </a:xfrm>
          <a:custGeom>
            <a:rect b="b" l="l" r="r" t="t"/>
            <a:pathLst>
              <a:path extrusionOk="0" h="10661904" w="768096">
                <a:moveTo>
                  <a:pt x="0" y="0"/>
                </a:moveTo>
                <a:lnTo>
                  <a:pt x="768096" y="0"/>
                </a:lnTo>
                <a:lnTo>
                  <a:pt x="768096" y="10661904"/>
                </a:lnTo>
                <a:lnTo>
                  <a:pt x="0" y="10661904"/>
                </a:lnTo>
                <a:close/>
              </a:path>
            </a:pathLst>
          </a:custGeom>
          <a:solidFill>
            <a:srgbClr val="C8C8C8">
              <a:alpha val="24706"/>
            </a:srgbClr>
          </a:solidFill>
          <a:ln>
            <a:noFill/>
          </a:ln>
        </p:spPr>
      </p:sp>
      <p:sp>
        <p:nvSpPr>
          <p:cNvPr descr="Herramienta de medida ajustable" id="540" name="Google Shape;540;p28"/>
          <p:cNvSpPr/>
          <p:nvPr/>
        </p:nvSpPr>
        <p:spPr>
          <a:xfrm>
            <a:off x="1296772" y="2380923"/>
            <a:ext cx="9751505" cy="5504117"/>
          </a:xfrm>
          <a:custGeom>
            <a:rect b="b" l="l" r="r" t="t"/>
            <a:pathLst>
              <a:path extrusionOk="0" h="7338822" w="13002006">
                <a:moveTo>
                  <a:pt x="0" y="0"/>
                </a:moveTo>
                <a:lnTo>
                  <a:pt x="13002006" y="0"/>
                </a:lnTo>
                <a:lnTo>
                  <a:pt x="13002006" y="7338822"/>
                </a:lnTo>
                <a:lnTo>
                  <a:pt x="0" y="7338822"/>
                </a:lnTo>
                <a:lnTo>
                  <a:pt x="0" y="0"/>
                </a:lnTo>
                <a:close/>
              </a:path>
            </a:pathLst>
          </a:custGeom>
          <a:blipFill rotWithShape="1">
            <a:blip r:embed="rId3">
              <a:alphaModFix/>
            </a:blip>
            <a:stretch>
              <a:fillRect b="-16585" l="0" r="-144" t="-1667"/>
            </a:stretch>
          </a:blipFill>
          <a:ln>
            <a:noFill/>
          </a:ln>
        </p:spPr>
      </p:sp>
      <p:sp>
        <p:nvSpPr>
          <p:cNvPr id="541" name="Google Shape;541;p28"/>
          <p:cNvSpPr txBox="1"/>
          <p:nvPr/>
        </p:nvSpPr>
        <p:spPr>
          <a:xfrm>
            <a:off x="12333510" y="3984796"/>
            <a:ext cx="5299436" cy="4616879"/>
          </a:xfrm>
          <a:prstGeom prst="rect">
            <a:avLst/>
          </a:prstGeom>
          <a:noFill/>
          <a:ln>
            <a:noFill/>
          </a:ln>
        </p:spPr>
        <p:txBody>
          <a:bodyPr anchorCtr="0" anchor="t" bIns="0" lIns="0" spcFirstLastPara="1" rIns="0" wrap="square" tIns="0">
            <a:spAutoFit/>
          </a:bodyPr>
          <a:lstStyle/>
          <a:p>
            <a:pPr indent="-217170" lvl="1" marL="434340" marR="0" rtl="0" algn="l">
              <a:lnSpc>
                <a:spcPct val="108000"/>
              </a:lnSpc>
              <a:spcBef>
                <a:spcPts val="0"/>
              </a:spcBef>
              <a:spcAft>
                <a:spcPts val="0"/>
              </a:spcAft>
              <a:buClr>
                <a:srgbClr val="FFFFFF"/>
              </a:buClr>
              <a:buSzPts val="2400"/>
              <a:buFont typeface="Arial"/>
              <a:buChar char="•"/>
            </a:pPr>
            <a:r>
              <a:rPr b="0" i="0" lang="en-US" sz="2400" u="none" cap="none" strike="noStrike">
                <a:solidFill>
                  <a:srgbClr val="FFFFFF"/>
                </a:solidFill>
                <a:latin typeface="PT Sans"/>
                <a:ea typeface="PT Sans"/>
                <a:cs typeface="PT Sans"/>
                <a:sym typeface="PT Sans"/>
              </a:rPr>
              <a:t>Se pasa un acumulador como parámetro para llevar el estado del cálculo.</a:t>
            </a:r>
            <a:endParaRPr b="0" i="0" sz="1400" u="none" cap="none" strike="noStrike">
              <a:solidFill>
                <a:srgbClr val="000000"/>
              </a:solidFill>
              <a:latin typeface="Arial"/>
              <a:ea typeface="Arial"/>
              <a:cs typeface="Arial"/>
              <a:sym typeface="Arial"/>
            </a:endParaRPr>
          </a:p>
          <a:p>
            <a:pPr indent="-217170" lvl="1" marL="434340" marR="0" rtl="0" algn="l">
              <a:lnSpc>
                <a:spcPct val="108000"/>
              </a:lnSpc>
              <a:spcBef>
                <a:spcPts val="0"/>
              </a:spcBef>
              <a:spcAft>
                <a:spcPts val="0"/>
              </a:spcAft>
              <a:buClr>
                <a:srgbClr val="FFFFFF"/>
              </a:buClr>
              <a:buSzPts val="2400"/>
              <a:buFont typeface="Arial"/>
              <a:buChar char="•"/>
            </a:pPr>
            <a:r>
              <a:rPr b="0" i="0" lang="en-US" sz="2400" u="none" cap="none" strike="noStrike">
                <a:solidFill>
                  <a:srgbClr val="FFFFFF"/>
                </a:solidFill>
                <a:latin typeface="PT Sans"/>
                <a:ea typeface="PT Sans"/>
                <a:cs typeface="PT Sans"/>
                <a:sym typeface="PT Sans"/>
              </a:rPr>
              <a:t>La llamada recursiva reemplaza el marco de pila actual en lugar de agregar uno nuevo.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29"/>
          <p:cNvSpPr/>
          <p:nvPr/>
        </p:nvSpPr>
        <p:spPr>
          <a:xfrm>
            <a:off x="1" y="1138428"/>
            <a:ext cx="5165408" cy="7996428"/>
          </a:xfrm>
          <a:custGeom>
            <a:rect b="b" l="l" r="r" t="t"/>
            <a:pathLst>
              <a:path extrusionOk="0" h="10661904" w="6887210">
                <a:moveTo>
                  <a:pt x="0" y="0"/>
                </a:moveTo>
                <a:lnTo>
                  <a:pt x="6887210" y="0"/>
                </a:lnTo>
                <a:lnTo>
                  <a:pt x="6887210" y="10661904"/>
                </a:lnTo>
                <a:lnTo>
                  <a:pt x="0" y="10661904"/>
                </a:lnTo>
                <a:close/>
              </a:path>
            </a:pathLst>
          </a:custGeom>
          <a:solidFill>
            <a:srgbClr val="40BAD2"/>
          </a:solidFill>
          <a:ln>
            <a:noFill/>
          </a:ln>
        </p:spPr>
      </p:sp>
      <p:sp>
        <p:nvSpPr>
          <p:cNvPr id="547" name="Google Shape;547;p29"/>
          <p:cNvSpPr/>
          <p:nvPr/>
        </p:nvSpPr>
        <p:spPr>
          <a:xfrm>
            <a:off x="17723796" y="1138428"/>
            <a:ext cx="576072" cy="7996428"/>
          </a:xfrm>
          <a:custGeom>
            <a:rect b="b" l="l" r="r" t="t"/>
            <a:pathLst>
              <a:path extrusionOk="0" h="10661904" w="768096">
                <a:moveTo>
                  <a:pt x="0" y="0"/>
                </a:moveTo>
                <a:lnTo>
                  <a:pt x="768096" y="0"/>
                </a:lnTo>
                <a:lnTo>
                  <a:pt x="768096" y="10661904"/>
                </a:lnTo>
                <a:lnTo>
                  <a:pt x="0" y="10661904"/>
                </a:lnTo>
                <a:close/>
              </a:path>
            </a:pathLst>
          </a:custGeom>
          <a:solidFill>
            <a:srgbClr val="C8C8C8">
              <a:alpha val="24706"/>
            </a:srgbClr>
          </a:solidFill>
          <a:ln>
            <a:noFill/>
          </a:ln>
        </p:spPr>
      </p:sp>
      <p:sp>
        <p:nvSpPr>
          <p:cNvPr id="548" name="Google Shape;548;p29"/>
          <p:cNvSpPr/>
          <p:nvPr/>
        </p:nvSpPr>
        <p:spPr>
          <a:xfrm>
            <a:off x="0" y="1142998"/>
            <a:ext cx="13712475" cy="8001000"/>
          </a:xfrm>
          <a:custGeom>
            <a:rect b="b" l="l" r="r" t="t"/>
            <a:pathLst>
              <a:path extrusionOk="0" h="10668000" w="18283301">
                <a:moveTo>
                  <a:pt x="0" y="0"/>
                </a:moveTo>
                <a:lnTo>
                  <a:pt x="18283301" y="0"/>
                </a:lnTo>
                <a:lnTo>
                  <a:pt x="18283301" y="10668000"/>
                </a:lnTo>
                <a:lnTo>
                  <a:pt x="0" y="10668000"/>
                </a:lnTo>
                <a:close/>
              </a:path>
            </a:pathLst>
          </a:custGeom>
          <a:solidFill>
            <a:srgbClr val="40BAD2"/>
          </a:solidFill>
          <a:ln>
            <a:noFill/>
          </a:ln>
        </p:spPr>
      </p:sp>
      <p:sp>
        <p:nvSpPr>
          <p:cNvPr id="549" name="Google Shape;549;p29"/>
          <p:cNvSpPr/>
          <p:nvPr/>
        </p:nvSpPr>
        <p:spPr>
          <a:xfrm>
            <a:off x="13905394" y="1142998"/>
            <a:ext cx="4387977" cy="8001000"/>
          </a:xfrm>
          <a:custGeom>
            <a:rect b="b" l="l" r="r" t="t"/>
            <a:pathLst>
              <a:path extrusionOk="0" h="10668000" w="5850636">
                <a:moveTo>
                  <a:pt x="0" y="0"/>
                </a:moveTo>
                <a:lnTo>
                  <a:pt x="5850636" y="0"/>
                </a:lnTo>
                <a:lnTo>
                  <a:pt x="5850636" y="10668000"/>
                </a:lnTo>
                <a:lnTo>
                  <a:pt x="0" y="10668000"/>
                </a:lnTo>
                <a:close/>
              </a:path>
            </a:pathLst>
          </a:custGeom>
          <a:solidFill>
            <a:srgbClr val="C8C8C8">
              <a:alpha val="24706"/>
            </a:srgbClr>
          </a:solidFill>
          <a:ln>
            <a:noFill/>
          </a:ln>
        </p:spPr>
      </p:sp>
      <p:sp>
        <p:nvSpPr>
          <p:cNvPr id="550" name="Google Shape;550;p29"/>
          <p:cNvSpPr/>
          <p:nvPr/>
        </p:nvSpPr>
        <p:spPr>
          <a:xfrm>
            <a:off x="0" y="0"/>
            <a:ext cx="18287999" cy="10287000"/>
          </a:xfrm>
          <a:custGeom>
            <a:rect b="b" l="l" r="r" t="t"/>
            <a:pathLst>
              <a:path extrusionOk="0" h="13716000" w="24384000">
                <a:moveTo>
                  <a:pt x="0" y="0"/>
                </a:moveTo>
                <a:lnTo>
                  <a:pt x="24384000" y="0"/>
                </a:lnTo>
                <a:lnTo>
                  <a:pt x="24384000" y="13716000"/>
                </a:lnTo>
                <a:lnTo>
                  <a:pt x="0" y="13716000"/>
                </a:lnTo>
                <a:close/>
              </a:path>
            </a:pathLst>
          </a:custGeom>
          <a:solidFill>
            <a:srgbClr val="FFFFFF"/>
          </a:solidFill>
          <a:ln>
            <a:noFill/>
          </a:ln>
        </p:spPr>
      </p:sp>
      <p:sp>
        <p:nvSpPr>
          <p:cNvPr id="551" name="Google Shape;551;p29"/>
          <p:cNvSpPr/>
          <p:nvPr/>
        </p:nvSpPr>
        <p:spPr>
          <a:xfrm>
            <a:off x="0" y="6551458"/>
            <a:ext cx="17561052" cy="2778252"/>
          </a:xfrm>
          <a:custGeom>
            <a:rect b="b" l="l" r="r" t="t"/>
            <a:pathLst>
              <a:path extrusionOk="0" h="3704336" w="23414737">
                <a:moveTo>
                  <a:pt x="0" y="0"/>
                </a:moveTo>
                <a:lnTo>
                  <a:pt x="23414737" y="0"/>
                </a:lnTo>
                <a:lnTo>
                  <a:pt x="23414737" y="3704336"/>
                </a:lnTo>
                <a:lnTo>
                  <a:pt x="0" y="3704336"/>
                </a:lnTo>
                <a:close/>
              </a:path>
            </a:pathLst>
          </a:custGeom>
          <a:solidFill>
            <a:srgbClr val="40BAD2"/>
          </a:solidFill>
          <a:ln>
            <a:noFill/>
          </a:ln>
        </p:spPr>
      </p:sp>
      <p:grpSp>
        <p:nvGrpSpPr>
          <p:cNvPr id="552" name="Google Shape;552;p29"/>
          <p:cNvGrpSpPr/>
          <p:nvPr/>
        </p:nvGrpSpPr>
        <p:grpSpPr>
          <a:xfrm>
            <a:off x="1604772" y="6885992"/>
            <a:ext cx="15316293" cy="1598535"/>
            <a:chOff x="0" y="0"/>
            <a:chExt cx="20421724" cy="2131380"/>
          </a:xfrm>
        </p:grpSpPr>
        <p:sp>
          <p:nvSpPr>
            <p:cNvPr id="553" name="Google Shape;553;p29"/>
            <p:cNvSpPr/>
            <p:nvPr/>
          </p:nvSpPr>
          <p:spPr>
            <a:xfrm>
              <a:off x="0" y="0"/>
              <a:ext cx="20421724" cy="2131380"/>
            </a:xfrm>
            <a:custGeom>
              <a:rect b="b" l="l" r="r" t="t"/>
              <a:pathLst>
                <a:path extrusionOk="0" h="2131380" w="20421724">
                  <a:moveTo>
                    <a:pt x="0" y="0"/>
                  </a:moveTo>
                  <a:lnTo>
                    <a:pt x="20421724" y="0"/>
                  </a:lnTo>
                  <a:lnTo>
                    <a:pt x="20421724" y="2131380"/>
                  </a:lnTo>
                  <a:lnTo>
                    <a:pt x="0" y="2131380"/>
                  </a:lnTo>
                  <a:close/>
                </a:path>
              </a:pathLst>
            </a:custGeom>
            <a:solidFill>
              <a:srgbClr val="000000">
                <a:alpha val="0"/>
              </a:srgbClr>
            </a:solidFill>
            <a:ln>
              <a:noFill/>
            </a:ln>
          </p:spPr>
        </p:sp>
        <p:sp>
          <p:nvSpPr>
            <p:cNvPr id="554" name="Google Shape;554;p29"/>
            <p:cNvSpPr txBox="1"/>
            <p:nvPr/>
          </p:nvSpPr>
          <p:spPr>
            <a:xfrm>
              <a:off x="0" y="104775"/>
              <a:ext cx="20421724" cy="2026605"/>
            </a:xfrm>
            <a:prstGeom prst="rect">
              <a:avLst/>
            </a:prstGeom>
            <a:noFill/>
            <a:ln>
              <a:noFill/>
            </a:ln>
          </p:spPr>
          <p:txBody>
            <a:bodyPr anchorCtr="0" anchor="b" bIns="0" lIns="0" spcFirstLastPara="1" rIns="0" wrap="square" tIns="0">
              <a:noAutofit/>
            </a:bodyPr>
            <a:lstStyle/>
            <a:p>
              <a:pPr indent="0" lvl="0" marL="0" marR="0" rtl="0" algn="l">
                <a:lnSpc>
                  <a:spcPct val="108000"/>
                </a:lnSpc>
                <a:spcBef>
                  <a:spcPts val="0"/>
                </a:spcBef>
                <a:spcAft>
                  <a:spcPts val="0"/>
                </a:spcAft>
                <a:buClr>
                  <a:srgbClr val="000000"/>
                </a:buClr>
                <a:buSzPts val="8850"/>
                <a:buFont typeface="Arial"/>
                <a:buNone/>
              </a:pPr>
              <a:r>
                <a:rPr b="0" i="0" lang="en-US" sz="8850" u="none" cap="none" strike="noStrike">
                  <a:solidFill>
                    <a:srgbClr val="FFFFFF"/>
                  </a:solidFill>
                  <a:latin typeface="PT Sans"/>
                  <a:ea typeface="PT Sans"/>
                  <a:cs typeface="PT Sans"/>
                  <a:sym typeface="PT Sans"/>
                </a:rPr>
                <a:t>Ejemplo</a:t>
              </a:r>
              <a:endParaRPr b="0" i="0" sz="1400" u="none" cap="none" strike="noStrike">
                <a:solidFill>
                  <a:srgbClr val="000000"/>
                </a:solidFill>
                <a:latin typeface="Arial"/>
                <a:ea typeface="Arial"/>
                <a:cs typeface="Arial"/>
                <a:sym typeface="Arial"/>
              </a:endParaRPr>
            </a:p>
          </p:txBody>
        </p:sp>
      </p:grpSp>
      <p:sp>
        <p:nvSpPr>
          <p:cNvPr id="555" name="Google Shape;555;p29"/>
          <p:cNvSpPr/>
          <p:nvPr/>
        </p:nvSpPr>
        <p:spPr>
          <a:xfrm>
            <a:off x="1604770" y="726948"/>
            <a:ext cx="15956279" cy="5335142"/>
          </a:xfrm>
          <a:custGeom>
            <a:rect b="b" l="l" r="r" t="t"/>
            <a:pathLst>
              <a:path extrusionOk="0" h="7113524" w="21275039">
                <a:moveTo>
                  <a:pt x="0" y="0"/>
                </a:moveTo>
                <a:lnTo>
                  <a:pt x="21275039" y="0"/>
                </a:lnTo>
                <a:lnTo>
                  <a:pt x="21275039" y="7113524"/>
                </a:lnTo>
                <a:lnTo>
                  <a:pt x="0" y="7113524"/>
                </a:lnTo>
                <a:lnTo>
                  <a:pt x="0" y="0"/>
                </a:lnTo>
                <a:close/>
              </a:path>
            </a:pathLst>
          </a:custGeom>
          <a:blipFill rotWithShape="1">
            <a:blip r:embed="rId3">
              <a:alphaModFix/>
            </a:blip>
            <a:stretch>
              <a:fillRect b="-28687" l="0" r="0" t="-5363"/>
            </a:stretch>
          </a:blipFill>
          <a:ln>
            <a:noFill/>
          </a:ln>
        </p:spPr>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p30"/>
          <p:cNvSpPr/>
          <p:nvPr/>
        </p:nvSpPr>
        <p:spPr>
          <a:xfrm>
            <a:off x="1" y="1138428"/>
            <a:ext cx="5165408" cy="7996428"/>
          </a:xfrm>
          <a:custGeom>
            <a:rect b="b" l="l" r="r" t="t"/>
            <a:pathLst>
              <a:path extrusionOk="0" h="10661904" w="6887210">
                <a:moveTo>
                  <a:pt x="0" y="0"/>
                </a:moveTo>
                <a:lnTo>
                  <a:pt x="6887210" y="0"/>
                </a:lnTo>
                <a:lnTo>
                  <a:pt x="6887210" y="10661904"/>
                </a:lnTo>
                <a:lnTo>
                  <a:pt x="0" y="10661904"/>
                </a:lnTo>
                <a:close/>
              </a:path>
            </a:pathLst>
          </a:custGeom>
          <a:solidFill>
            <a:srgbClr val="40BAD2"/>
          </a:solidFill>
          <a:ln>
            <a:noFill/>
          </a:ln>
        </p:spPr>
      </p:sp>
      <p:sp>
        <p:nvSpPr>
          <p:cNvPr id="561" name="Google Shape;561;p30"/>
          <p:cNvSpPr/>
          <p:nvPr/>
        </p:nvSpPr>
        <p:spPr>
          <a:xfrm>
            <a:off x="17723796" y="1138428"/>
            <a:ext cx="576072" cy="7996428"/>
          </a:xfrm>
          <a:custGeom>
            <a:rect b="b" l="l" r="r" t="t"/>
            <a:pathLst>
              <a:path extrusionOk="0" h="10661904" w="768096">
                <a:moveTo>
                  <a:pt x="0" y="0"/>
                </a:moveTo>
                <a:lnTo>
                  <a:pt x="768096" y="0"/>
                </a:lnTo>
                <a:lnTo>
                  <a:pt x="768096" y="10661904"/>
                </a:lnTo>
                <a:lnTo>
                  <a:pt x="0" y="10661904"/>
                </a:lnTo>
                <a:close/>
              </a:path>
            </a:pathLst>
          </a:custGeom>
          <a:solidFill>
            <a:srgbClr val="C8C8C8">
              <a:alpha val="24706"/>
            </a:srgbClr>
          </a:solidFill>
          <a:ln>
            <a:noFill/>
          </a:ln>
        </p:spPr>
      </p:sp>
      <p:sp>
        <p:nvSpPr>
          <p:cNvPr id="562" name="Google Shape;562;p30"/>
          <p:cNvSpPr/>
          <p:nvPr/>
        </p:nvSpPr>
        <p:spPr>
          <a:xfrm>
            <a:off x="0" y="0"/>
            <a:ext cx="18288000" cy="10287000"/>
          </a:xfrm>
          <a:custGeom>
            <a:rect b="b" l="l" r="r" t="t"/>
            <a:pathLst>
              <a:path extrusionOk="0" h="13716000" w="24384000">
                <a:moveTo>
                  <a:pt x="0" y="0"/>
                </a:moveTo>
                <a:lnTo>
                  <a:pt x="24384000" y="0"/>
                </a:lnTo>
                <a:lnTo>
                  <a:pt x="24384000" y="13716000"/>
                </a:lnTo>
                <a:lnTo>
                  <a:pt x="0" y="13716000"/>
                </a:lnTo>
                <a:close/>
              </a:path>
            </a:pathLst>
          </a:custGeom>
          <a:solidFill>
            <a:srgbClr val="FFFFFF"/>
          </a:solidFill>
          <a:ln>
            <a:noFill/>
          </a:ln>
        </p:spPr>
      </p:sp>
      <p:grpSp>
        <p:nvGrpSpPr>
          <p:cNvPr id="563" name="Google Shape;563;p30"/>
          <p:cNvGrpSpPr/>
          <p:nvPr/>
        </p:nvGrpSpPr>
        <p:grpSpPr>
          <a:xfrm>
            <a:off x="2308674" y="1296162"/>
            <a:ext cx="4610871" cy="7680958"/>
            <a:chOff x="0" y="0"/>
            <a:chExt cx="6147828" cy="10241278"/>
          </a:xfrm>
        </p:grpSpPr>
        <p:sp>
          <p:nvSpPr>
            <p:cNvPr id="564" name="Google Shape;564;p30"/>
            <p:cNvSpPr/>
            <p:nvPr/>
          </p:nvSpPr>
          <p:spPr>
            <a:xfrm>
              <a:off x="0" y="0"/>
              <a:ext cx="6147828" cy="10241278"/>
            </a:xfrm>
            <a:custGeom>
              <a:rect b="b" l="l" r="r" t="t"/>
              <a:pathLst>
                <a:path extrusionOk="0" h="10241278" w="6147828">
                  <a:moveTo>
                    <a:pt x="0" y="0"/>
                  </a:moveTo>
                  <a:lnTo>
                    <a:pt x="6147828" y="0"/>
                  </a:lnTo>
                  <a:lnTo>
                    <a:pt x="6147828" y="10241278"/>
                  </a:lnTo>
                  <a:lnTo>
                    <a:pt x="0" y="10241278"/>
                  </a:lnTo>
                  <a:close/>
                </a:path>
              </a:pathLst>
            </a:custGeom>
            <a:solidFill>
              <a:srgbClr val="000000">
                <a:alpha val="0"/>
              </a:srgbClr>
            </a:solidFill>
            <a:ln>
              <a:noFill/>
            </a:ln>
          </p:spPr>
        </p:sp>
        <p:sp>
          <p:nvSpPr>
            <p:cNvPr id="565" name="Google Shape;565;p30"/>
            <p:cNvSpPr txBox="1"/>
            <p:nvPr/>
          </p:nvSpPr>
          <p:spPr>
            <a:xfrm>
              <a:off x="0" y="47625"/>
              <a:ext cx="6147828" cy="10193653"/>
            </a:xfrm>
            <a:prstGeom prst="rect">
              <a:avLst/>
            </a:prstGeom>
            <a:noFill/>
            <a:ln>
              <a:noFill/>
            </a:ln>
          </p:spPr>
          <p:txBody>
            <a:bodyPr anchorCtr="0" anchor="ctr" bIns="0" lIns="0" spcFirstLastPara="1" rIns="0" wrap="square" tIns="0">
              <a:noAutofit/>
            </a:bodyPr>
            <a:lstStyle/>
            <a:p>
              <a:pPr indent="0" lvl="0" marL="0" marR="0" rtl="0" algn="r">
                <a:lnSpc>
                  <a:spcPct val="108000"/>
                </a:lnSpc>
                <a:spcBef>
                  <a:spcPts val="0"/>
                </a:spcBef>
                <a:spcAft>
                  <a:spcPts val="0"/>
                </a:spcAft>
                <a:buClr>
                  <a:srgbClr val="000000"/>
                </a:buClr>
                <a:buSzPts val="5400"/>
                <a:buFont typeface="Arial"/>
                <a:buNone/>
              </a:pPr>
              <a:r>
                <a:rPr b="0" i="0" lang="en-US" sz="5400" u="none" cap="none" strike="noStrike">
                  <a:solidFill>
                    <a:srgbClr val="262626"/>
                  </a:solidFill>
                  <a:latin typeface="PT Sans"/>
                  <a:ea typeface="PT Sans"/>
                  <a:cs typeface="PT Sans"/>
                  <a:sym typeface="PT Sans"/>
                </a:rPr>
                <a:t>¿Cuál es mejor?</a:t>
              </a:r>
              <a:endParaRPr b="0" i="0" sz="1400" u="none" cap="none" strike="noStrike">
                <a:solidFill>
                  <a:srgbClr val="000000"/>
                </a:solidFill>
                <a:latin typeface="Arial"/>
                <a:ea typeface="Arial"/>
                <a:cs typeface="Arial"/>
                <a:sym typeface="Arial"/>
              </a:endParaRPr>
            </a:p>
          </p:txBody>
        </p:sp>
      </p:grpSp>
      <p:sp>
        <p:nvSpPr>
          <p:cNvPr id="566" name="Google Shape;566;p30"/>
          <p:cNvSpPr/>
          <p:nvPr/>
        </p:nvSpPr>
        <p:spPr>
          <a:xfrm>
            <a:off x="0" y="1142998"/>
            <a:ext cx="1930432" cy="8001000"/>
          </a:xfrm>
          <a:custGeom>
            <a:rect b="b" l="l" r="r" t="t"/>
            <a:pathLst>
              <a:path extrusionOk="0" h="10668000" w="2573909">
                <a:moveTo>
                  <a:pt x="0" y="0"/>
                </a:moveTo>
                <a:lnTo>
                  <a:pt x="2573909" y="0"/>
                </a:lnTo>
                <a:lnTo>
                  <a:pt x="2573909" y="10668000"/>
                </a:lnTo>
                <a:lnTo>
                  <a:pt x="0" y="10668000"/>
                </a:lnTo>
                <a:close/>
              </a:path>
            </a:pathLst>
          </a:custGeom>
          <a:solidFill>
            <a:srgbClr val="40BAD2"/>
          </a:solidFill>
          <a:ln>
            <a:noFill/>
          </a:ln>
        </p:spPr>
      </p:sp>
      <p:cxnSp>
        <p:nvCxnSpPr>
          <p:cNvPr id="567" name="Google Shape;567;p30"/>
          <p:cNvCxnSpPr/>
          <p:nvPr/>
        </p:nvCxnSpPr>
        <p:spPr>
          <a:xfrm rot="5383826">
            <a:off x="5402167" y="5143501"/>
            <a:ext cx="4049053" cy="0"/>
          </a:xfrm>
          <a:prstGeom prst="straightConnector1">
            <a:avLst/>
          </a:prstGeom>
          <a:noFill/>
          <a:ln cap="rnd" cmpd="sng" w="9525">
            <a:solidFill>
              <a:srgbClr val="7F7F7F"/>
            </a:solidFill>
            <a:prstDash val="solid"/>
            <a:round/>
            <a:headEnd len="sm" w="sm" type="none"/>
            <a:tailEnd len="sm" w="sm" type="none"/>
          </a:ln>
        </p:spPr>
      </p:cxnSp>
      <p:grpSp>
        <p:nvGrpSpPr>
          <p:cNvPr id="568" name="Google Shape;568;p30"/>
          <p:cNvGrpSpPr/>
          <p:nvPr/>
        </p:nvGrpSpPr>
        <p:grpSpPr>
          <a:xfrm>
            <a:off x="7933844" y="1296162"/>
            <a:ext cx="8866015" cy="7680960"/>
            <a:chOff x="0" y="0"/>
            <a:chExt cx="11821354" cy="10241280"/>
          </a:xfrm>
        </p:grpSpPr>
        <p:sp>
          <p:nvSpPr>
            <p:cNvPr id="569" name="Google Shape;569;p30"/>
            <p:cNvSpPr/>
            <p:nvPr/>
          </p:nvSpPr>
          <p:spPr>
            <a:xfrm>
              <a:off x="0" y="0"/>
              <a:ext cx="11821354" cy="10241280"/>
            </a:xfrm>
            <a:custGeom>
              <a:rect b="b" l="l" r="r" t="t"/>
              <a:pathLst>
                <a:path extrusionOk="0" h="10241280" w="11821354">
                  <a:moveTo>
                    <a:pt x="0" y="0"/>
                  </a:moveTo>
                  <a:lnTo>
                    <a:pt x="11821354" y="0"/>
                  </a:lnTo>
                  <a:lnTo>
                    <a:pt x="11821354" y="10241280"/>
                  </a:lnTo>
                  <a:lnTo>
                    <a:pt x="0" y="10241280"/>
                  </a:lnTo>
                  <a:close/>
                </a:path>
              </a:pathLst>
            </a:custGeom>
            <a:solidFill>
              <a:srgbClr val="000000">
                <a:alpha val="0"/>
              </a:srgbClr>
            </a:solidFill>
            <a:ln>
              <a:noFill/>
            </a:ln>
          </p:spPr>
        </p:sp>
        <p:sp>
          <p:nvSpPr>
            <p:cNvPr id="570" name="Google Shape;570;p30"/>
            <p:cNvSpPr txBox="1"/>
            <p:nvPr/>
          </p:nvSpPr>
          <p:spPr>
            <a:xfrm>
              <a:off x="0" y="38100"/>
              <a:ext cx="11821354" cy="1020318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000000"/>
                </a:buClr>
                <a:buSzPts val="3000"/>
                <a:buFont typeface="Arial"/>
                <a:buNone/>
              </a:pPr>
              <a:r>
                <a:rPr b="0" i="0" lang="en-US" sz="3000" u="none" cap="none" strike="noStrike">
                  <a:solidFill>
                    <a:srgbClr val="595959"/>
                  </a:solidFill>
                  <a:latin typeface="PT Sans"/>
                  <a:ea typeface="PT Sans"/>
                  <a:cs typeface="PT Sans"/>
                  <a:sym typeface="PT Sans"/>
                </a:rPr>
                <a:t>La recursividad simple y la recursividad de cola son técnicas poderosas para resolver problemas complejos, pero la recursividad de cola es más eficiente en términos de memoria.</a:t>
              </a:r>
              <a:endParaRPr b="0" i="0" sz="1400" u="none" cap="none" strike="noStrike">
                <a:solidFill>
                  <a:srgbClr val="000000"/>
                </a:solidFill>
                <a:latin typeface="Arial"/>
                <a:ea typeface="Arial"/>
                <a:cs typeface="Arial"/>
                <a:sym typeface="Arial"/>
              </a:endParaRPr>
            </a:p>
          </p:txBody>
        </p:sp>
      </p:grpSp>
      <p:sp>
        <p:nvSpPr>
          <p:cNvPr id="571" name="Google Shape;571;p30"/>
          <p:cNvSpPr/>
          <p:nvPr/>
        </p:nvSpPr>
        <p:spPr>
          <a:xfrm>
            <a:off x="17525982" y="1151738"/>
            <a:ext cx="762000" cy="7992237"/>
          </a:xfrm>
          <a:custGeom>
            <a:rect b="b" l="l" r="r" t="t"/>
            <a:pathLst>
              <a:path extrusionOk="0" h="10656316" w="1016000">
                <a:moveTo>
                  <a:pt x="0" y="0"/>
                </a:moveTo>
                <a:lnTo>
                  <a:pt x="1016000" y="0"/>
                </a:lnTo>
                <a:lnTo>
                  <a:pt x="1016000" y="10656316"/>
                </a:lnTo>
                <a:lnTo>
                  <a:pt x="0" y="10656316"/>
                </a:lnTo>
                <a:close/>
              </a:path>
            </a:pathLst>
          </a:custGeom>
          <a:solidFill>
            <a:srgbClr val="C8C8C8">
              <a:alpha val="24706"/>
            </a:srgbClr>
          </a:solidFill>
          <a:ln>
            <a:noFill/>
          </a:ln>
        </p:spPr>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31"/>
          <p:cNvSpPr/>
          <p:nvPr/>
        </p:nvSpPr>
        <p:spPr>
          <a:xfrm>
            <a:off x="1" y="1138428"/>
            <a:ext cx="5165408" cy="7996428"/>
          </a:xfrm>
          <a:custGeom>
            <a:rect b="b" l="l" r="r" t="t"/>
            <a:pathLst>
              <a:path extrusionOk="0" h="10661904" w="6887210">
                <a:moveTo>
                  <a:pt x="0" y="0"/>
                </a:moveTo>
                <a:lnTo>
                  <a:pt x="6887210" y="0"/>
                </a:lnTo>
                <a:lnTo>
                  <a:pt x="6887210" y="10661904"/>
                </a:lnTo>
                <a:lnTo>
                  <a:pt x="0" y="10661904"/>
                </a:lnTo>
                <a:close/>
              </a:path>
            </a:pathLst>
          </a:custGeom>
          <a:solidFill>
            <a:srgbClr val="40BAD2"/>
          </a:solidFill>
          <a:ln>
            <a:noFill/>
          </a:ln>
        </p:spPr>
      </p:sp>
      <p:sp>
        <p:nvSpPr>
          <p:cNvPr id="577" name="Google Shape;577;p31"/>
          <p:cNvSpPr/>
          <p:nvPr/>
        </p:nvSpPr>
        <p:spPr>
          <a:xfrm>
            <a:off x="17723796" y="1138428"/>
            <a:ext cx="576072" cy="7996428"/>
          </a:xfrm>
          <a:custGeom>
            <a:rect b="b" l="l" r="r" t="t"/>
            <a:pathLst>
              <a:path extrusionOk="0" h="10661904" w="768096">
                <a:moveTo>
                  <a:pt x="0" y="0"/>
                </a:moveTo>
                <a:lnTo>
                  <a:pt x="768096" y="0"/>
                </a:lnTo>
                <a:lnTo>
                  <a:pt x="768096" y="10661904"/>
                </a:lnTo>
                <a:lnTo>
                  <a:pt x="0" y="10661904"/>
                </a:lnTo>
                <a:close/>
              </a:path>
            </a:pathLst>
          </a:custGeom>
          <a:solidFill>
            <a:srgbClr val="C8C8C8">
              <a:alpha val="24706"/>
            </a:srgbClr>
          </a:solidFill>
          <a:ln>
            <a:noFill/>
          </a:ln>
        </p:spPr>
      </p:sp>
      <p:sp>
        <p:nvSpPr>
          <p:cNvPr id="578" name="Google Shape;578;p31"/>
          <p:cNvSpPr/>
          <p:nvPr/>
        </p:nvSpPr>
        <p:spPr>
          <a:xfrm>
            <a:off x="0" y="1142998"/>
            <a:ext cx="13712475" cy="8001000"/>
          </a:xfrm>
          <a:custGeom>
            <a:rect b="b" l="l" r="r" t="t"/>
            <a:pathLst>
              <a:path extrusionOk="0" h="10668000" w="18283301">
                <a:moveTo>
                  <a:pt x="0" y="0"/>
                </a:moveTo>
                <a:lnTo>
                  <a:pt x="18283301" y="0"/>
                </a:lnTo>
                <a:lnTo>
                  <a:pt x="18283301" y="10668000"/>
                </a:lnTo>
                <a:lnTo>
                  <a:pt x="0" y="10668000"/>
                </a:lnTo>
                <a:close/>
              </a:path>
            </a:pathLst>
          </a:custGeom>
          <a:solidFill>
            <a:srgbClr val="40BAD2"/>
          </a:solidFill>
          <a:ln>
            <a:noFill/>
          </a:ln>
        </p:spPr>
      </p:sp>
      <p:sp>
        <p:nvSpPr>
          <p:cNvPr id="579" name="Google Shape;579;p31"/>
          <p:cNvSpPr/>
          <p:nvPr/>
        </p:nvSpPr>
        <p:spPr>
          <a:xfrm>
            <a:off x="13905394" y="1142998"/>
            <a:ext cx="4387977" cy="8001000"/>
          </a:xfrm>
          <a:custGeom>
            <a:rect b="b" l="l" r="r" t="t"/>
            <a:pathLst>
              <a:path extrusionOk="0" h="10668000" w="5850636">
                <a:moveTo>
                  <a:pt x="0" y="0"/>
                </a:moveTo>
                <a:lnTo>
                  <a:pt x="5850636" y="0"/>
                </a:lnTo>
                <a:lnTo>
                  <a:pt x="5850636" y="10668000"/>
                </a:lnTo>
                <a:lnTo>
                  <a:pt x="0" y="10668000"/>
                </a:lnTo>
                <a:close/>
              </a:path>
            </a:pathLst>
          </a:custGeom>
          <a:solidFill>
            <a:srgbClr val="C8C8C8">
              <a:alpha val="24706"/>
            </a:srgbClr>
          </a:solidFill>
          <a:ln>
            <a:noFill/>
          </a:ln>
        </p:spPr>
      </p:sp>
      <p:sp>
        <p:nvSpPr>
          <p:cNvPr id="580" name="Google Shape;580;p31"/>
          <p:cNvSpPr/>
          <p:nvPr/>
        </p:nvSpPr>
        <p:spPr>
          <a:xfrm>
            <a:off x="0" y="0"/>
            <a:ext cx="18287999" cy="10287000"/>
          </a:xfrm>
          <a:custGeom>
            <a:rect b="b" l="l" r="r" t="t"/>
            <a:pathLst>
              <a:path extrusionOk="0" h="13716000" w="24384000">
                <a:moveTo>
                  <a:pt x="0" y="0"/>
                </a:moveTo>
                <a:lnTo>
                  <a:pt x="24384000" y="0"/>
                </a:lnTo>
                <a:lnTo>
                  <a:pt x="24384000" y="13716000"/>
                </a:lnTo>
                <a:lnTo>
                  <a:pt x="0" y="13716000"/>
                </a:lnTo>
                <a:close/>
              </a:path>
            </a:pathLst>
          </a:custGeom>
          <a:solidFill>
            <a:srgbClr val="FFFFFF"/>
          </a:solidFill>
          <a:ln>
            <a:noFill/>
          </a:ln>
        </p:spPr>
      </p:sp>
      <p:sp>
        <p:nvSpPr>
          <p:cNvPr id="581" name="Google Shape;581;p31"/>
          <p:cNvSpPr/>
          <p:nvPr/>
        </p:nvSpPr>
        <p:spPr>
          <a:xfrm>
            <a:off x="0" y="6551458"/>
            <a:ext cx="17561052" cy="2778252"/>
          </a:xfrm>
          <a:custGeom>
            <a:rect b="b" l="l" r="r" t="t"/>
            <a:pathLst>
              <a:path extrusionOk="0" h="3704336" w="23414737">
                <a:moveTo>
                  <a:pt x="0" y="0"/>
                </a:moveTo>
                <a:lnTo>
                  <a:pt x="23414737" y="0"/>
                </a:lnTo>
                <a:lnTo>
                  <a:pt x="23414737" y="3704336"/>
                </a:lnTo>
                <a:lnTo>
                  <a:pt x="0" y="3704336"/>
                </a:lnTo>
                <a:close/>
              </a:path>
            </a:pathLst>
          </a:custGeom>
          <a:solidFill>
            <a:srgbClr val="40BAD2"/>
          </a:solidFill>
          <a:ln>
            <a:noFill/>
          </a:ln>
        </p:spPr>
      </p:sp>
      <p:grpSp>
        <p:nvGrpSpPr>
          <p:cNvPr id="582" name="Google Shape;582;p31"/>
          <p:cNvGrpSpPr/>
          <p:nvPr/>
        </p:nvGrpSpPr>
        <p:grpSpPr>
          <a:xfrm>
            <a:off x="1604772" y="6885992"/>
            <a:ext cx="15316293" cy="1598535"/>
            <a:chOff x="0" y="0"/>
            <a:chExt cx="20421724" cy="2131380"/>
          </a:xfrm>
        </p:grpSpPr>
        <p:sp>
          <p:nvSpPr>
            <p:cNvPr id="583" name="Google Shape;583;p31"/>
            <p:cNvSpPr/>
            <p:nvPr/>
          </p:nvSpPr>
          <p:spPr>
            <a:xfrm>
              <a:off x="0" y="0"/>
              <a:ext cx="20421724" cy="2131380"/>
            </a:xfrm>
            <a:custGeom>
              <a:rect b="b" l="l" r="r" t="t"/>
              <a:pathLst>
                <a:path extrusionOk="0" h="2131380" w="20421724">
                  <a:moveTo>
                    <a:pt x="0" y="0"/>
                  </a:moveTo>
                  <a:lnTo>
                    <a:pt x="20421724" y="0"/>
                  </a:lnTo>
                  <a:lnTo>
                    <a:pt x="20421724" y="2131380"/>
                  </a:lnTo>
                  <a:lnTo>
                    <a:pt x="0" y="2131380"/>
                  </a:lnTo>
                  <a:close/>
                </a:path>
              </a:pathLst>
            </a:custGeom>
            <a:solidFill>
              <a:srgbClr val="000000">
                <a:alpha val="0"/>
              </a:srgbClr>
            </a:solidFill>
            <a:ln>
              <a:noFill/>
            </a:ln>
          </p:spPr>
        </p:sp>
        <p:sp>
          <p:nvSpPr>
            <p:cNvPr id="584" name="Google Shape;584;p31"/>
            <p:cNvSpPr txBox="1"/>
            <p:nvPr/>
          </p:nvSpPr>
          <p:spPr>
            <a:xfrm>
              <a:off x="0" y="104775"/>
              <a:ext cx="20421724" cy="2026605"/>
            </a:xfrm>
            <a:prstGeom prst="rect">
              <a:avLst/>
            </a:prstGeom>
            <a:noFill/>
            <a:ln>
              <a:noFill/>
            </a:ln>
          </p:spPr>
          <p:txBody>
            <a:bodyPr anchorCtr="0" anchor="b" bIns="0" lIns="0" spcFirstLastPara="1" rIns="0" wrap="square" tIns="0">
              <a:noAutofit/>
            </a:bodyPr>
            <a:lstStyle/>
            <a:p>
              <a:pPr indent="0" lvl="0" marL="0" marR="0" rtl="0" algn="l">
                <a:lnSpc>
                  <a:spcPct val="108000"/>
                </a:lnSpc>
                <a:spcBef>
                  <a:spcPts val="0"/>
                </a:spcBef>
                <a:spcAft>
                  <a:spcPts val="0"/>
                </a:spcAft>
                <a:buClr>
                  <a:srgbClr val="000000"/>
                </a:buClr>
                <a:buSzPts val="8850"/>
                <a:buFont typeface="Arial"/>
                <a:buNone/>
              </a:pPr>
              <a:r>
                <a:rPr b="0" i="0" lang="en-US" sz="8850" u="none" cap="none" strike="noStrike">
                  <a:solidFill>
                    <a:srgbClr val="FFFFFF"/>
                  </a:solidFill>
                  <a:latin typeface="PT Sans"/>
                  <a:ea typeface="PT Sans"/>
                  <a:cs typeface="PT Sans"/>
                  <a:sym typeface="PT Sans"/>
                </a:rPr>
                <a:t>Manejo de Archivos en JAVA</a:t>
              </a:r>
              <a:endParaRPr b="0" i="0" sz="1400" u="none" cap="none" strike="noStrike">
                <a:solidFill>
                  <a:srgbClr val="000000"/>
                </a:solidFill>
                <a:latin typeface="Arial"/>
                <a:ea typeface="Arial"/>
                <a:cs typeface="Arial"/>
                <a:sym typeface="Arial"/>
              </a:endParaRPr>
            </a:p>
          </p:txBody>
        </p:sp>
      </p:grpSp>
      <p:sp>
        <p:nvSpPr>
          <p:cNvPr id="585" name="Google Shape;585;p31"/>
          <p:cNvSpPr txBox="1"/>
          <p:nvPr/>
        </p:nvSpPr>
        <p:spPr>
          <a:xfrm>
            <a:off x="1741446" y="8583988"/>
            <a:ext cx="15088194" cy="68438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Clr>
                <a:srgbClr val="000000"/>
              </a:buClr>
              <a:buSzPts val="3300"/>
              <a:buFont typeface="Arial"/>
              <a:buNone/>
            </a:pPr>
            <a:r>
              <a:rPr b="0" i="0" lang="en-US" sz="3300" u="none" cap="none" strike="noStrike">
                <a:solidFill>
                  <a:srgbClr val="D7F0F6"/>
                </a:solidFill>
                <a:latin typeface="PT Sans"/>
                <a:ea typeface="PT Sans"/>
                <a:cs typeface="PT Sans"/>
                <a:sym typeface="PT Sans"/>
              </a:rPr>
              <a:t>¿Cómo crear archivos en JAVA?</a:t>
            </a:r>
            <a:endParaRPr b="0" i="0" sz="1400" u="none" cap="none" strike="noStrike">
              <a:solidFill>
                <a:srgbClr val="000000"/>
              </a:solidFill>
              <a:latin typeface="Arial"/>
              <a:ea typeface="Arial"/>
              <a:cs typeface="Arial"/>
              <a:sym typeface="Arial"/>
            </a:endParaRPr>
          </a:p>
        </p:txBody>
      </p:sp>
      <p:sp>
        <p:nvSpPr>
          <p:cNvPr descr="Gato parado en dos patas  Descripción generada automáticamente" id="586" name="Google Shape;586;p31"/>
          <p:cNvSpPr/>
          <p:nvPr/>
        </p:nvSpPr>
        <p:spPr>
          <a:xfrm>
            <a:off x="1604770" y="726948"/>
            <a:ext cx="15956279" cy="5335142"/>
          </a:xfrm>
          <a:custGeom>
            <a:rect b="b" l="l" r="r" t="t"/>
            <a:pathLst>
              <a:path extrusionOk="0" h="7113524" w="21275039">
                <a:moveTo>
                  <a:pt x="0" y="0"/>
                </a:moveTo>
                <a:lnTo>
                  <a:pt x="21275039" y="0"/>
                </a:lnTo>
                <a:lnTo>
                  <a:pt x="21275039" y="7113524"/>
                </a:lnTo>
                <a:lnTo>
                  <a:pt x="0" y="7113524"/>
                </a:lnTo>
                <a:lnTo>
                  <a:pt x="0" y="0"/>
                </a:lnTo>
                <a:close/>
              </a:path>
            </a:pathLst>
          </a:custGeom>
          <a:blipFill rotWithShape="1">
            <a:blip r:embed="rId3">
              <a:alphaModFix/>
            </a:blip>
            <a:stretch>
              <a:fillRect b="-62154" l="0" r="0" t="-62147"/>
            </a:stretch>
          </a:blipFill>
          <a:ln>
            <a:noFill/>
          </a:ln>
        </p:spPr>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p32"/>
          <p:cNvSpPr/>
          <p:nvPr/>
        </p:nvSpPr>
        <p:spPr>
          <a:xfrm>
            <a:off x="1" y="1138428"/>
            <a:ext cx="5165408" cy="7996428"/>
          </a:xfrm>
          <a:custGeom>
            <a:rect b="b" l="l" r="r" t="t"/>
            <a:pathLst>
              <a:path extrusionOk="0" h="10661904" w="6887210">
                <a:moveTo>
                  <a:pt x="0" y="0"/>
                </a:moveTo>
                <a:lnTo>
                  <a:pt x="6887210" y="0"/>
                </a:lnTo>
                <a:lnTo>
                  <a:pt x="6887210" y="10661904"/>
                </a:lnTo>
                <a:lnTo>
                  <a:pt x="0" y="10661904"/>
                </a:lnTo>
                <a:close/>
              </a:path>
            </a:pathLst>
          </a:custGeom>
          <a:solidFill>
            <a:srgbClr val="40BAD2"/>
          </a:solidFill>
          <a:ln>
            <a:noFill/>
          </a:ln>
        </p:spPr>
      </p:sp>
      <p:sp>
        <p:nvSpPr>
          <p:cNvPr id="592" name="Google Shape;592;p32"/>
          <p:cNvSpPr/>
          <p:nvPr/>
        </p:nvSpPr>
        <p:spPr>
          <a:xfrm>
            <a:off x="17723796" y="1138428"/>
            <a:ext cx="576072" cy="7996428"/>
          </a:xfrm>
          <a:custGeom>
            <a:rect b="b" l="l" r="r" t="t"/>
            <a:pathLst>
              <a:path extrusionOk="0" h="10661904" w="768096">
                <a:moveTo>
                  <a:pt x="0" y="0"/>
                </a:moveTo>
                <a:lnTo>
                  <a:pt x="768096" y="0"/>
                </a:lnTo>
                <a:lnTo>
                  <a:pt x="768096" y="10661904"/>
                </a:lnTo>
                <a:lnTo>
                  <a:pt x="0" y="10661904"/>
                </a:lnTo>
                <a:close/>
              </a:path>
            </a:pathLst>
          </a:custGeom>
          <a:solidFill>
            <a:srgbClr val="C8C8C8">
              <a:alpha val="24706"/>
            </a:srgbClr>
          </a:solidFill>
          <a:ln>
            <a:noFill/>
          </a:ln>
        </p:spPr>
      </p:sp>
      <p:sp>
        <p:nvSpPr>
          <p:cNvPr id="593" name="Google Shape;593;p32"/>
          <p:cNvSpPr/>
          <p:nvPr/>
        </p:nvSpPr>
        <p:spPr>
          <a:xfrm>
            <a:off x="0" y="0"/>
            <a:ext cx="18288000" cy="10287000"/>
          </a:xfrm>
          <a:custGeom>
            <a:rect b="b" l="l" r="r" t="t"/>
            <a:pathLst>
              <a:path extrusionOk="0" h="13716000" w="24384000">
                <a:moveTo>
                  <a:pt x="0" y="0"/>
                </a:moveTo>
                <a:lnTo>
                  <a:pt x="24384000" y="0"/>
                </a:lnTo>
                <a:lnTo>
                  <a:pt x="24384000" y="13716000"/>
                </a:lnTo>
                <a:lnTo>
                  <a:pt x="0" y="13716000"/>
                </a:lnTo>
                <a:close/>
              </a:path>
            </a:pathLst>
          </a:custGeom>
          <a:solidFill>
            <a:srgbClr val="FFFFFF"/>
          </a:solidFill>
          <a:ln>
            <a:noFill/>
          </a:ln>
        </p:spPr>
      </p:sp>
      <p:sp>
        <p:nvSpPr>
          <p:cNvPr id="594" name="Google Shape;594;p32"/>
          <p:cNvSpPr/>
          <p:nvPr/>
        </p:nvSpPr>
        <p:spPr>
          <a:xfrm>
            <a:off x="11775180" y="1135988"/>
            <a:ext cx="6512814" cy="7993952"/>
          </a:xfrm>
          <a:custGeom>
            <a:rect b="b" l="l" r="r" t="t"/>
            <a:pathLst>
              <a:path extrusionOk="0" h="10658602" w="8683752">
                <a:moveTo>
                  <a:pt x="0" y="0"/>
                </a:moveTo>
                <a:lnTo>
                  <a:pt x="8683752" y="0"/>
                </a:lnTo>
                <a:lnTo>
                  <a:pt x="8683752" y="10658602"/>
                </a:lnTo>
                <a:lnTo>
                  <a:pt x="0" y="10658602"/>
                </a:lnTo>
                <a:close/>
              </a:path>
            </a:pathLst>
          </a:custGeom>
          <a:solidFill>
            <a:srgbClr val="40BAD2"/>
          </a:solidFill>
          <a:ln>
            <a:noFill/>
          </a:ln>
        </p:spPr>
      </p:sp>
      <p:grpSp>
        <p:nvGrpSpPr>
          <p:cNvPr id="595" name="Google Shape;595;p32"/>
          <p:cNvGrpSpPr/>
          <p:nvPr/>
        </p:nvGrpSpPr>
        <p:grpSpPr>
          <a:xfrm>
            <a:off x="12242085" y="1619655"/>
            <a:ext cx="5482286" cy="2290866"/>
            <a:chOff x="0" y="0"/>
            <a:chExt cx="7309714" cy="3054488"/>
          </a:xfrm>
        </p:grpSpPr>
        <p:sp>
          <p:nvSpPr>
            <p:cNvPr id="596" name="Google Shape;596;p32"/>
            <p:cNvSpPr/>
            <p:nvPr/>
          </p:nvSpPr>
          <p:spPr>
            <a:xfrm>
              <a:off x="0" y="0"/>
              <a:ext cx="7309714" cy="3054488"/>
            </a:xfrm>
            <a:custGeom>
              <a:rect b="b" l="l" r="r" t="t"/>
              <a:pathLst>
                <a:path extrusionOk="0" h="3054488" w="7309714">
                  <a:moveTo>
                    <a:pt x="0" y="0"/>
                  </a:moveTo>
                  <a:lnTo>
                    <a:pt x="7309714" y="0"/>
                  </a:lnTo>
                  <a:lnTo>
                    <a:pt x="7309714" y="3054488"/>
                  </a:lnTo>
                  <a:lnTo>
                    <a:pt x="0" y="3054488"/>
                  </a:lnTo>
                  <a:close/>
                </a:path>
              </a:pathLst>
            </a:custGeom>
            <a:solidFill>
              <a:srgbClr val="000000">
                <a:alpha val="0"/>
              </a:srgbClr>
            </a:solidFill>
            <a:ln>
              <a:noFill/>
            </a:ln>
          </p:spPr>
        </p:sp>
        <p:sp>
          <p:nvSpPr>
            <p:cNvPr id="597" name="Google Shape;597;p32"/>
            <p:cNvSpPr txBox="1"/>
            <p:nvPr/>
          </p:nvSpPr>
          <p:spPr>
            <a:xfrm>
              <a:off x="0" y="57150"/>
              <a:ext cx="7309714" cy="2997338"/>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000000"/>
                </a:buClr>
                <a:buSzPts val="4800"/>
                <a:buFont typeface="Arial"/>
                <a:buNone/>
              </a:pPr>
              <a:r>
                <a:rPr b="0" i="0" lang="en-US" sz="4800" u="none" cap="none" strike="noStrike">
                  <a:solidFill>
                    <a:srgbClr val="FFFFFF"/>
                  </a:solidFill>
                  <a:latin typeface="PT Sans"/>
                  <a:ea typeface="PT Sans"/>
                  <a:cs typeface="PT Sans"/>
                  <a:sym typeface="PT Sans"/>
                </a:rPr>
                <a:t>Archivos en JAVA</a:t>
              </a:r>
              <a:endParaRPr b="0" i="0" sz="1400" u="none" cap="none" strike="noStrike">
                <a:solidFill>
                  <a:srgbClr val="000000"/>
                </a:solidFill>
                <a:latin typeface="Arial"/>
                <a:ea typeface="Arial"/>
                <a:cs typeface="Arial"/>
                <a:sym typeface="Arial"/>
              </a:endParaRPr>
            </a:p>
          </p:txBody>
        </p:sp>
      </p:grpSp>
      <p:sp>
        <p:nvSpPr>
          <p:cNvPr id="598" name="Google Shape;598;p32"/>
          <p:cNvSpPr/>
          <p:nvPr/>
        </p:nvSpPr>
        <p:spPr>
          <a:xfrm>
            <a:off x="0" y="1138428"/>
            <a:ext cx="576072" cy="7996428"/>
          </a:xfrm>
          <a:custGeom>
            <a:rect b="b" l="l" r="r" t="t"/>
            <a:pathLst>
              <a:path extrusionOk="0" h="10661904" w="768096">
                <a:moveTo>
                  <a:pt x="0" y="0"/>
                </a:moveTo>
                <a:lnTo>
                  <a:pt x="768096" y="0"/>
                </a:lnTo>
                <a:lnTo>
                  <a:pt x="768096" y="10661904"/>
                </a:lnTo>
                <a:lnTo>
                  <a:pt x="0" y="10661904"/>
                </a:lnTo>
                <a:close/>
              </a:path>
            </a:pathLst>
          </a:custGeom>
          <a:solidFill>
            <a:srgbClr val="C8C8C8">
              <a:alpha val="24706"/>
            </a:srgbClr>
          </a:solidFill>
          <a:ln>
            <a:noFill/>
          </a:ln>
        </p:spPr>
      </p:sp>
      <p:sp>
        <p:nvSpPr>
          <p:cNvPr descr="Gestión de archivos en Java" id="599" name="Google Shape;599;p32"/>
          <p:cNvSpPr/>
          <p:nvPr/>
        </p:nvSpPr>
        <p:spPr>
          <a:xfrm>
            <a:off x="2158732" y="1135988"/>
            <a:ext cx="8027575" cy="7993952"/>
          </a:xfrm>
          <a:custGeom>
            <a:rect b="b" l="l" r="r" t="t"/>
            <a:pathLst>
              <a:path extrusionOk="0" h="10658602" w="10703433">
                <a:moveTo>
                  <a:pt x="0" y="0"/>
                </a:moveTo>
                <a:lnTo>
                  <a:pt x="10703433" y="0"/>
                </a:lnTo>
                <a:lnTo>
                  <a:pt x="10703433" y="10658602"/>
                </a:lnTo>
                <a:lnTo>
                  <a:pt x="0" y="10658602"/>
                </a:lnTo>
                <a:lnTo>
                  <a:pt x="0" y="0"/>
                </a:lnTo>
                <a:close/>
              </a:path>
            </a:pathLst>
          </a:custGeom>
          <a:blipFill rotWithShape="1">
            <a:blip r:embed="rId3">
              <a:alphaModFix/>
            </a:blip>
            <a:stretch>
              <a:fillRect b="0" l="0" r="2" t="-419"/>
            </a:stretch>
          </a:blipFill>
          <a:ln>
            <a:noFill/>
          </a:ln>
        </p:spPr>
      </p:sp>
      <p:sp>
        <p:nvSpPr>
          <p:cNvPr id="600" name="Google Shape;600;p32"/>
          <p:cNvSpPr txBox="1"/>
          <p:nvPr/>
        </p:nvSpPr>
        <p:spPr>
          <a:xfrm>
            <a:off x="12333510" y="3975271"/>
            <a:ext cx="5299436" cy="4626404"/>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Clr>
                <a:srgbClr val="000000"/>
              </a:buClr>
              <a:buSzPts val="1800"/>
              <a:buFont typeface="Arial"/>
              <a:buNone/>
            </a:pPr>
            <a:r>
              <a:rPr b="0" i="0" lang="en-US" sz="1800" u="none" cap="none" strike="noStrike">
                <a:solidFill>
                  <a:srgbClr val="FFFFFF"/>
                </a:solidFill>
                <a:latin typeface="PT Sans"/>
                <a:ea typeface="PT Sans"/>
                <a:cs typeface="PT Sans"/>
                <a:sym typeface="PT Sans"/>
              </a:rPr>
              <a:t>En el lenguaje Java los flujos de datos se describen mediante clases que forman jerarquías según sea el tipo de dato char Unicode de 16 bits o byte de 8 bits. A su vez, las clases se agrupan en jerarquías según sea su función de lectura o de escritura. La característica de internacionalización del lenguaje Java es la razón por la que existe una jerarquía separada de clases para la lectura y escritura de caracteres. Todas estas clases se encuentran en el paquete java.io. Reader y Writer son las clases bases de la jerarquía para los flujos de caracteres. Para leer o escribir datos binarios tales como imágenes o sonidos, se emplea otra jerarquía de clases cuyas clases base son InputStream y OutputStream.</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p33"/>
          <p:cNvSpPr/>
          <p:nvPr/>
        </p:nvSpPr>
        <p:spPr>
          <a:xfrm>
            <a:off x="1" y="1138428"/>
            <a:ext cx="5165408" cy="7996428"/>
          </a:xfrm>
          <a:custGeom>
            <a:rect b="b" l="l" r="r" t="t"/>
            <a:pathLst>
              <a:path extrusionOk="0" h="10661904" w="6887210">
                <a:moveTo>
                  <a:pt x="0" y="0"/>
                </a:moveTo>
                <a:lnTo>
                  <a:pt x="6887210" y="0"/>
                </a:lnTo>
                <a:lnTo>
                  <a:pt x="6887210" y="10661904"/>
                </a:lnTo>
                <a:lnTo>
                  <a:pt x="0" y="10661904"/>
                </a:lnTo>
                <a:close/>
              </a:path>
            </a:pathLst>
          </a:custGeom>
          <a:solidFill>
            <a:srgbClr val="40BAD2"/>
          </a:solidFill>
          <a:ln>
            <a:noFill/>
          </a:ln>
        </p:spPr>
      </p:sp>
      <p:sp>
        <p:nvSpPr>
          <p:cNvPr id="606" name="Google Shape;606;p33"/>
          <p:cNvSpPr/>
          <p:nvPr/>
        </p:nvSpPr>
        <p:spPr>
          <a:xfrm>
            <a:off x="17723796" y="1138428"/>
            <a:ext cx="576072" cy="7996428"/>
          </a:xfrm>
          <a:custGeom>
            <a:rect b="b" l="l" r="r" t="t"/>
            <a:pathLst>
              <a:path extrusionOk="0" h="10661904" w="768096">
                <a:moveTo>
                  <a:pt x="0" y="0"/>
                </a:moveTo>
                <a:lnTo>
                  <a:pt x="768096" y="0"/>
                </a:lnTo>
                <a:lnTo>
                  <a:pt x="768096" y="10661904"/>
                </a:lnTo>
                <a:lnTo>
                  <a:pt x="0" y="10661904"/>
                </a:lnTo>
                <a:close/>
              </a:path>
            </a:pathLst>
          </a:custGeom>
          <a:solidFill>
            <a:srgbClr val="C8C8C8">
              <a:alpha val="24706"/>
            </a:srgbClr>
          </a:solidFill>
          <a:ln>
            <a:noFill/>
          </a:ln>
        </p:spPr>
      </p:sp>
      <p:sp>
        <p:nvSpPr>
          <p:cNvPr id="607" name="Google Shape;607;p33"/>
          <p:cNvSpPr/>
          <p:nvPr/>
        </p:nvSpPr>
        <p:spPr>
          <a:xfrm>
            <a:off x="5225727" y="3273938"/>
            <a:ext cx="5029200" cy="3998214"/>
          </a:xfrm>
          <a:custGeom>
            <a:rect b="b" l="l" r="r" t="t"/>
            <a:pathLst>
              <a:path extrusionOk="0" h="5330952" w="6705600">
                <a:moveTo>
                  <a:pt x="0" y="0"/>
                </a:moveTo>
                <a:lnTo>
                  <a:pt x="6705600" y="0"/>
                </a:lnTo>
                <a:lnTo>
                  <a:pt x="6705600" y="5330952"/>
                </a:lnTo>
                <a:lnTo>
                  <a:pt x="0" y="5330952"/>
                </a:lnTo>
                <a:lnTo>
                  <a:pt x="0" y="0"/>
                </a:lnTo>
                <a:close/>
              </a:path>
            </a:pathLst>
          </a:custGeom>
          <a:blipFill rotWithShape="1">
            <a:blip r:embed="rId3">
              <a:alphaModFix/>
            </a:blip>
            <a:stretch>
              <a:fillRect b="0" l="0" r="-10" t="0"/>
            </a:stretch>
          </a:blipFill>
          <a:ln>
            <a:noFill/>
          </a:ln>
        </p:spPr>
      </p:sp>
      <p:sp>
        <p:nvSpPr>
          <p:cNvPr id="608" name="Google Shape;608;p33"/>
          <p:cNvSpPr/>
          <p:nvPr/>
        </p:nvSpPr>
        <p:spPr>
          <a:xfrm>
            <a:off x="12203822" y="3223588"/>
            <a:ext cx="5029200" cy="4086225"/>
          </a:xfrm>
          <a:custGeom>
            <a:rect b="b" l="l" r="r" t="t"/>
            <a:pathLst>
              <a:path extrusionOk="0" h="5448300" w="6705600">
                <a:moveTo>
                  <a:pt x="0" y="0"/>
                </a:moveTo>
                <a:lnTo>
                  <a:pt x="6705600" y="0"/>
                </a:lnTo>
                <a:lnTo>
                  <a:pt x="6705600" y="5448300"/>
                </a:lnTo>
                <a:lnTo>
                  <a:pt x="0" y="5448300"/>
                </a:lnTo>
                <a:lnTo>
                  <a:pt x="0" y="0"/>
                </a:lnTo>
                <a:close/>
              </a:path>
            </a:pathLst>
          </a:custGeom>
          <a:blipFill rotWithShape="1">
            <a:blip r:embed="rId4">
              <a:alphaModFix/>
            </a:blip>
            <a:stretch>
              <a:fillRect b="0" l="0" r="0" t="0"/>
            </a:stretch>
          </a:blipFill>
          <a:ln>
            <a:noFill/>
          </a:ln>
        </p:spPr>
      </p:sp>
      <p:sp>
        <p:nvSpPr>
          <p:cNvPr id="609" name="Google Shape;609;p33"/>
          <p:cNvSpPr txBox="1"/>
          <p:nvPr/>
        </p:nvSpPr>
        <p:spPr>
          <a:xfrm>
            <a:off x="6890676" y="2621251"/>
            <a:ext cx="1699300" cy="46259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2700"/>
              <a:buFont typeface="Arial"/>
              <a:buNone/>
            </a:pPr>
            <a:r>
              <a:rPr b="0" i="0" lang="en-US" sz="2700" u="none" cap="none" strike="noStrike">
                <a:solidFill>
                  <a:srgbClr val="000000"/>
                </a:solidFill>
                <a:latin typeface="PT Sans"/>
                <a:ea typeface="PT Sans"/>
                <a:cs typeface="PT Sans"/>
                <a:sym typeface="PT Sans"/>
              </a:rPr>
              <a:t>Byte 8 bits</a:t>
            </a:r>
            <a:endParaRPr b="0" i="0" sz="1400" u="none" cap="none" strike="noStrike">
              <a:solidFill>
                <a:srgbClr val="000000"/>
              </a:solidFill>
              <a:latin typeface="Arial"/>
              <a:ea typeface="Arial"/>
              <a:cs typeface="Arial"/>
              <a:sym typeface="Arial"/>
            </a:endParaRPr>
          </a:p>
        </p:txBody>
      </p:sp>
      <p:sp>
        <p:nvSpPr>
          <p:cNvPr id="610" name="Google Shape;610;p33"/>
          <p:cNvSpPr txBox="1"/>
          <p:nvPr/>
        </p:nvSpPr>
        <p:spPr>
          <a:xfrm>
            <a:off x="13503623" y="2621251"/>
            <a:ext cx="2429597" cy="46259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2700"/>
              <a:buFont typeface="Arial"/>
              <a:buNone/>
            </a:pPr>
            <a:r>
              <a:rPr b="0" i="0" lang="en-US" sz="2700" u="none" cap="none" strike="noStrike">
                <a:solidFill>
                  <a:srgbClr val="000000"/>
                </a:solidFill>
                <a:latin typeface="PT Sans"/>
                <a:ea typeface="PT Sans"/>
                <a:cs typeface="PT Sans"/>
                <a:sym typeface="PT Sans"/>
              </a:rPr>
              <a:t>Unicode 16 bits</a:t>
            </a:r>
            <a:endParaRPr b="0" i="0" sz="1400" u="none" cap="none" strike="noStrike">
              <a:solidFill>
                <a:srgbClr val="000000"/>
              </a:solidFill>
              <a:latin typeface="Arial"/>
              <a:ea typeface="Arial"/>
              <a:cs typeface="Arial"/>
              <a:sym typeface="Arial"/>
            </a:endParaRPr>
          </a:p>
        </p:txBody>
      </p:sp>
      <p:grpSp>
        <p:nvGrpSpPr>
          <p:cNvPr id="611" name="Google Shape;611;p33"/>
          <p:cNvGrpSpPr/>
          <p:nvPr/>
        </p:nvGrpSpPr>
        <p:grpSpPr>
          <a:xfrm>
            <a:off x="379379" y="1685756"/>
            <a:ext cx="4421223" cy="6901775"/>
            <a:chOff x="0" y="0"/>
            <a:chExt cx="5894964" cy="9202366"/>
          </a:xfrm>
        </p:grpSpPr>
        <p:sp>
          <p:nvSpPr>
            <p:cNvPr id="612" name="Google Shape;612;p33"/>
            <p:cNvSpPr/>
            <p:nvPr/>
          </p:nvSpPr>
          <p:spPr>
            <a:xfrm>
              <a:off x="0" y="0"/>
              <a:ext cx="5894964" cy="9202366"/>
            </a:xfrm>
            <a:custGeom>
              <a:rect b="b" l="l" r="r" t="t"/>
              <a:pathLst>
                <a:path extrusionOk="0" h="9202366" w="5894964">
                  <a:moveTo>
                    <a:pt x="0" y="0"/>
                  </a:moveTo>
                  <a:lnTo>
                    <a:pt x="5894964" y="0"/>
                  </a:lnTo>
                  <a:lnTo>
                    <a:pt x="5894964" y="9202366"/>
                  </a:lnTo>
                  <a:lnTo>
                    <a:pt x="0" y="9202366"/>
                  </a:lnTo>
                  <a:close/>
                </a:path>
              </a:pathLst>
            </a:custGeom>
            <a:solidFill>
              <a:srgbClr val="000000">
                <a:alpha val="0"/>
              </a:srgbClr>
            </a:solidFill>
            <a:ln>
              <a:noFill/>
            </a:ln>
          </p:spPr>
        </p:sp>
        <p:sp>
          <p:nvSpPr>
            <p:cNvPr id="613" name="Google Shape;613;p33"/>
            <p:cNvSpPr txBox="1"/>
            <p:nvPr/>
          </p:nvSpPr>
          <p:spPr>
            <a:xfrm>
              <a:off x="0" y="47625"/>
              <a:ext cx="5894964" cy="9154741"/>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000000"/>
                </a:buClr>
                <a:buSzPts val="5400"/>
                <a:buFont typeface="Arial"/>
                <a:buNone/>
              </a:pPr>
              <a:r>
                <a:rPr b="0" i="0" lang="en-US" sz="5400" u="none" cap="none" strike="noStrike">
                  <a:solidFill>
                    <a:srgbClr val="FFFFFF"/>
                  </a:solidFill>
                  <a:latin typeface="PT Sans"/>
                  <a:ea typeface="PT Sans"/>
                  <a:cs typeface="PT Sans"/>
                  <a:sym typeface="PT Sans"/>
                </a:rPr>
                <a:t>Paquetes de Java para el manejo de archivos</a:t>
              </a:r>
              <a:endParaRPr b="0" i="0" sz="1400" u="none" cap="none" strike="noStrike">
                <a:solidFill>
                  <a:srgbClr val="000000"/>
                </a:solidFill>
                <a:latin typeface="Arial"/>
                <a:ea typeface="Arial"/>
                <a:cs typeface="Arial"/>
                <a:sym typeface="Arial"/>
              </a:endParaRPr>
            </a:p>
            <a:p>
              <a:pPr indent="0" lvl="0" marL="0" marR="0" rtl="0" algn="l">
                <a:lnSpc>
                  <a:spcPct val="108000"/>
                </a:lnSpc>
                <a:spcBef>
                  <a:spcPts val="0"/>
                </a:spcBef>
                <a:spcAft>
                  <a:spcPts val="0"/>
                </a:spcAft>
                <a:buClr>
                  <a:srgbClr val="000000"/>
                </a:buClr>
                <a:buSzPts val="5400"/>
                <a:buFont typeface="Arial"/>
                <a:buNone/>
              </a:pPr>
              <a:r>
                <a:t/>
              </a:r>
              <a:endParaRPr b="0" i="0" sz="5400" u="none" cap="none" strike="noStrike">
                <a:solidFill>
                  <a:srgbClr val="FFFFFF"/>
                </a:solidFill>
                <a:latin typeface="PT Sans"/>
                <a:ea typeface="PT Sans"/>
                <a:cs typeface="PT Sans"/>
                <a:sym typeface="PT Sans"/>
              </a:endParaRPr>
            </a:p>
          </p:txBody>
        </p:sp>
      </p:gr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34"/>
          <p:cNvSpPr/>
          <p:nvPr/>
        </p:nvSpPr>
        <p:spPr>
          <a:xfrm>
            <a:off x="1" y="1138428"/>
            <a:ext cx="5165408" cy="7996428"/>
          </a:xfrm>
          <a:custGeom>
            <a:rect b="b" l="l" r="r" t="t"/>
            <a:pathLst>
              <a:path extrusionOk="0" h="10661904" w="6887210">
                <a:moveTo>
                  <a:pt x="0" y="0"/>
                </a:moveTo>
                <a:lnTo>
                  <a:pt x="6887210" y="0"/>
                </a:lnTo>
                <a:lnTo>
                  <a:pt x="6887210" y="10661904"/>
                </a:lnTo>
                <a:lnTo>
                  <a:pt x="0" y="10661904"/>
                </a:lnTo>
                <a:close/>
              </a:path>
            </a:pathLst>
          </a:custGeom>
          <a:solidFill>
            <a:srgbClr val="40BAD2"/>
          </a:solidFill>
          <a:ln>
            <a:noFill/>
          </a:ln>
        </p:spPr>
      </p:sp>
      <p:sp>
        <p:nvSpPr>
          <p:cNvPr id="619" name="Google Shape;619;p34"/>
          <p:cNvSpPr/>
          <p:nvPr/>
        </p:nvSpPr>
        <p:spPr>
          <a:xfrm>
            <a:off x="17723796" y="1138428"/>
            <a:ext cx="576072" cy="7996428"/>
          </a:xfrm>
          <a:custGeom>
            <a:rect b="b" l="l" r="r" t="t"/>
            <a:pathLst>
              <a:path extrusionOk="0" h="10661904" w="768096">
                <a:moveTo>
                  <a:pt x="0" y="0"/>
                </a:moveTo>
                <a:lnTo>
                  <a:pt x="768096" y="0"/>
                </a:lnTo>
                <a:lnTo>
                  <a:pt x="768096" y="10661904"/>
                </a:lnTo>
                <a:lnTo>
                  <a:pt x="0" y="10661904"/>
                </a:lnTo>
                <a:close/>
              </a:path>
            </a:pathLst>
          </a:custGeom>
          <a:solidFill>
            <a:srgbClr val="C8C8C8">
              <a:alpha val="24706"/>
            </a:srgbClr>
          </a:solidFill>
          <a:ln>
            <a:noFill/>
          </a:ln>
        </p:spPr>
      </p:sp>
      <p:sp>
        <p:nvSpPr>
          <p:cNvPr id="620" name="Google Shape;620;p34"/>
          <p:cNvSpPr/>
          <p:nvPr/>
        </p:nvSpPr>
        <p:spPr>
          <a:xfrm>
            <a:off x="0" y="0"/>
            <a:ext cx="18288000" cy="10287000"/>
          </a:xfrm>
          <a:custGeom>
            <a:rect b="b" l="l" r="r" t="t"/>
            <a:pathLst>
              <a:path extrusionOk="0" h="13716000" w="24384000">
                <a:moveTo>
                  <a:pt x="0" y="0"/>
                </a:moveTo>
                <a:lnTo>
                  <a:pt x="24384000" y="0"/>
                </a:lnTo>
                <a:lnTo>
                  <a:pt x="24384000" y="13716000"/>
                </a:lnTo>
                <a:lnTo>
                  <a:pt x="0" y="13716000"/>
                </a:lnTo>
                <a:close/>
              </a:path>
            </a:pathLst>
          </a:custGeom>
          <a:solidFill>
            <a:srgbClr val="FFFFFF"/>
          </a:solidFill>
          <a:ln>
            <a:noFill/>
          </a:ln>
        </p:spPr>
      </p:sp>
      <p:sp>
        <p:nvSpPr>
          <p:cNvPr id="621" name="Google Shape;621;p34"/>
          <p:cNvSpPr/>
          <p:nvPr/>
        </p:nvSpPr>
        <p:spPr>
          <a:xfrm>
            <a:off x="11775180" y="1135988"/>
            <a:ext cx="6512814" cy="7993952"/>
          </a:xfrm>
          <a:custGeom>
            <a:rect b="b" l="l" r="r" t="t"/>
            <a:pathLst>
              <a:path extrusionOk="0" h="10658602" w="8683752">
                <a:moveTo>
                  <a:pt x="0" y="0"/>
                </a:moveTo>
                <a:lnTo>
                  <a:pt x="8683752" y="0"/>
                </a:lnTo>
                <a:lnTo>
                  <a:pt x="8683752" y="10658602"/>
                </a:lnTo>
                <a:lnTo>
                  <a:pt x="0" y="10658602"/>
                </a:lnTo>
                <a:close/>
              </a:path>
            </a:pathLst>
          </a:custGeom>
          <a:solidFill>
            <a:srgbClr val="40BAD2"/>
          </a:solidFill>
          <a:ln>
            <a:noFill/>
          </a:ln>
        </p:spPr>
      </p:sp>
      <p:grpSp>
        <p:nvGrpSpPr>
          <p:cNvPr id="622" name="Google Shape;622;p34"/>
          <p:cNvGrpSpPr/>
          <p:nvPr/>
        </p:nvGrpSpPr>
        <p:grpSpPr>
          <a:xfrm>
            <a:off x="12242085" y="1619655"/>
            <a:ext cx="5482286" cy="2290866"/>
            <a:chOff x="0" y="0"/>
            <a:chExt cx="7309714" cy="3054488"/>
          </a:xfrm>
        </p:grpSpPr>
        <p:sp>
          <p:nvSpPr>
            <p:cNvPr id="623" name="Google Shape;623;p34"/>
            <p:cNvSpPr/>
            <p:nvPr/>
          </p:nvSpPr>
          <p:spPr>
            <a:xfrm>
              <a:off x="0" y="0"/>
              <a:ext cx="7309714" cy="3054488"/>
            </a:xfrm>
            <a:custGeom>
              <a:rect b="b" l="l" r="r" t="t"/>
              <a:pathLst>
                <a:path extrusionOk="0" h="3054488" w="7309714">
                  <a:moveTo>
                    <a:pt x="0" y="0"/>
                  </a:moveTo>
                  <a:lnTo>
                    <a:pt x="7309714" y="0"/>
                  </a:lnTo>
                  <a:lnTo>
                    <a:pt x="7309714" y="3054488"/>
                  </a:lnTo>
                  <a:lnTo>
                    <a:pt x="0" y="3054488"/>
                  </a:lnTo>
                  <a:close/>
                </a:path>
              </a:pathLst>
            </a:custGeom>
            <a:solidFill>
              <a:srgbClr val="000000">
                <a:alpha val="0"/>
              </a:srgbClr>
            </a:solidFill>
            <a:ln>
              <a:noFill/>
            </a:ln>
          </p:spPr>
        </p:sp>
        <p:sp>
          <p:nvSpPr>
            <p:cNvPr id="624" name="Google Shape;624;p34"/>
            <p:cNvSpPr txBox="1"/>
            <p:nvPr/>
          </p:nvSpPr>
          <p:spPr>
            <a:xfrm>
              <a:off x="0" y="57150"/>
              <a:ext cx="7309714" cy="2997338"/>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000000"/>
                </a:buClr>
                <a:buSzPts val="4800"/>
                <a:buFont typeface="Arial"/>
                <a:buNone/>
              </a:pPr>
              <a:r>
                <a:rPr b="0" i="0" lang="en-US" sz="4800" u="none" cap="none" strike="noStrike">
                  <a:solidFill>
                    <a:srgbClr val="FFFFFF"/>
                  </a:solidFill>
                  <a:latin typeface="PT Sans"/>
                  <a:ea typeface="PT Sans"/>
                  <a:cs typeface="PT Sans"/>
                  <a:sym typeface="PT Sans"/>
                </a:rPr>
                <a:t>Tipos de Archivos en JAVA</a:t>
              </a:r>
              <a:endParaRPr b="0" i="0" sz="1400" u="none" cap="none" strike="noStrike">
                <a:solidFill>
                  <a:srgbClr val="000000"/>
                </a:solidFill>
                <a:latin typeface="Arial"/>
                <a:ea typeface="Arial"/>
                <a:cs typeface="Arial"/>
                <a:sym typeface="Arial"/>
              </a:endParaRPr>
            </a:p>
          </p:txBody>
        </p:sp>
      </p:grpSp>
      <p:sp>
        <p:nvSpPr>
          <p:cNvPr id="625" name="Google Shape;625;p34"/>
          <p:cNvSpPr/>
          <p:nvPr/>
        </p:nvSpPr>
        <p:spPr>
          <a:xfrm>
            <a:off x="0" y="1138428"/>
            <a:ext cx="576072" cy="7996428"/>
          </a:xfrm>
          <a:custGeom>
            <a:rect b="b" l="l" r="r" t="t"/>
            <a:pathLst>
              <a:path extrusionOk="0" h="10661904" w="768096">
                <a:moveTo>
                  <a:pt x="0" y="0"/>
                </a:moveTo>
                <a:lnTo>
                  <a:pt x="768096" y="0"/>
                </a:lnTo>
                <a:lnTo>
                  <a:pt x="768096" y="10661904"/>
                </a:lnTo>
                <a:lnTo>
                  <a:pt x="0" y="10661904"/>
                </a:lnTo>
                <a:close/>
              </a:path>
            </a:pathLst>
          </a:custGeom>
          <a:solidFill>
            <a:srgbClr val="C8C8C8">
              <a:alpha val="24706"/>
            </a:srgbClr>
          </a:solidFill>
          <a:ln>
            <a:noFill/>
          </a:ln>
        </p:spPr>
      </p:sp>
      <p:sp>
        <p:nvSpPr>
          <p:cNvPr descr="Open Folder" id="626" name="Google Shape;626;p34"/>
          <p:cNvSpPr/>
          <p:nvPr/>
        </p:nvSpPr>
        <p:spPr>
          <a:xfrm>
            <a:off x="2175508" y="1135988"/>
            <a:ext cx="7993952" cy="7993952"/>
          </a:xfrm>
          <a:custGeom>
            <a:rect b="b" l="l" r="r" t="t"/>
            <a:pathLst>
              <a:path extrusionOk="0" h="10658602" w="10658602">
                <a:moveTo>
                  <a:pt x="0" y="0"/>
                </a:moveTo>
                <a:lnTo>
                  <a:pt x="10658602" y="0"/>
                </a:lnTo>
                <a:lnTo>
                  <a:pt x="10658602" y="10658602"/>
                </a:lnTo>
                <a:lnTo>
                  <a:pt x="0" y="10658602"/>
                </a:lnTo>
                <a:lnTo>
                  <a:pt x="0" y="0"/>
                </a:lnTo>
                <a:close/>
              </a:path>
            </a:pathLst>
          </a:custGeom>
          <a:blipFill rotWithShape="1">
            <a:blip r:embed="rId3">
              <a:alphaModFix/>
            </a:blip>
            <a:stretch>
              <a:fillRect b="0" l="0" r="0" t="0"/>
            </a:stretch>
          </a:blipFill>
          <a:ln>
            <a:noFill/>
          </a:ln>
        </p:spPr>
      </p:sp>
      <p:sp>
        <p:nvSpPr>
          <p:cNvPr id="627" name="Google Shape;627;p34"/>
          <p:cNvSpPr txBox="1"/>
          <p:nvPr/>
        </p:nvSpPr>
        <p:spPr>
          <a:xfrm>
            <a:off x="12333510" y="3984796"/>
            <a:ext cx="5299436" cy="4616879"/>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Clr>
                <a:srgbClr val="000000"/>
              </a:buClr>
              <a:buSzPts val="2400"/>
              <a:buFont typeface="Arial"/>
              <a:buNone/>
            </a:pPr>
            <a:r>
              <a:rPr b="0" i="0" lang="en-US" sz="2400" u="none" cap="none" strike="noStrike">
                <a:solidFill>
                  <a:srgbClr val="FFFFFF"/>
                </a:solidFill>
                <a:latin typeface="PT Sans"/>
                <a:ea typeface="PT Sans"/>
                <a:cs typeface="PT Sans"/>
                <a:sym typeface="PT Sans"/>
              </a:rPr>
              <a:t>Java provee clases para escribir tanto archivos planos, como binarios. Además, la interfaz “Serializable” permite guardar instancias de objetos como archivos, para cargar la información de un objeto en la ejecución de un programa.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sp>
        <p:nvSpPr>
          <p:cNvPr id="632" name="Google Shape;632;p35"/>
          <p:cNvSpPr/>
          <p:nvPr/>
        </p:nvSpPr>
        <p:spPr>
          <a:xfrm>
            <a:off x="1" y="1138428"/>
            <a:ext cx="5165408" cy="7996428"/>
          </a:xfrm>
          <a:custGeom>
            <a:rect b="b" l="l" r="r" t="t"/>
            <a:pathLst>
              <a:path extrusionOk="0" h="10661904" w="6887210">
                <a:moveTo>
                  <a:pt x="0" y="0"/>
                </a:moveTo>
                <a:lnTo>
                  <a:pt x="6887210" y="0"/>
                </a:lnTo>
                <a:lnTo>
                  <a:pt x="6887210" y="10661904"/>
                </a:lnTo>
                <a:lnTo>
                  <a:pt x="0" y="10661904"/>
                </a:lnTo>
                <a:close/>
              </a:path>
            </a:pathLst>
          </a:custGeom>
          <a:solidFill>
            <a:srgbClr val="40BAD2"/>
          </a:solidFill>
          <a:ln>
            <a:noFill/>
          </a:ln>
        </p:spPr>
      </p:sp>
      <p:sp>
        <p:nvSpPr>
          <p:cNvPr id="633" name="Google Shape;633;p35"/>
          <p:cNvSpPr/>
          <p:nvPr/>
        </p:nvSpPr>
        <p:spPr>
          <a:xfrm>
            <a:off x="17723796" y="1138428"/>
            <a:ext cx="576072" cy="7996428"/>
          </a:xfrm>
          <a:custGeom>
            <a:rect b="b" l="l" r="r" t="t"/>
            <a:pathLst>
              <a:path extrusionOk="0" h="10661904" w="768096">
                <a:moveTo>
                  <a:pt x="0" y="0"/>
                </a:moveTo>
                <a:lnTo>
                  <a:pt x="768096" y="0"/>
                </a:lnTo>
                <a:lnTo>
                  <a:pt x="768096" y="10661904"/>
                </a:lnTo>
                <a:lnTo>
                  <a:pt x="0" y="10661904"/>
                </a:lnTo>
                <a:close/>
              </a:path>
            </a:pathLst>
          </a:custGeom>
          <a:solidFill>
            <a:srgbClr val="C8C8C8">
              <a:alpha val="24706"/>
            </a:srgbClr>
          </a:solidFill>
          <a:ln>
            <a:noFill/>
          </a:ln>
        </p:spPr>
      </p:sp>
      <p:sp>
        <p:nvSpPr>
          <p:cNvPr id="634" name="Google Shape;634;p35"/>
          <p:cNvSpPr/>
          <p:nvPr/>
        </p:nvSpPr>
        <p:spPr>
          <a:xfrm>
            <a:off x="0" y="1142998"/>
            <a:ext cx="13712475" cy="8001000"/>
          </a:xfrm>
          <a:custGeom>
            <a:rect b="b" l="l" r="r" t="t"/>
            <a:pathLst>
              <a:path extrusionOk="0" h="10668000" w="18283301">
                <a:moveTo>
                  <a:pt x="0" y="0"/>
                </a:moveTo>
                <a:lnTo>
                  <a:pt x="18283301" y="0"/>
                </a:lnTo>
                <a:lnTo>
                  <a:pt x="18283301" y="10668000"/>
                </a:lnTo>
                <a:lnTo>
                  <a:pt x="0" y="10668000"/>
                </a:lnTo>
                <a:close/>
              </a:path>
            </a:pathLst>
          </a:custGeom>
          <a:solidFill>
            <a:srgbClr val="40BAD2"/>
          </a:solidFill>
          <a:ln>
            <a:noFill/>
          </a:ln>
        </p:spPr>
      </p:sp>
      <p:sp>
        <p:nvSpPr>
          <p:cNvPr id="635" name="Google Shape;635;p35"/>
          <p:cNvSpPr/>
          <p:nvPr/>
        </p:nvSpPr>
        <p:spPr>
          <a:xfrm>
            <a:off x="13905394" y="1142998"/>
            <a:ext cx="4387977" cy="8001000"/>
          </a:xfrm>
          <a:custGeom>
            <a:rect b="b" l="l" r="r" t="t"/>
            <a:pathLst>
              <a:path extrusionOk="0" h="10668000" w="5850636">
                <a:moveTo>
                  <a:pt x="0" y="0"/>
                </a:moveTo>
                <a:lnTo>
                  <a:pt x="5850636" y="0"/>
                </a:lnTo>
                <a:lnTo>
                  <a:pt x="5850636" y="10668000"/>
                </a:lnTo>
                <a:lnTo>
                  <a:pt x="0" y="10668000"/>
                </a:lnTo>
                <a:close/>
              </a:path>
            </a:pathLst>
          </a:custGeom>
          <a:solidFill>
            <a:srgbClr val="C8C8C8">
              <a:alpha val="24706"/>
            </a:srgbClr>
          </a:solidFill>
          <a:ln>
            <a:noFill/>
          </a:ln>
        </p:spPr>
      </p:sp>
      <p:sp>
        <p:nvSpPr>
          <p:cNvPr id="636" name="Google Shape;636;p35"/>
          <p:cNvSpPr/>
          <p:nvPr/>
        </p:nvSpPr>
        <p:spPr>
          <a:xfrm>
            <a:off x="0" y="0"/>
            <a:ext cx="18287999" cy="10287000"/>
          </a:xfrm>
          <a:custGeom>
            <a:rect b="b" l="l" r="r" t="t"/>
            <a:pathLst>
              <a:path extrusionOk="0" h="13716000" w="24384000">
                <a:moveTo>
                  <a:pt x="0" y="0"/>
                </a:moveTo>
                <a:lnTo>
                  <a:pt x="24384000" y="0"/>
                </a:lnTo>
                <a:lnTo>
                  <a:pt x="24384000" y="13716000"/>
                </a:lnTo>
                <a:lnTo>
                  <a:pt x="0" y="13716000"/>
                </a:lnTo>
                <a:close/>
              </a:path>
            </a:pathLst>
          </a:custGeom>
          <a:solidFill>
            <a:srgbClr val="FFFFFF"/>
          </a:solidFill>
          <a:ln>
            <a:noFill/>
          </a:ln>
        </p:spPr>
      </p:sp>
      <p:sp>
        <p:nvSpPr>
          <p:cNvPr id="637" name="Google Shape;637;p35"/>
          <p:cNvSpPr/>
          <p:nvPr/>
        </p:nvSpPr>
        <p:spPr>
          <a:xfrm>
            <a:off x="0" y="6551458"/>
            <a:ext cx="17561052" cy="2778252"/>
          </a:xfrm>
          <a:custGeom>
            <a:rect b="b" l="l" r="r" t="t"/>
            <a:pathLst>
              <a:path extrusionOk="0" h="3704336" w="23414737">
                <a:moveTo>
                  <a:pt x="0" y="0"/>
                </a:moveTo>
                <a:lnTo>
                  <a:pt x="23414737" y="0"/>
                </a:lnTo>
                <a:lnTo>
                  <a:pt x="23414737" y="3704336"/>
                </a:lnTo>
                <a:lnTo>
                  <a:pt x="0" y="3704336"/>
                </a:lnTo>
                <a:close/>
              </a:path>
            </a:pathLst>
          </a:custGeom>
          <a:solidFill>
            <a:srgbClr val="40BAD2"/>
          </a:solidFill>
          <a:ln>
            <a:noFill/>
          </a:ln>
        </p:spPr>
      </p:sp>
      <p:grpSp>
        <p:nvGrpSpPr>
          <p:cNvPr id="638" name="Google Shape;638;p35"/>
          <p:cNvGrpSpPr/>
          <p:nvPr/>
        </p:nvGrpSpPr>
        <p:grpSpPr>
          <a:xfrm>
            <a:off x="1604772" y="6885992"/>
            <a:ext cx="15316293" cy="1598535"/>
            <a:chOff x="0" y="0"/>
            <a:chExt cx="20421724" cy="2131380"/>
          </a:xfrm>
        </p:grpSpPr>
        <p:sp>
          <p:nvSpPr>
            <p:cNvPr id="639" name="Google Shape;639;p35"/>
            <p:cNvSpPr/>
            <p:nvPr/>
          </p:nvSpPr>
          <p:spPr>
            <a:xfrm>
              <a:off x="0" y="0"/>
              <a:ext cx="20421724" cy="2131380"/>
            </a:xfrm>
            <a:custGeom>
              <a:rect b="b" l="l" r="r" t="t"/>
              <a:pathLst>
                <a:path extrusionOk="0" h="2131380" w="20421724">
                  <a:moveTo>
                    <a:pt x="0" y="0"/>
                  </a:moveTo>
                  <a:lnTo>
                    <a:pt x="20421724" y="0"/>
                  </a:lnTo>
                  <a:lnTo>
                    <a:pt x="20421724" y="2131380"/>
                  </a:lnTo>
                  <a:lnTo>
                    <a:pt x="0" y="2131380"/>
                  </a:lnTo>
                  <a:close/>
                </a:path>
              </a:pathLst>
            </a:custGeom>
            <a:solidFill>
              <a:srgbClr val="000000">
                <a:alpha val="0"/>
              </a:srgbClr>
            </a:solidFill>
            <a:ln>
              <a:noFill/>
            </a:ln>
          </p:spPr>
        </p:sp>
        <p:sp>
          <p:nvSpPr>
            <p:cNvPr id="640" name="Google Shape;640;p35"/>
            <p:cNvSpPr txBox="1"/>
            <p:nvPr/>
          </p:nvSpPr>
          <p:spPr>
            <a:xfrm>
              <a:off x="0" y="104775"/>
              <a:ext cx="20421724" cy="2026605"/>
            </a:xfrm>
            <a:prstGeom prst="rect">
              <a:avLst/>
            </a:prstGeom>
            <a:noFill/>
            <a:ln>
              <a:noFill/>
            </a:ln>
          </p:spPr>
          <p:txBody>
            <a:bodyPr anchorCtr="0" anchor="b" bIns="0" lIns="0" spcFirstLastPara="1" rIns="0" wrap="square" tIns="0">
              <a:noAutofit/>
            </a:bodyPr>
            <a:lstStyle/>
            <a:p>
              <a:pPr indent="0" lvl="0" marL="0" marR="0" rtl="0" algn="l">
                <a:lnSpc>
                  <a:spcPct val="108000"/>
                </a:lnSpc>
                <a:spcBef>
                  <a:spcPts val="0"/>
                </a:spcBef>
                <a:spcAft>
                  <a:spcPts val="0"/>
                </a:spcAft>
                <a:buClr>
                  <a:srgbClr val="000000"/>
                </a:buClr>
                <a:buSzPts val="8850"/>
                <a:buFont typeface="Arial"/>
                <a:buNone/>
              </a:pPr>
              <a:r>
                <a:rPr b="0" i="0" lang="en-US" sz="8850" u="none" cap="none" strike="noStrike">
                  <a:solidFill>
                    <a:srgbClr val="FFFFFF"/>
                  </a:solidFill>
                  <a:latin typeface="PT Sans"/>
                  <a:ea typeface="PT Sans"/>
                  <a:cs typeface="PT Sans"/>
                  <a:sym typeface="PT Sans"/>
                </a:rPr>
                <a:t>Creación de Archivos</a:t>
              </a:r>
              <a:endParaRPr b="0" i="0" sz="1400" u="none" cap="none" strike="noStrike">
                <a:solidFill>
                  <a:srgbClr val="000000"/>
                </a:solidFill>
                <a:latin typeface="Arial"/>
                <a:ea typeface="Arial"/>
                <a:cs typeface="Arial"/>
                <a:sym typeface="Arial"/>
              </a:endParaRPr>
            </a:p>
          </p:txBody>
        </p:sp>
      </p:grpSp>
      <p:sp>
        <p:nvSpPr>
          <p:cNvPr id="641" name="Google Shape;641;p35"/>
          <p:cNvSpPr txBox="1"/>
          <p:nvPr/>
        </p:nvSpPr>
        <p:spPr>
          <a:xfrm>
            <a:off x="1741446" y="8583988"/>
            <a:ext cx="15088194" cy="68438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Clr>
                <a:srgbClr val="000000"/>
              </a:buClr>
              <a:buSzPts val="3300"/>
              <a:buFont typeface="Arial"/>
              <a:buNone/>
            </a:pPr>
            <a:r>
              <a:rPr b="0" i="0" lang="en-US" sz="3300" u="none" cap="none" strike="noStrike">
                <a:solidFill>
                  <a:srgbClr val="D7F0F6"/>
                </a:solidFill>
                <a:latin typeface="PT Sans"/>
                <a:ea typeface="PT Sans"/>
                <a:cs typeface="PT Sans"/>
                <a:sym typeface="PT Sans"/>
              </a:rPr>
              <a:t>Se utiliza la clase file o files para la creación de archivos.</a:t>
            </a:r>
            <a:endParaRPr b="0" i="0" sz="1400" u="none" cap="none" strike="noStrike">
              <a:solidFill>
                <a:srgbClr val="000000"/>
              </a:solidFill>
              <a:latin typeface="Arial"/>
              <a:ea typeface="Arial"/>
              <a:cs typeface="Arial"/>
              <a:sym typeface="Arial"/>
            </a:endParaRPr>
          </a:p>
        </p:txBody>
      </p:sp>
      <p:sp>
        <p:nvSpPr>
          <p:cNvPr id="642" name="Google Shape;642;p35"/>
          <p:cNvSpPr/>
          <p:nvPr/>
        </p:nvSpPr>
        <p:spPr>
          <a:xfrm>
            <a:off x="5003398" y="726948"/>
            <a:ext cx="9159050" cy="5335142"/>
          </a:xfrm>
          <a:custGeom>
            <a:rect b="b" l="l" r="r" t="t"/>
            <a:pathLst>
              <a:path extrusionOk="0" h="7113524" w="12212066">
                <a:moveTo>
                  <a:pt x="0" y="0"/>
                </a:moveTo>
                <a:lnTo>
                  <a:pt x="12212066" y="0"/>
                </a:lnTo>
                <a:lnTo>
                  <a:pt x="12212066" y="7113524"/>
                </a:lnTo>
                <a:lnTo>
                  <a:pt x="0" y="7113524"/>
                </a:lnTo>
                <a:lnTo>
                  <a:pt x="0" y="0"/>
                </a:lnTo>
                <a:close/>
              </a:path>
            </a:pathLst>
          </a:custGeom>
          <a:blipFill rotWithShape="1">
            <a:blip r:embed="rId3">
              <a:alphaModFix/>
            </a:blip>
            <a:stretch>
              <a:fillRect b="0" l="0" r="-120" t="0"/>
            </a:stretch>
          </a:blipFill>
          <a:ln>
            <a:noFill/>
          </a:ln>
        </p:spPr>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sp>
        <p:nvSpPr>
          <p:cNvPr id="647" name="Google Shape;647;p36"/>
          <p:cNvSpPr/>
          <p:nvPr/>
        </p:nvSpPr>
        <p:spPr>
          <a:xfrm>
            <a:off x="1" y="1138428"/>
            <a:ext cx="5165408" cy="7996428"/>
          </a:xfrm>
          <a:custGeom>
            <a:rect b="b" l="l" r="r" t="t"/>
            <a:pathLst>
              <a:path extrusionOk="0" h="10661904" w="6887210">
                <a:moveTo>
                  <a:pt x="0" y="0"/>
                </a:moveTo>
                <a:lnTo>
                  <a:pt x="6887210" y="0"/>
                </a:lnTo>
                <a:lnTo>
                  <a:pt x="6887210" y="10661904"/>
                </a:lnTo>
                <a:lnTo>
                  <a:pt x="0" y="10661904"/>
                </a:lnTo>
                <a:close/>
              </a:path>
            </a:pathLst>
          </a:custGeom>
          <a:solidFill>
            <a:srgbClr val="40BAD2"/>
          </a:solidFill>
          <a:ln>
            <a:noFill/>
          </a:ln>
        </p:spPr>
      </p:sp>
      <p:sp>
        <p:nvSpPr>
          <p:cNvPr id="648" name="Google Shape;648;p36"/>
          <p:cNvSpPr/>
          <p:nvPr/>
        </p:nvSpPr>
        <p:spPr>
          <a:xfrm>
            <a:off x="17723796" y="1138428"/>
            <a:ext cx="576072" cy="7996428"/>
          </a:xfrm>
          <a:custGeom>
            <a:rect b="b" l="l" r="r" t="t"/>
            <a:pathLst>
              <a:path extrusionOk="0" h="10661904" w="768096">
                <a:moveTo>
                  <a:pt x="0" y="0"/>
                </a:moveTo>
                <a:lnTo>
                  <a:pt x="768096" y="0"/>
                </a:lnTo>
                <a:lnTo>
                  <a:pt x="768096" y="10661904"/>
                </a:lnTo>
                <a:lnTo>
                  <a:pt x="0" y="10661904"/>
                </a:lnTo>
                <a:close/>
              </a:path>
            </a:pathLst>
          </a:custGeom>
          <a:solidFill>
            <a:srgbClr val="C8C8C8">
              <a:alpha val="24706"/>
            </a:srgbClr>
          </a:solidFill>
          <a:ln>
            <a:noFill/>
          </a:ln>
        </p:spPr>
      </p:sp>
      <p:sp>
        <p:nvSpPr>
          <p:cNvPr id="649" name="Google Shape;649;p36"/>
          <p:cNvSpPr/>
          <p:nvPr/>
        </p:nvSpPr>
        <p:spPr>
          <a:xfrm>
            <a:off x="0" y="1142998"/>
            <a:ext cx="13712475" cy="8001000"/>
          </a:xfrm>
          <a:custGeom>
            <a:rect b="b" l="l" r="r" t="t"/>
            <a:pathLst>
              <a:path extrusionOk="0" h="10668000" w="18283301">
                <a:moveTo>
                  <a:pt x="0" y="0"/>
                </a:moveTo>
                <a:lnTo>
                  <a:pt x="18283301" y="0"/>
                </a:lnTo>
                <a:lnTo>
                  <a:pt x="18283301" y="10668000"/>
                </a:lnTo>
                <a:lnTo>
                  <a:pt x="0" y="10668000"/>
                </a:lnTo>
                <a:close/>
              </a:path>
            </a:pathLst>
          </a:custGeom>
          <a:solidFill>
            <a:srgbClr val="40BAD2"/>
          </a:solidFill>
          <a:ln>
            <a:noFill/>
          </a:ln>
        </p:spPr>
      </p:sp>
      <p:sp>
        <p:nvSpPr>
          <p:cNvPr id="650" name="Google Shape;650;p36"/>
          <p:cNvSpPr/>
          <p:nvPr/>
        </p:nvSpPr>
        <p:spPr>
          <a:xfrm>
            <a:off x="13905394" y="1142998"/>
            <a:ext cx="4387977" cy="8001000"/>
          </a:xfrm>
          <a:custGeom>
            <a:rect b="b" l="l" r="r" t="t"/>
            <a:pathLst>
              <a:path extrusionOk="0" h="10668000" w="5850636">
                <a:moveTo>
                  <a:pt x="0" y="0"/>
                </a:moveTo>
                <a:lnTo>
                  <a:pt x="5850636" y="0"/>
                </a:lnTo>
                <a:lnTo>
                  <a:pt x="5850636" y="10668000"/>
                </a:lnTo>
                <a:lnTo>
                  <a:pt x="0" y="10668000"/>
                </a:lnTo>
                <a:close/>
              </a:path>
            </a:pathLst>
          </a:custGeom>
          <a:solidFill>
            <a:srgbClr val="C8C8C8">
              <a:alpha val="24706"/>
            </a:srgbClr>
          </a:solidFill>
          <a:ln>
            <a:noFill/>
          </a:ln>
        </p:spPr>
      </p:sp>
      <p:sp>
        <p:nvSpPr>
          <p:cNvPr id="651" name="Google Shape;651;p36"/>
          <p:cNvSpPr/>
          <p:nvPr/>
        </p:nvSpPr>
        <p:spPr>
          <a:xfrm>
            <a:off x="0" y="0"/>
            <a:ext cx="18287999" cy="10287000"/>
          </a:xfrm>
          <a:custGeom>
            <a:rect b="b" l="l" r="r" t="t"/>
            <a:pathLst>
              <a:path extrusionOk="0" h="13716000" w="24384000">
                <a:moveTo>
                  <a:pt x="0" y="0"/>
                </a:moveTo>
                <a:lnTo>
                  <a:pt x="24384000" y="0"/>
                </a:lnTo>
                <a:lnTo>
                  <a:pt x="24384000" y="13716000"/>
                </a:lnTo>
                <a:lnTo>
                  <a:pt x="0" y="13716000"/>
                </a:lnTo>
                <a:close/>
              </a:path>
            </a:pathLst>
          </a:custGeom>
          <a:solidFill>
            <a:srgbClr val="FFFFFF"/>
          </a:solidFill>
          <a:ln>
            <a:noFill/>
          </a:ln>
        </p:spPr>
      </p:sp>
      <p:sp>
        <p:nvSpPr>
          <p:cNvPr id="652" name="Google Shape;652;p36"/>
          <p:cNvSpPr/>
          <p:nvPr/>
        </p:nvSpPr>
        <p:spPr>
          <a:xfrm>
            <a:off x="0" y="6551458"/>
            <a:ext cx="17561052" cy="2778252"/>
          </a:xfrm>
          <a:custGeom>
            <a:rect b="b" l="l" r="r" t="t"/>
            <a:pathLst>
              <a:path extrusionOk="0" h="3704336" w="23414737">
                <a:moveTo>
                  <a:pt x="0" y="0"/>
                </a:moveTo>
                <a:lnTo>
                  <a:pt x="23414737" y="0"/>
                </a:lnTo>
                <a:lnTo>
                  <a:pt x="23414737" y="3704336"/>
                </a:lnTo>
                <a:lnTo>
                  <a:pt x="0" y="3704336"/>
                </a:lnTo>
                <a:close/>
              </a:path>
            </a:pathLst>
          </a:custGeom>
          <a:solidFill>
            <a:srgbClr val="40BAD2"/>
          </a:solidFill>
          <a:ln>
            <a:noFill/>
          </a:ln>
        </p:spPr>
      </p:sp>
      <p:grpSp>
        <p:nvGrpSpPr>
          <p:cNvPr id="653" name="Google Shape;653;p36"/>
          <p:cNvGrpSpPr/>
          <p:nvPr/>
        </p:nvGrpSpPr>
        <p:grpSpPr>
          <a:xfrm>
            <a:off x="1604772" y="6885992"/>
            <a:ext cx="15316293" cy="1598535"/>
            <a:chOff x="0" y="0"/>
            <a:chExt cx="20421724" cy="2131380"/>
          </a:xfrm>
        </p:grpSpPr>
        <p:sp>
          <p:nvSpPr>
            <p:cNvPr id="654" name="Google Shape;654;p36"/>
            <p:cNvSpPr/>
            <p:nvPr/>
          </p:nvSpPr>
          <p:spPr>
            <a:xfrm>
              <a:off x="0" y="0"/>
              <a:ext cx="20421724" cy="2131380"/>
            </a:xfrm>
            <a:custGeom>
              <a:rect b="b" l="l" r="r" t="t"/>
              <a:pathLst>
                <a:path extrusionOk="0" h="2131380" w="20421724">
                  <a:moveTo>
                    <a:pt x="0" y="0"/>
                  </a:moveTo>
                  <a:lnTo>
                    <a:pt x="20421724" y="0"/>
                  </a:lnTo>
                  <a:lnTo>
                    <a:pt x="20421724" y="2131380"/>
                  </a:lnTo>
                  <a:lnTo>
                    <a:pt x="0" y="2131380"/>
                  </a:lnTo>
                  <a:close/>
                </a:path>
              </a:pathLst>
            </a:custGeom>
            <a:solidFill>
              <a:srgbClr val="000000">
                <a:alpha val="0"/>
              </a:srgbClr>
            </a:solidFill>
            <a:ln>
              <a:noFill/>
            </a:ln>
          </p:spPr>
        </p:sp>
        <p:sp>
          <p:nvSpPr>
            <p:cNvPr id="655" name="Google Shape;655;p36"/>
            <p:cNvSpPr txBox="1"/>
            <p:nvPr/>
          </p:nvSpPr>
          <p:spPr>
            <a:xfrm>
              <a:off x="0" y="104775"/>
              <a:ext cx="20421724" cy="2026605"/>
            </a:xfrm>
            <a:prstGeom prst="rect">
              <a:avLst/>
            </a:prstGeom>
            <a:noFill/>
            <a:ln>
              <a:noFill/>
            </a:ln>
          </p:spPr>
          <p:txBody>
            <a:bodyPr anchorCtr="0" anchor="b" bIns="0" lIns="0" spcFirstLastPara="1" rIns="0" wrap="square" tIns="0">
              <a:noAutofit/>
            </a:bodyPr>
            <a:lstStyle/>
            <a:p>
              <a:pPr indent="0" lvl="0" marL="0" marR="0" rtl="0" algn="l">
                <a:lnSpc>
                  <a:spcPct val="108000"/>
                </a:lnSpc>
                <a:spcBef>
                  <a:spcPts val="0"/>
                </a:spcBef>
                <a:spcAft>
                  <a:spcPts val="0"/>
                </a:spcAft>
                <a:buClr>
                  <a:srgbClr val="000000"/>
                </a:buClr>
                <a:buSzPts val="8850"/>
                <a:buFont typeface="Arial"/>
                <a:buNone/>
              </a:pPr>
              <a:r>
                <a:rPr b="0" i="0" lang="en-US" sz="8850" u="none" cap="none" strike="noStrike">
                  <a:solidFill>
                    <a:srgbClr val="FFFFFF"/>
                  </a:solidFill>
                  <a:latin typeface="PT Sans"/>
                  <a:ea typeface="PT Sans"/>
                  <a:cs typeface="PT Sans"/>
                  <a:sym typeface="PT Sans"/>
                </a:rPr>
                <a:t>Lectura de Archivos</a:t>
              </a:r>
              <a:endParaRPr b="0" i="0" sz="1400" u="none" cap="none" strike="noStrike">
                <a:solidFill>
                  <a:srgbClr val="000000"/>
                </a:solidFill>
                <a:latin typeface="Arial"/>
                <a:ea typeface="Arial"/>
                <a:cs typeface="Arial"/>
                <a:sym typeface="Arial"/>
              </a:endParaRPr>
            </a:p>
          </p:txBody>
        </p:sp>
      </p:grpSp>
      <p:sp>
        <p:nvSpPr>
          <p:cNvPr id="656" name="Google Shape;656;p36"/>
          <p:cNvSpPr txBox="1"/>
          <p:nvPr/>
        </p:nvSpPr>
        <p:spPr>
          <a:xfrm>
            <a:off x="1741446" y="8583988"/>
            <a:ext cx="15088194" cy="68438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Clr>
                <a:srgbClr val="000000"/>
              </a:buClr>
              <a:buSzPts val="3300"/>
              <a:buFont typeface="Arial"/>
              <a:buNone/>
            </a:pPr>
            <a:r>
              <a:rPr b="0" i="0" lang="en-US" sz="3300" u="none" cap="none" strike="noStrike">
                <a:solidFill>
                  <a:srgbClr val="D7F0F6"/>
                </a:solidFill>
                <a:latin typeface="PT Sans"/>
                <a:ea typeface="PT Sans"/>
                <a:cs typeface="PT Sans"/>
                <a:sym typeface="PT Sans"/>
              </a:rPr>
              <a:t>Para leer un archivos se utiliza BufferedReader o Files.readAllLines.</a:t>
            </a:r>
            <a:endParaRPr b="0" i="0" sz="1400" u="none" cap="none" strike="noStrike">
              <a:solidFill>
                <a:srgbClr val="000000"/>
              </a:solidFill>
              <a:latin typeface="Arial"/>
              <a:ea typeface="Arial"/>
              <a:cs typeface="Arial"/>
              <a:sym typeface="Arial"/>
            </a:endParaRPr>
          </a:p>
        </p:txBody>
      </p:sp>
      <p:sp>
        <p:nvSpPr>
          <p:cNvPr id="657" name="Google Shape;657;p36"/>
          <p:cNvSpPr/>
          <p:nvPr/>
        </p:nvSpPr>
        <p:spPr>
          <a:xfrm>
            <a:off x="4300602" y="726948"/>
            <a:ext cx="10564654" cy="5335142"/>
          </a:xfrm>
          <a:custGeom>
            <a:rect b="b" l="l" r="r" t="t"/>
            <a:pathLst>
              <a:path extrusionOk="0" h="7113524" w="14086205">
                <a:moveTo>
                  <a:pt x="0" y="0"/>
                </a:moveTo>
                <a:lnTo>
                  <a:pt x="14086205" y="0"/>
                </a:lnTo>
                <a:lnTo>
                  <a:pt x="14086205" y="7113524"/>
                </a:lnTo>
                <a:lnTo>
                  <a:pt x="0" y="7113524"/>
                </a:lnTo>
                <a:lnTo>
                  <a:pt x="0" y="0"/>
                </a:lnTo>
                <a:close/>
              </a:path>
            </a:pathLst>
          </a:custGeom>
          <a:blipFill rotWithShape="1">
            <a:blip r:embed="rId3">
              <a:alphaModFix/>
            </a:blip>
            <a:stretch>
              <a:fillRect b="0" l="0" r="-147" t="0"/>
            </a:stretch>
          </a:blipFill>
          <a:ln>
            <a:noFill/>
          </a:ln>
        </p:spPr>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1" name="Shape 661"/>
        <p:cNvGrpSpPr/>
        <p:nvPr/>
      </p:nvGrpSpPr>
      <p:grpSpPr>
        <a:xfrm>
          <a:off x="0" y="0"/>
          <a:ext cx="0" cy="0"/>
          <a:chOff x="0" y="0"/>
          <a:chExt cx="0" cy="0"/>
        </a:xfrm>
      </p:grpSpPr>
      <p:sp>
        <p:nvSpPr>
          <p:cNvPr id="662" name="Google Shape;662;p37"/>
          <p:cNvSpPr/>
          <p:nvPr/>
        </p:nvSpPr>
        <p:spPr>
          <a:xfrm>
            <a:off x="1" y="1138428"/>
            <a:ext cx="5165408" cy="7996428"/>
          </a:xfrm>
          <a:custGeom>
            <a:rect b="b" l="l" r="r" t="t"/>
            <a:pathLst>
              <a:path extrusionOk="0" h="10661904" w="6887210">
                <a:moveTo>
                  <a:pt x="0" y="0"/>
                </a:moveTo>
                <a:lnTo>
                  <a:pt x="6887210" y="0"/>
                </a:lnTo>
                <a:lnTo>
                  <a:pt x="6887210" y="10661904"/>
                </a:lnTo>
                <a:lnTo>
                  <a:pt x="0" y="10661904"/>
                </a:lnTo>
                <a:close/>
              </a:path>
            </a:pathLst>
          </a:custGeom>
          <a:solidFill>
            <a:srgbClr val="40BAD2"/>
          </a:solidFill>
          <a:ln>
            <a:noFill/>
          </a:ln>
        </p:spPr>
      </p:sp>
      <p:sp>
        <p:nvSpPr>
          <p:cNvPr id="663" name="Google Shape;663;p37"/>
          <p:cNvSpPr/>
          <p:nvPr/>
        </p:nvSpPr>
        <p:spPr>
          <a:xfrm>
            <a:off x="17723796" y="1138428"/>
            <a:ext cx="576072" cy="7996428"/>
          </a:xfrm>
          <a:custGeom>
            <a:rect b="b" l="l" r="r" t="t"/>
            <a:pathLst>
              <a:path extrusionOk="0" h="10661904" w="768096">
                <a:moveTo>
                  <a:pt x="0" y="0"/>
                </a:moveTo>
                <a:lnTo>
                  <a:pt x="768096" y="0"/>
                </a:lnTo>
                <a:lnTo>
                  <a:pt x="768096" y="10661904"/>
                </a:lnTo>
                <a:lnTo>
                  <a:pt x="0" y="10661904"/>
                </a:lnTo>
                <a:close/>
              </a:path>
            </a:pathLst>
          </a:custGeom>
          <a:solidFill>
            <a:srgbClr val="C8C8C8">
              <a:alpha val="24706"/>
            </a:srgbClr>
          </a:solidFill>
          <a:ln>
            <a:noFill/>
          </a:ln>
        </p:spPr>
      </p:sp>
      <p:sp>
        <p:nvSpPr>
          <p:cNvPr id="664" name="Google Shape;664;p37"/>
          <p:cNvSpPr/>
          <p:nvPr/>
        </p:nvSpPr>
        <p:spPr>
          <a:xfrm>
            <a:off x="0" y="1142998"/>
            <a:ext cx="13712475" cy="8001000"/>
          </a:xfrm>
          <a:custGeom>
            <a:rect b="b" l="l" r="r" t="t"/>
            <a:pathLst>
              <a:path extrusionOk="0" h="10668000" w="18283301">
                <a:moveTo>
                  <a:pt x="0" y="0"/>
                </a:moveTo>
                <a:lnTo>
                  <a:pt x="18283301" y="0"/>
                </a:lnTo>
                <a:lnTo>
                  <a:pt x="18283301" y="10668000"/>
                </a:lnTo>
                <a:lnTo>
                  <a:pt x="0" y="10668000"/>
                </a:lnTo>
                <a:close/>
              </a:path>
            </a:pathLst>
          </a:custGeom>
          <a:solidFill>
            <a:srgbClr val="40BAD2"/>
          </a:solidFill>
          <a:ln>
            <a:noFill/>
          </a:ln>
        </p:spPr>
      </p:sp>
      <p:sp>
        <p:nvSpPr>
          <p:cNvPr id="665" name="Google Shape;665;p37"/>
          <p:cNvSpPr/>
          <p:nvPr/>
        </p:nvSpPr>
        <p:spPr>
          <a:xfrm>
            <a:off x="13905394" y="1142998"/>
            <a:ext cx="4387977" cy="8001000"/>
          </a:xfrm>
          <a:custGeom>
            <a:rect b="b" l="l" r="r" t="t"/>
            <a:pathLst>
              <a:path extrusionOk="0" h="10668000" w="5850636">
                <a:moveTo>
                  <a:pt x="0" y="0"/>
                </a:moveTo>
                <a:lnTo>
                  <a:pt x="5850636" y="0"/>
                </a:lnTo>
                <a:lnTo>
                  <a:pt x="5850636" y="10668000"/>
                </a:lnTo>
                <a:lnTo>
                  <a:pt x="0" y="10668000"/>
                </a:lnTo>
                <a:close/>
              </a:path>
            </a:pathLst>
          </a:custGeom>
          <a:solidFill>
            <a:srgbClr val="C8C8C8">
              <a:alpha val="24706"/>
            </a:srgbClr>
          </a:solidFill>
          <a:ln>
            <a:noFill/>
          </a:ln>
        </p:spPr>
      </p:sp>
      <p:sp>
        <p:nvSpPr>
          <p:cNvPr id="666" name="Google Shape;666;p37"/>
          <p:cNvSpPr/>
          <p:nvPr/>
        </p:nvSpPr>
        <p:spPr>
          <a:xfrm>
            <a:off x="0" y="0"/>
            <a:ext cx="18287999" cy="10287000"/>
          </a:xfrm>
          <a:custGeom>
            <a:rect b="b" l="l" r="r" t="t"/>
            <a:pathLst>
              <a:path extrusionOk="0" h="13716000" w="24384000">
                <a:moveTo>
                  <a:pt x="0" y="0"/>
                </a:moveTo>
                <a:lnTo>
                  <a:pt x="24384000" y="0"/>
                </a:lnTo>
                <a:lnTo>
                  <a:pt x="24384000" y="13716000"/>
                </a:lnTo>
                <a:lnTo>
                  <a:pt x="0" y="13716000"/>
                </a:lnTo>
                <a:close/>
              </a:path>
            </a:pathLst>
          </a:custGeom>
          <a:solidFill>
            <a:srgbClr val="FFFFFF"/>
          </a:solidFill>
          <a:ln>
            <a:noFill/>
          </a:ln>
        </p:spPr>
      </p:sp>
      <p:sp>
        <p:nvSpPr>
          <p:cNvPr id="667" name="Google Shape;667;p37"/>
          <p:cNvSpPr/>
          <p:nvPr/>
        </p:nvSpPr>
        <p:spPr>
          <a:xfrm>
            <a:off x="0" y="6551458"/>
            <a:ext cx="17561052" cy="2778252"/>
          </a:xfrm>
          <a:custGeom>
            <a:rect b="b" l="l" r="r" t="t"/>
            <a:pathLst>
              <a:path extrusionOk="0" h="3704336" w="23414737">
                <a:moveTo>
                  <a:pt x="0" y="0"/>
                </a:moveTo>
                <a:lnTo>
                  <a:pt x="23414737" y="0"/>
                </a:lnTo>
                <a:lnTo>
                  <a:pt x="23414737" y="3704336"/>
                </a:lnTo>
                <a:lnTo>
                  <a:pt x="0" y="3704336"/>
                </a:lnTo>
                <a:close/>
              </a:path>
            </a:pathLst>
          </a:custGeom>
          <a:solidFill>
            <a:srgbClr val="40BAD2"/>
          </a:solidFill>
          <a:ln>
            <a:noFill/>
          </a:ln>
        </p:spPr>
      </p:sp>
      <p:grpSp>
        <p:nvGrpSpPr>
          <p:cNvPr id="668" name="Google Shape;668;p37"/>
          <p:cNvGrpSpPr/>
          <p:nvPr/>
        </p:nvGrpSpPr>
        <p:grpSpPr>
          <a:xfrm>
            <a:off x="1604772" y="6885992"/>
            <a:ext cx="15316293" cy="1598535"/>
            <a:chOff x="0" y="0"/>
            <a:chExt cx="20421724" cy="2131380"/>
          </a:xfrm>
        </p:grpSpPr>
        <p:sp>
          <p:nvSpPr>
            <p:cNvPr id="669" name="Google Shape;669;p37"/>
            <p:cNvSpPr/>
            <p:nvPr/>
          </p:nvSpPr>
          <p:spPr>
            <a:xfrm>
              <a:off x="0" y="0"/>
              <a:ext cx="20421724" cy="2131380"/>
            </a:xfrm>
            <a:custGeom>
              <a:rect b="b" l="l" r="r" t="t"/>
              <a:pathLst>
                <a:path extrusionOk="0" h="2131380" w="20421724">
                  <a:moveTo>
                    <a:pt x="0" y="0"/>
                  </a:moveTo>
                  <a:lnTo>
                    <a:pt x="20421724" y="0"/>
                  </a:lnTo>
                  <a:lnTo>
                    <a:pt x="20421724" y="2131380"/>
                  </a:lnTo>
                  <a:lnTo>
                    <a:pt x="0" y="2131380"/>
                  </a:lnTo>
                  <a:close/>
                </a:path>
              </a:pathLst>
            </a:custGeom>
            <a:solidFill>
              <a:srgbClr val="000000">
                <a:alpha val="0"/>
              </a:srgbClr>
            </a:solidFill>
            <a:ln>
              <a:noFill/>
            </a:ln>
          </p:spPr>
        </p:sp>
        <p:sp>
          <p:nvSpPr>
            <p:cNvPr id="670" name="Google Shape;670;p37"/>
            <p:cNvSpPr txBox="1"/>
            <p:nvPr/>
          </p:nvSpPr>
          <p:spPr>
            <a:xfrm>
              <a:off x="0" y="104775"/>
              <a:ext cx="20421724" cy="2026605"/>
            </a:xfrm>
            <a:prstGeom prst="rect">
              <a:avLst/>
            </a:prstGeom>
            <a:noFill/>
            <a:ln>
              <a:noFill/>
            </a:ln>
          </p:spPr>
          <p:txBody>
            <a:bodyPr anchorCtr="0" anchor="b" bIns="0" lIns="0" spcFirstLastPara="1" rIns="0" wrap="square" tIns="0">
              <a:noAutofit/>
            </a:bodyPr>
            <a:lstStyle/>
            <a:p>
              <a:pPr indent="0" lvl="0" marL="0" marR="0" rtl="0" algn="l">
                <a:lnSpc>
                  <a:spcPct val="108000"/>
                </a:lnSpc>
                <a:spcBef>
                  <a:spcPts val="0"/>
                </a:spcBef>
                <a:spcAft>
                  <a:spcPts val="0"/>
                </a:spcAft>
                <a:buClr>
                  <a:srgbClr val="000000"/>
                </a:buClr>
                <a:buSzPts val="8850"/>
                <a:buFont typeface="Arial"/>
                <a:buNone/>
              </a:pPr>
              <a:r>
                <a:rPr b="0" i="0" lang="en-US" sz="8850" u="none" cap="none" strike="noStrike">
                  <a:solidFill>
                    <a:srgbClr val="FFFFFF"/>
                  </a:solidFill>
                  <a:latin typeface="PT Sans"/>
                  <a:ea typeface="PT Sans"/>
                  <a:cs typeface="PT Sans"/>
                  <a:sym typeface="PT Sans"/>
                </a:rPr>
                <a:t>Escritura de Archivos</a:t>
              </a:r>
              <a:endParaRPr b="0" i="0" sz="1400" u="none" cap="none" strike="noStrike">
                <a:solidFill>
                  <a:srgbClr val="000000"/>
                </a:solidFill>
                <a:latin typeface="Arial"/>
                <a:ea typeface="Arial"/>
                <a:cs typeface="Arial"/>
                <a:sym typeface="Arial"/>
              </a:endParaRPr>
            </a:p>
          </p:txBody>
        </p:sp>
      </p:grpSp>
      <p:sp>
        <p:nvSpPr>
          <p:cNvPr id="671" name="Google Shape;671;p37"/>
          <p:cNvSpPr txBox="1"/>
          <p:nvPr/>
        </p:nvSpPr>
        <p:spPr>
          <a:xfrm>
            <a:off x="1741446" y="8583988"/>
            <a:ext cx="15088194" cy="68438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Clr>
                <a:srgbClr val="000000"/>
              </a:buClr>
              <a:buSzPts val="3300"/>
              <a:buFont typeface="Arial"/>
              <a:buNone/>
            </a:pPr>
            <a:r>
              <a:rPr b="0" i="0" lang="en-US" sz="3300" u="none" cap="none" strike="noStrike">
                <a:solidFill>
                  <a:srgbClr val="D7F0F6"/>
                </a:solidFill>
                <a:latin typeface="PT Sans"/>
                <a:ea typeface="PT Sans"/>
                <a:cs typeface="PT Sans"/>
                <a:sym typeface="PT Sans"/>
              </a:rPr>
              <a:t>Se utilizará FileWriter o Files.Write.</a:t>
            </a:r>
            <a:endParaRPr b="0" i="0" sz="1400" u="none" cap="none" strike="noStrike">
              <a:solidFill>
                <a:srgbClr val="000000"/>
              </a:solidFill>
              <a:latin typeface="Arial"/>
              <a:ea typeface="Arial"/>
              <a:cs typeface="Arial"/>
              <a:sym typeface="Arial"/>
            </a:endParaRPr>
          </a:p>
        </p:txBody>
      </p:sp>
      <p:sp>
        <p:nvSpPr>
          <p:cNvPr id="672" name="Google Shape;672;p37"/>
          <p:cNvSpPr/>
          <p:nvPr/>
        </p:nvSpPr>
        <p:spPr>
          <a:xfrm>
            <a:off x="4651954" y="726948"/>
            <a:ext cx="9861899" cy="5335142"/>
          </a:xfrm>
          <a:custGeom>
            <a:rect b="b" l="l" r="r" t="t"/>
            <a:pathLst>
              <a:path extrusionOk="0" h="7113524" w="13149199">
                <a:moveTo>
                  <a:pt x="0" y="0"/>
                </a:moveTo>
                <a:lnTo>
                  <a:pt x="13149199" y="0"/>
                </a:lnTo>
                <a:lnTo>
                  <a:pt x="13149199" y="7113524"/>
                </a:lnTo>
                <a:lnTo>
                  <a:pt x="0" y="7113524"/>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6" name="Shape 676"/>
        <p:cNvGrpSpPr/>
        <p:nvPr/>
      </p:nvGrpSpPr>
      <p:grpSpPr>
        <a:xfrm>
          <a:off x="0" y="0"/>
          <a:ext cx="0" cy="0"/>
          <a:chOff x="0" y="0"/>
          <a:chExt cx="0" cy="0"/>
        </a:xfrm>
      </p:grpSpPr>
      <p:sp>
        <p:nvSpPr>
          <p:cNvPr id="677" name="Google Shape;677;p38"/>
          <p:cNvSpPr/>
          <p:nvPr/>
        </p:nvSpPr>
        <p:spPr>
          <a:xfrm>
            <a:off x="1" y="1138428"/>
            <a:ext cx="5165408" cy="7996428"/>
          </a:xfrm>
          <a:custGeom>
            <a:rect b="b" l="l" r="r" t="t"/>
            <a:pathLst>
              <a:path extrusionOk="0" h="10661904" w="6887210">
                <a:moveTo>
                  <a:pt x="0" y="0"/>
                </a:moveTo>
                <a:lnTo>
                  <a:pt x="6887210" y="0"/>
                </a:lnTo>
                <a:lnTo>
                  <a:pt x="6887210" y="10661904"/>
                </a:lnTo>
                <a:lnTo>
                  <a:pt x="0" y="10661904"/>
                </a:lnTo>
                <a:close/>
              </a:path>
            </a:pathLst>
          </a:custGeom>
          <a:solidFill>
            <a:srgbClr val="40BAD2"/>
          </a:solidFill>
          <a:ln>
            <a:noFill/>
          </a:ln>
        </p:spPr>
      </p:sp>
      <p:sp>
        <p:nvSpPr>
          <p:cNvPr id="678" name="Google Shape;678;p38"/>
          <p:cNvSpPr/>
          <p:nvPr/>
        </p:nvSpPr>
        <p:spPr>
          <a:xfrm>
            <a:off x="17723796" y="1138428"/>
            <a:ext cx="576072" cy="7996428"/>
          </a:xfrm>
          <a:custGeom>
            <a:rect b="b" l="l" r="r" t="t"/>
            <a:pathLst>
              <a:path extrusionOk="0" h="10661904" w="768096">
                <a:moveTo>
                  <a:pt x="0" y="0"/>
                </a:moveTo>
                <a:lnTo>
                  <a:pt x="768096" y="0"/>
                </a:lnTo>
                <a:lnTo>
                  <a:pt x="768096" y="10661904"/>
                </a:lnTo>
                <a:lnTo>
                  <a:pt x="0" y="10661904"/>
                </a:lnTo>
                <a:close/>
              </a:path>
            </a:pathLst>
          </a:custGeom>
          <a:solidFill>
            <a:srgbClr val="C8C8C8">
              <a:alpha val="24706"/>
            </a:srgbClr>
          </a:solidFill>
          <a:ln>
            <a:noFill/>
          </a:ln>
        </p:spPr>
      </p:sp>
      <p:sp>
        <p:nvSpPr>
          <p:cNvPr id="679" name="Google Shape;679;p38"/>
          <p:cNvSpPr/>
          <p:nvPr/>
        </p:nvSpPr>
        <p:spPr>
          <a:xfrm>
            <a:off x="0" y="1142998"/>
            <a:ext cx="13712475" cy="8001000"/>
          </a:xfrm>
          <a:custGeom>
            <a:rect b="b" l="l" r="r" t="t"/>
            <a:pathLst>
              <a:path extrusionOk="0" h="10668000" w="18283301">
                <a:moveTo>
                  <a:pt x="0" y="0"/>
                </a:moveTo>
                <a:lnTo>
                  <a:pt x="18283301" y="0"/>
                </a:lnTo>
                <a:lnTo>
                  <a:pt x="18283301" y="10668000"/>
                </a:lnTo>
                <a:lnTo>
                  <a:pt x="0" y="10668000"/>
                </a:lnTo>
                <a:close/>
              </a:path>
            </a:pathLst>
          </a:custGeom>
          <a:solidFill>
            <a:srgbClr val="40BAD2"/>
          </a:solidFill>
          <a:ln>
            <a:noFill/>
          </a:ln>
        </p:spPr>
      </p:sp>
      <p:sp>
        <p:nvSpPr>
          <p:cNvPr id="680" name="Google Shape;680;p38"/>
          <p:cNvSpPr/>
          <p:nvPr/>
        </p:nvSpPr>
        <p:spPr>
          <a:xfrm>
            <a:off x="13905394" y="1142998"/>
            <a:ext cx="4387977" cy="8001000"/>
          </a:xfrm>
          <a:custGeom>
            <a:rect b="b" l="l" r="r" t="t"/>
            <a:pathLst>
              <a:path extrusionOk="0" h="10668000" w="5850636">
                <a:moveTo>
                  <a:pt x="0" y="0"/>
                </a:moveTo>
                <a:lnTo>
                  <a:pt x="5850636" y="0"/>
                </a:lnTo>
                <a:lnTo>
                  <a:pt x="5850636" y="10668000"/>
                </a:lnTo>
                <a:lnTo>
                  <a:pt x="0" y="10668000"/>
                </a:lnTo>
                <a:close/>
              </a:path>
            </a:pathLst>
          </a:custGeom>
          <a:solidFill>
            <a:srgbClr val="C8C8C8">
              <a:alpha val="24706"/>
            </a:srgbClr>
          </a:solidFill>
          <a:ln>
            <a:noFill/>
          </a:ln>
        </p:spPr>
      </p:sp>
      <p:sp>
        <p:nvSpPr>
          <p:cNvPr id="681" name="Google Shape;681;p38"/>
          <p:cNvSpPr/>
          <p:nvPr/>
        </p:nvSpPr>
        <p:spPr>
          <a:xfrm>
            <a:off x="0" y="0"/>
            <a:ext cx="18287999" cy="10287000"/>
          </a:xfrm>
          <a:custGeom>
            <a:rect b="b" l="l" r="r" t="t"/>
            <a:pathLst>
              <a:path extrusionOk="0" h="13716000" w="24384000">
                <a:moveTo>
                  <a:pt x="0" y="0"/>
                </a:moveTo>
                <a:lnTo>
                  <a:pt x="24384000" y="0"/>
                </a:lnTo>
                <a:lnTo>
                  <a:pt x="24384000" y="13716000"/>
                </a:lnTo>
                <a:lnTo>
                  <a:pt x="0" y="13716000"/>
                </a:lnTo>
                <a:close/>
              </a:path>
            </a:pathLst>
          </a:custGeom>
          <a:solidFill>
            <a:srgbClr val="FFFFFF"/>
          </a:solidFill>
          <a:ln>
            <a:noFill/>
          </a:ln>
        </p:spPr>
      </p:sp>
      <p:sp>
        <p:nvSpPr>
          <p:cNvPr id="682" name="Google Shape;682;p38"/>
          <p:cNvSpPr/>
          <p:nvPr/>
        </p:nvSpPr>
        <p:spPr>
          <a:xfrm>
            <a:off x="0" y="6551458"/>
            <a:ext cx="17561052" cy="2778252"/>
          </a:xfrm>
          <a:custGeom>
            <a:rect b="b" l="l" r="r" t="t"/>
            <a:pathLst>
              <a:path extrusionOk="0" h="3704336" w="23414737">
                <a:moveTo>
                  <a:pt x="0" y="0"/>
                </a:moveTo>
                <a:lnTo>
                  <a:pt x="23414737" y="0"/>
                </a:lnTo>
                <a:lnTo>
                  <a:pt x="23414737" y="3704336"/>
                </a:lnTo>
                <a:lnTo>
                  <a:pt x="0" y="3704336"/>
                </a:lnTo>
                <a:close/>
              </a:path>
            </a:pathLst>
          </a:custGeom>
          <a:solidFill>
            <a:srgbClr val="40BAD2"/>
          </a:solidFill>
          <a:ln>
            <a:noFill/>
          </a:ln>
        </p:spPr>
      </p:sp>
      <p:grpSp>
        <p:nvGrpSpPr>
          <p:cNvPr id="683" name="Google Shape;683;p38"/>
          <p:cNvGrpSpPr/>
          <p:nvPr/>
        </p:nvGrpSpPr>
        <p:grpSpPr>
          <a:xfrm>
            <a:off x="1604772" y="6885992"/>
            <a:ext cx="15316293" cy="1598535"/>
            <a:chOff x="0" y="0"/>
            <a:chExt cx="20421724" cy="2131380"/>
          </a:xfrm>
        </p:grpSpPr>
        <p:sp>
          <p:nvSpPr>
            <p:cNvPr id="684" name="Google Shape;684;p38"/>
            <p:cNvSpPr/>
            <p:nvPr/>
          </p:nvSpPr>
          <p:spPr>
            <a:xfrm>
              <a:off x="0" y="0"/>
              <a:ext cx="20421724" cy="2131380"/>
            </a:xfrm>
            <a:custGeom>
              <a:rect b="b" l="l" r="r" t="t"/>
              <a:pathLst>
                <a:path extrusionOk="0" h="2131380" w="20421724">
                  <a:moveTo>
                    <a:pt x="0" y="0"/>
                  </a:moveTo>
                  <a:lnTo>
                    <a:pt x="20421724" y="0"/>
                  </a:lnTo>
                  <a:lnTo>
                    <a:pt x="20421724" y="2131380"/>
                  </a:lnTo>
                  <a:lnTo>
                    <a:pt x="0" y="2131380"/>
                  </a:lnTo>
                  <a:close/>
                </a:path>
              </a:pathLst>
            </a:custGeom>
            <a:solidFill>
              <a:srgbClr val="000000">
                <a:alpha val="0"/>
              </a:srgbClr>
            </a:solidFill>
            <a:ln>
              <a:noFill/>
            </a:ln>
          </p:spPr>
        </p:sp>
        <p:sp>
          <p:nvSpPr>
            <p:cNvPr id="685" name="Google Shape;685;p38"/>
            <p:cNvSpPr txBox="1"/>
            <p:nvPr/>
          </p:nvSpPr>
          <p:spPr>
            <a:xfrm>
              <a:off x="0" y="104775"/>
              <a:ext cx="20421724" cy="2026605"/>
            </a:xfrm>
            <a:prstGeom prst="rect">
              <a:avLst/>
            </a:prstGeom>
            <a:noFill/>
            <a:ln>
              <a:noFill/>
            </a:ln>
          </p:spPr>
          <p:txBody>
            <a:bodyPr anchorCtr="0" anchor="b" bIns="0" lIns="0" spcFirstLastPara="1" rIns="0" wrap="square" tIns="0">
              <a:noAutofit/>
            </a:bodyPr>
            <a:lstStyle/>
            <a:p>
              <a:pPr indent="0" lvl="0" marL="0" marR="0" rtl="0" algn="l">
                <a:lnSpc>
                  <a:spcPct val="108000"/>
                </a:lnSpc>
                <a:spcBef>
                  <a:spcPts val="0"/>
                </a:spcBef>
                <a:spcAft>
                  <a:spcPts val="0"/>
                </a:spcAft>
                <a:buClr>
                  <a:srgbClr val="000000"/>
                </a:buClr>
                <a:buSzPts val="8850"/>
                <a:buFont typeface="Arial"/>
                <a:buNone/>
              </a:pPr>
              <a:r>
                <a:rPr b="0" i="0" lang="en-US" sz="8850" u="none" cap="none" strike="noStrike">
                  <a:solidFill>
                    <a:srgbClr val="FFFFFF"/>
                  </a:solidFill>
                  <a:latin typeface="PT Sans"/>
                  <a:ea typeface="PT Sans"/>
                  <a:cs typeface="PT Sans"/>
                  <a:sym typeface="PT Sans"/>
                </a:rPr>
                <a:t>Eliminación de Archivos</a:t>
              </a:r>
              <a:endParaRPr b="0" i="0" sz="1400" u="none" cap="none" strike="noStrike">
                <a:solidFill>
                  <a:srgbClr val="000000"/>
                </a:solidFill>
                <a:latin typeface="Arial"/>
                <a:ea typeface="Arial"/>
                <a:cs typeface="Arial"/>
                <a:sym typeface="Arial"/>
              </a:endParaRPr>
            </a:p>
          </p:txBody>
        </p:sp>
      </p:grpSp>
      <p:sp>
        <p:nvSpPr>
          <p:cNvPr id="686" name="Google Shape;686;p38"/>
          <p:cNvSpPr txBox="1"/>
          <p:nvPr/>
        </p:nvSpPr>
        <p:spPr>
          <a:xfrm>
            <a:off x="1741446" y="8583988"/>
            <a:ext cx="15088194" cy="684388"/>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Clr>
                <a:srgbClr val="000000"/>
              </a:buClr>
              <a:buSzPts val="3300"/>
              <a:buFont typeface="Arial"/>
              <a:buNone/>
            </a:pPr>
            <a:r>
              <a:rPr b="0" i="0" lang="en-US" sz="3300" u="none" cap="none" strike="noStrike">
                <a:solidFill>
                  <a:srgbClr val="D7F0F6"/>
                </a:solidFill>
                <a:latin typeface="PT Sans"/>
                <a:ea typeface="PT Sans"/>
                <a:cs typeface="PT Sans"/>
                <a:sym typeface="PT Sans"/>
              </a:rPr>
              <a:t>Con el método delete() de la clase File.</a:t>
            </a:r>
            <a:endParaRPr b="0" i="0" sz="1400" u="none" cap="none" strike="noStrike">
              <a:solidFill>
                <a:srgbClr val="000000"/>
              </a:solidFill>
              <a:latin typeface="Arial"/>
              <a:ea typeface="Arial"/>
              <a:cs typeface="Arial"/>
              <a:sym typeface="Arial"/>
            </a:endParaRPr>
          </a:p>
        </p:txBody>
      </p:sp>
      <p:sp>
        <p:nvSpPr>
          <p:cNvPr descr="Texto  El contenido generado por IA puede ser incorrecto." id="687" name="Google Shape;687;p38"/>
          <p:cNvSpPr/>
          <p:nvPr/>
        </p:nvSpPr>
        <p:spPr>
          <a:xfrm>
            <a:off x="2469398" y="726948"/>
            <a:ext cx="14227016" cy="5335142"/>
          </a:xfrm>
          <a:custGeom>
            <a:rect b="b" l="l" r="r" t="t"/>
            <a:pathLst>
              <a:path extrusionOk="0" h="7113524" w="18969355">
                <a:moveTo>
                  <a:pt x="0" y="0"/>
                </a:moveTo>
                <a:lnTo>
                  <a:pt x="18969355" y="0"/>
                </a:lnTo>
                <a:lnTo>
                  <a:pt x="18969355" y="7113524"/>
                </a:lnTo>
                <a:lnTo>
                  <a:pt x="0" y="7113524"/>
                </a:lnTo>
                <a:lnTo>
                  <a:pt x="0" y="0"/>
                </a:lnTo>
                <a:close/>
              </a:path>
            </a:pathLst>
          </a:custGeom>
          <a:blipFill rotWithShape="1">
            <a:blip r:embed="rId3">
              <a:alphaModFix/>
            </a:blip>
            <a:stretch>
              <a:fillRect b="0" l="0" r="-144" t="0"/>
            </a:stretch>
          </a:blipFill>
          <a:ln>
            <a:noFill/>
          </a:ln>
        </p:spPr>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1" name="Shape 691"/>
        <p:cNvGrpSpPr/>
        <p:nvPr/>
      </p:nvGrpSpPr>
      <p:grpSpPr>
        <a:xfrm>
          <a:off x="0" y="0"/>
          <a:ext cx="0" cy="0"/>
          <a:chOff x="0" y="0"/>
          <a:chExt cx="0" cy="0"/>
        </a:xfrm>
      </p:grpSpPr>
      <p:sp>
        <p:nvSpPr>
          <p:cNvPr id="692" name="Google Shape;692;p39"/>
          <p:cNvSpPr txBox="1"/>
          <p:nvPr/>
        </p:nvSpPr>
        <p:spPr>
          <a:xfrm>
            <a:off x="2148413" y="3885703"/>
            <a:ext cx="13991174" cy="180102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Clr>
                <a:srgbClr val="000000"/>
              </a:buClr>
              <a:buSzPts val="6098"/>
              <a:buFont typeface="Arial"/>
              <a:buNone/>
            </a:pPr>
            <a:r>
              <a:rPr b="0" i="0" lang="en-US" sz="6098" u="none" cap="none" strike="noStrike">
                <a:solidFill>
                  <a:srgbClr val="131416"/>
                </a:solidFill>
                <a:latin typeface="Arial"/>
                <a:ea typeface="Arial"/>
                <a:cs typeface="Arial"/>
                <a:sym typeface="Arial"/>
              </a:rPr>
              <a:t>APLICACIONES POR MEDIO DE EJEMPLOS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6" name="Shape 696"/>
        <p:cNvGrpSpPr/>
        <p:nvPr/>
      </p:nvGrpSpPr>
      <p:grpSpPr>
        <a:xfrm>
          <a:off x="0" y="0"/>
          <a:ext cx="0" cy="0"/>
          <a:chOff x="0" y="0"/>
          <a:chExt cx="0" cy="0"/>
        </a:xfrm>
      </p:grpSpPr>
      <p:sp>
        <p:nvSpPr>
          <p:cNvPr id="697" name="Google Shape;697;p40"/>
          <p:cNvSpPr txBox="1"/>
          <p:nvPr/>
        </p:nvSpPr>
        <p:spPr>
          <a:xfrm>
            <a:off x="2507390" y="1000125"/>
            <a:ext cx="13503315" cy="2052066"/>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000000"/>
              </a:buClr>
              <a:buSzPts val="6900"/>
              <a:buFont typeface="Arial"/>
              <a:buNone/>
            </a:pPr>
            <a:r>
              <a:rPr b="0" i="0" lang="en-US" sz="6900" u="none" cap="none" strike="noStrike">
                <a:solidFill>
                  <a:srgbClr val="131416"/>
                </a:solidFill>
                <a:latin typeface="Arial"/>
                <a:ea typeface="Arial"/>
                <a:cs typeface="Arial"/>
                <a:sym typeface="Arial"/>
              </a:rPr>
              <a:t>CONCEPTOS CLAVE APRENDIDOS </a:t>
            </a:r>
            <a:endParaRPr b="0" i="0" sz="1400" u="none" cap="none" strike="noStrike">
              <a:solidFill>
                <a:srgbClr val="000000"/>
              </a:solidFill>
              <a:latin typeface="Arial"/>
              <a:ea typeface="Arial"/>
              <a:cs typeface="Arial"/>
              <a:sym typeface="Arial"/>
            </a:endParaRPr>
          </a:p>
        </p:txBody>
      </p:sp>
      <p:sp>
        <p:nvSpPr>
          <p:cNvPr id="698" name="Google Shape;698;p40"/>
          <p:cNvSpPr txBox="1"/>
          <p:nvPr/>
        </p:nvSpPr>
        <p:spPr>
          <a:xfrm>
            <a:off x="1028700" y="3234667"/>
            <a:ext cx="15982720" cy="6501010"/>
          </a:xfrm>
          <a:prstGeom prst="rect">
            <a:avLst/>
          </a:prstGeom>
          <a:noFill/>
          <a:ln>
            <a:noFill/>
          </a:ln>
        </p:spPr>
        <p:txBody>
          <a:bodyPr anchorCtr="0" anchor="t" bIns="0" lIns="0" spcFirstLastPara="1" rIns="0" wrap="square" tIns="0">
            <a:spAutoFit/>
          </a:bodyPr>
          <a:lstStyle/>
          <a:p>
            <a:pPr indent="0" lvl="0" marL="0" marR="0" rtl="0" algn="l">
              <a:lnSpc>
                <a:spcPct val="1597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a:p>
            <a:pPr indent="-221806" lvl="1" marL="443614" marR="0" rtl="0" algn="l">
              <a:lnSpc>
                <a:spcPct val="140019"/>
              </a:lnSpc>
              <a:spcBef>
                <a:spcPts val="0"/>
              </a:spcBef>
              <a:spcAft>
                <a:spcPts val="0"/>
              </a:spcAft>
              <a:buClr>
                <a:srgbClr val="131416"/>
              </a:buClr>
              <a:buSzPts val="2054"/>
              <a:buFont typeface="Open Sans"/>
              <a:buAutoNum type="arabicPeriod"/>
            </a:pPr>
            <a:r>
              <a:rPr b="1" i="0" lang="en-US" sz="2054" u="none" cap="none" strike="noStrike">
                <a:solidFill>
                  <a:srgbClr val="131416"/>
                </a:solidFill>
                <a:latin typeface="Open Sans"/>
                <a:ea typeface="Open Sans"/>
                <a:cs typeface="Open Sans"/>
                <a:sym typeface="Open Sans"/>
              </a:rPr>
              <a:t>Métodos de Ordenamiento:</a:t>
            </a:r>
            <a:r>
              <a:rPr b="0" i="0" lang="en-US" sz="2054" u="none" cap="none" strike="noStrike">
                <a:solidFill>
                  <a:srgbClr val="131416"/>
                </a:solidFill>
                <a:latin typeface="Open Sans"/>
                <a:ea typeface="Open Sans"/>
                <a:cs typeface="Open Sans"/>
                <a:sym typeface="Open Sans"/>
              </a:rPr>
              <a:t> Son algoritmos que organizan elementos de una colección en orden específico (ascendente o descendente). La presentación cubre cuatro métodos principales: Burbuja (compara e intercambia elementos adyacentes), Inserción (inserta cada elemento en su posición apropiada), Selección (busca el mayor valor y lo coloca en su ubicación correcta), y Quick Sort (el más eficiente, basado en divide y vencerás).</a:t>
            </a:r>
            <a:endParaRPr b="0" i="0" sz="1400" u="none" cap="none" strike="noStrike">
              <a:solidFill>
                <a:srgbClr val="000000"/>
              </a:solidFill>
              <a:latin typeface="Arial"/>
              <a:ea typeface="Arial"/>
              <a:cs typeface="Arial"/>
              <a:sym typeface="Arial"/>
            </a:endParaRPr>
          </a:p>
          <a:p>
            <a:pPr indent="-221806" lvl="1" marL="443614" marR="0" rtl="0" algn="l">
              <a:lnSpc>
                <a:spcPct val="140019"/>
              </a:lnSpc>
              <a:spcBef>
                <a:spcPts val="0"/>
              </a:spcBef>
              <a:spcAft>
                <a:spcPts val="0"/>
              </a:spcAft>
              <a:buClr>
                <a:srgbClr val="131416"/>
              </a:buClr>
              <a:buSzPts val="2054"/>
              <a:buFont typeface="Open Sans"/>
              <a:buAutoNum type="arabicPeriod"/>
            </a:pPr>
            <a:r>
              <a:rPr b="1" i="0" lang="en-US" sz="2054" u="none" cap="none" strike="noStrike">
                <a:solidFill>
                  <a:srgbClr val="131416"/>
                </a:solidFill>
                <a:latin typeface="Open Sans"/>
                <a:ea typeface="Open Sans"/>
                <a:cs typeface="Open Sans"/>
                <a:sym typeface="Open Sans"/>
              </a:rPr>
              <a:t>Pila de Ejecución (Stack):</a:t>
            </a:r>
            <a:r>
              <a:rPr b="0" i="0" lang="en-US" sz="2054" u="none" cap="none" strike="noStrike">
                <a:solidFill>
                  <a:srgbClr val="131416"/>
                </a:solidFill>
                <a:latin typeface="Open Sans"/>
                <a:ea typeface="Open Sans"/>
                <a:cs typeface="Open Sans"/>
                <a:sym typeface="Open Sans"/>
              </a:rPr>
              <a:t> Es una estructura de datos LIFO (Last In, First Out) utilizada por la JVM para gestionar llamadas a métodos y variables locales. Cada llamada a método crea un "marco de pila" que contiene parámetros, variables locales y dirección de retorno. Si la pila se llena por recursividad infinita, ocurre un StackOverflowError.</a:t>
            </a:r>
            <a:endParaRPr b="0" i="0" sz="1400" u="none" cap="none" strike="noStrike">
              <a:solidFill>
                <a:srgbClr val="000000"/>
              </a:solidFill>
              <a:latin typeface="Arial"/>
              <a:ea typeface="Arial"/>
              <a:cs typeface="Arial"/>
              <a:sym typeface="Arial"/>
            </a:endParaRPr>
          </a:p>
          <a:p>
            <a:pPr indent="-221806" lvl="1" marL="443614" marR="0" rtl="0" algn="l">
              <a:lnSpc>
                <a:spcPct val="140019"/>
              </a:lnSpc>
              <a:spcBef>
                <a:spcPts val="0"/>
              </a:spcBef>
              <a:spcAft>
                <a:spcPts val="0"/>
              </a:spcAft>
              <a:buClr>
                <a:srgbClr val="131416"/>
              </a:buClr>
              <a:buSzPts val="2054"/>
              <a:buFont typeface="Open Sans"/>
              <a:buAutoNum type="arabicPeriod"/>
            </a:pPr>
            <a:r>
              <a:rPr b="1" i="0" lang="en-US" sz="2054" u="none" cap="none" strike="noStrike">
                <a:solidFill>
                  <a:srgbClr val="131416"/>
                </a:solidFill>
                <a:latin typeface="Open Sans"/>
                <a:ea typeface="Open Sans"/>
                <a:cs typeface="Open Sans"/>
                <a:sym typeface="Open Sans"/>
              </a:rPr>
              <a:t>Recursividad Simple: </a:t>
            </a:r>
            <a:r>
              <a:rPr b="0" i="0" lang="en-US" sz="2054" u="none" cap="none" strike="noStrike">
                <a:solidFill>
                  <a:srgbClr val="131416"/>
                </a:solidFill>
                <a:latin typeface="Open Sans"/>
                <a:ea typeface="Open Sans"/>
                <a:cs typeface="Open Sans"/>
                <a:sym typeface="Open Sans"/>
              </a:rPr>
              <a:t>Técnica donde un método se llama a sí mismo para resolver problemas dividiéndolos en subproblemas más pequeños. Requiere un caso base (que detiene la recursión) y un caso recursivo (llamada con subproblema más pequeño). Cada llamada recursiva agrega un marco a la pila de ejecución.</a:t>
            </a:r>
            <a:endParaRPr b="0" i="0" sz="1400" u="none" cap="none" strike="noStrike">
              <a:solidFill>
                <a:srgbClr val="000000"/>
              </a:solidFill>
              <a:latin typeface="Arial"/>
              <a:ea typeface="Arial"/>
              <a:cs typeface="Arial"/>
              <a:sym typeface="Arial"/>
            </a:endParaRPr>
          </a:p>
          <a:p>
            <a:pPr indent="-221806" lvl="1" marL="443614" marR="0" rtl="0" algn="l">
              <a:lnSpc>
                <a:spcPct val="140019"/>
              </a:lnSpc>
              <a:spcBef>
                <a:spcPts val="0"/>
              </a:spcBef>
              <a:spcAft>
                <a:spcPts val="0"/>
              </a:spcAft>
              <a:buClr>
                <a:srgbClr val="131416"/>
              </a:buClr>
              <a:buSzPts val="2054"/>
              <a:buFont typeface="Open Sans"/>
              <a:buAutoNum type="arabicPeriod"/>
            </a:pPr>
            <a:r>
              <a:rPr b="1" i="0" lang="en-US" sz="2054" u="none" cap="none" strike="noStrike">
                <a:solidFill>
                  <a:srgbClr val="131416"/>
                </a:solidFill>
                <a:latin typeface="Open Sans"/>
                <a:ea typeface="Open Sans"/>
                <a:cs typeface="Open Sans"/>
                <a:sym typeface="Open Sans"/>
              </a:rPr>
              <a:t>Recursividad de Cola:</a:t>
            </a:r>
            <a:r>
              <a:rPr b="0" i="0" lang="en-US" sz="2054" u="none" cap="none" strike="noStrike">
                <a:solidFill>
                  <a:srgbClr val="131416"/>
                </a:solidFill>
                <a:latin typeface="Open Sans"/>
                <a:ea typeface="Open Sans"/>
                <a:cs typeface="Open Sans"/>
                <a:sym typeface="Open Sans"/>
              </a:rPr>
              <a:t> Variante optimizada donde la llamada recursiva es la última operación del método. Utiliza un acumulador para llevar el estado del cálculo y permite optimizar el uso de memoria, ya que reemplaza el marco de pila actual en lugar de agregar uno nuevo, evitando el crecimiento excesivo de la pila.</a:t>
            </a:r>
            <a:endParaRPr b="0" i="0" sz="1400" u="none" cap="none" strike="noStrike">
              <a:solidFill>
                <a:srgbClr val="000000"/>
              </a:solidFill>
              <a:latin typeface="Arial"/>
              <a:ea typeface="Arial"/>
              <a:cs typeface="Arial"/>
              <a:sym typeface="Arial"/>
            </a:endParaRPr>
          </a:p>
          <a:p>
            <a:pPr indent="-221806" lvl="1" marL="443614" marR="0" rtl="0" algn="l">
              <a:lnSpc>
                <a:spcPct val="140019"/>
              </a:lnSpc>
              <a:spcBef>
                <a:spcPts val="0"/>
              </a:spcBef>
              <a:spcAft>
                <a:spcPts val="0"/>
              </a:spcAft>
              <a:buClr>
                <a:srgbClr val="131416"/>
              </a:buClr>
              <a:buSzPts val="2054"/>
              <a:buFont typeface="Open Sans"/>
              <a:buAutoNum type="arabicPeriod"/>
            </a:pPr>
            <a:r>
              <a:rPr b="1" i="0" lang="en-US" sz="2054" u="none" cap="none" strike="noStrike">
                <a:solidFill>
                  <a:srgbClr val="131416"/>
                </a:solidFill>
                <a:latin typeface="Open Sans"/>
                <a:ea typeface="Open Sans"/>
                <a:cs typeface="Open Sans"/>
                <a:sym typeface="Open Sans"/>
              </a:rPr>
              <a:t>Manejo de Archivos en Java:</a:t>
            </a:r>
            <a:r>
              <a:rPr b="0" i="0" lang="en-US" sz="2054" u="none" cap="none" strike="noStrike">
                <a:solidFill>
                  <a:srgbClr val="131416"/>
                </a:solidFill>
                <a:latin typeface="Open Sans"/>
                <a:ea typeface="Open Sans"/>
                <a:cs typeface="Open Sans"/>
                <a:sym typeface="Open Sans"/>
              </a:rPr>
              <a:t> Java provee jerarquías de clases en el paquete java.io para manejar flujos de datos. Existen dos jerarquías: para caracteres Unicode (16 bits) con Reader/Writer, y para datos binarios (8 bits) con InputStream/OutputStream. Se pueden crear archivos planos, binarios, y objetos serializables usando clases como File, BufferedReader, FileWriter, y Files.</a:t>
            </a:r>
            <a:endParaRPr b="0" i="0" sz="1400" u="none" cap="none" strike="noStrike">
              <a:solidFill>
                <a:srgbClr val="000000"/>
              </a:solidFill>
              <a:latin typeface="Arial"/>
              <a:ea typeface="Arial"/>
              <a:cs typeface="Arial"/>
              <a:sym typeface="Arial"/>
            </a:endParaRPr>
          </a:p>
          <a:p>
            <a:pPr indent="0" lvl="0" marL="0" marR="0" rtl="0" algn="l">
              <a:lnSpc>
                <a:spcPct val="140019"/>
              </a:lnSpc>
              <a:spcBef>
                <a:spcPts val="0"/>
              </a:spcBef>
              <a:spcAft>
                <a:spcPts val="0"/>
              </a:spcAft>
              <a:buClr>
                <a:srgbClr val="000000"/>
              </a:buClr>
              <a:buSzPts val="2054"/>
              <a:buFont typeface="Arial"/>
              <a:buNone/>
            </a:pPr>
            <a:r>
              <a:t/>
            </a:r>
            <a:endParaRPr b="0" i="0" sz="2054" u="none" cap="none" strike="noStrike">
              <a:solidFill>
                <a:srgbClr val="131416"/>
              </a:solidFill>
              <a:latin typeface="Open Sans"/>
              <a:ea typeface="Open Sans"/>
              <a:cs typeface="Open Sans"/>
              <a:sym typeface="Open Sans"/>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p41"/>
          <p:cNvSpPr txBox="1"/>
          <p:nvPr/>
        </p:nvSpPr>
        <p:spPr>
          <a:xfrm>
            <a:off x="2392343" y="3965595"/>
            <a:ext cx="13503315" cy="1070991"/>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000000"/>
              </a:buClr>
              <a:buSzPts val="6900"/>
              <a:buFont typeface="Arial"/>
              <a:buNone/>
            </a:pPr>
            <a:r>
              <a:rPr b="0" i="0" lang="en-US" sz="6900" u="none" cap="none" strike="noStrike">
                <a:solidFill>
                  <a:srgbClr val="131416"/>
                </a:solidFill>
                <a:latin typeface="Arial"/>
                <a:ea typeface="Arial"/>
                <a:cs typeface="Arial"/>
                <a:sym typeface="Arial"/>
              </a:rPr>
              <a:t>HONESTIDAD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p42"/>
          <p:cNvSpPr txBox="1"/>
          <p:nvPr/>
        </p:nvSpPr>
        <p:spPr>
          <a:xfrm>
            <a:off x="2507390" y="1000125"/>
            <a:ext cx="13503315" cy="1070991"/>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000000"/>
              </a:buClr>
              <a:buSzPts val="6900"/>
              <a:buFont typeface="Arial"/>
              <a:buNone/>
            </a:pPr>
            <a:r>
              <a:rPr b="0" i="0" lang="en-US" sz="6900" u="none" cap="none" strike="noStrike">
                <a:solidFill>
                  <a:srgbClr val="131416"/>
                </a:solidFill>
                <a:latin typeface="Arial"/>
                <a:ea typeface="Arial"/>
                <a:cs typeface="Arial"/>
                <a:sym typeface="Arial"/>
              </a:rPr>
              <a:t>REFERENCIAS </a:t>
            </a:r>
            <a:endParaRPr b="0" i="0" sz="1400" u="none" cap="none" strike="noStrike">
              <a:solidFill>
                <a:srgbClr val="000000"/>
              </a:solidFill>
              <a:latin typeface="Arial"/>
              <a:ea typeface="Arial"/>
              <a:cs typeface="Arial"/>
              <a:sym typeface="Arial"/>
            </a:endParaRPr>
          </a:p>
        </p:txBody>
      </p:sp>
      <p:sp>
        <p:nvSpPr>
          <p:cNvPr id="709" name="Google Shape;709;p42"/>
          <p:cNvSpPr txBox="1"/>
          <p:nvPr/>
        </p:nvSpPr>
        <p:spPr>
          <a:xfrm>
            <a:off x="5803381" y="4280604"/>
            <a:ext cx="6911332" cy="544122"/>
          </a:xfrm>
          <a:prstGeom prst="rect">
            <a:avLst/>
          </a:prstGeom>
          <a:noFill/>
          <a:ln>
            <a:noFill/>
          </a:ln>
        </p:spPr>
        <p:txBody>
          <a:bodyPr anchorCtr="0" anchor="t" bIns="0" lIns="0" spcFirstLastPara="1" rIns="0" wrap="square" tIns="0">
            <a:spAutoFit/>
          </a:bodyPr>
          <a:lstStyle/>
          <a:p>
            <a:pPr indent="0" lvl="0" marL="0" marR="0" rtl="0" algn="ctr">
              <a:lnSpc>
                <a:spcPct val="140019"/>
              </a:lnSpc>
              <a:spcBef>
                <a:spcPts val="0"/>
              </a:spcBef>
              <a:spcAft>
                <a:spcPts val="0"/>
              </a:spcAft>
              <a:buClr>
                <a:srgbClr val="000000"/>
              </a:buClr>
              <a:buSzPts val="3151"/>
              <a:buFont typeface="Arial"/>
              <a:buNone/>
            </a:pPr>
            <a:r>
              <a:rPr b="0" i="0" lang="en-US" sz="3151" u="none" cap="none" strike="noStrike">
                <a:solidFill>
                  <a:srgbClr val="131416"/>
                </a:solidFill>
                <a:latin typeface="Arial"/>
                <a:ea typeface="Arial"/>
                <a:cs typeface="Arial"/>
                <a:sym typeface="Arial"/>
              </a:rPr>
              <a:t>Fernando A. Lagos B.</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3" name="Shape 713"/>
        <p:cNvGrpSpPr/>
        <p:nvPr/>
      </p:nvGrpSpPr>
      <p:grpSpPr>
        <a:xfrm>
          <a:off x="0" y="0"/>
          <a:ext cx="0" cy="0"/>
          <a:chOff x="0" y="0"/>
          <a:chExt cx="0" cy="0"/>
        </a:xfrm>
      </p:grpSpPr>
      <p:sp>
        <p:nvSpPr>
          <p:cNvPr id="714" name="Google Shape;714;p43"/>
          <p:cNvSpPr txBox="1"/>
          <p:nvPr/>
        </p:nvSpPr>
        <p:spPr>
          <a:xfrm>
            <a:off x="4437795" y="3389104"/>
            <a:ext cx="8658828" cy="2495677"/>
          </a:xfrm>
          <a:prstGeom prst="rect">
            <a:avLst/>
          </a:prstGeom>
          <a:noFill/>
          <a:ln>
            <a:noFill/>
          </a:ln>
        </p:spPr>
        <p:txBody>
          <a:bodyPr anchorCtr="0" anchor="t" bIns="0" lIns="0" spcFirstLastPara="1" rIns="0" wrap="square" tIns="0">
            <a:spAutoFit/>
          </a:bodyPr>
          <a:lstStyle/>
          <a:p>
            <a:pPr indent="0" lvl="0" marL="0" marR="0" rtl="0" algn="just">
              <a:lnSpc>
                <a:spcPct val="104000"/>
              </a:lnSpc>
              <a:spcBef>
                <a:spcPts val="0"/>
              </a:spcBef>
              <a:spcAft>
                <a:spcPts val="0"/>
              </a:spcAft>
              <a:buClr>
                <a:srgbClr val="000000"/>
              </a:buClr>
              <a:buSzPts val="6099"/>
              <a:buFont typeface="Arial"/>
              <a:buNone/>
            </a:pPr>
            <a:r>
              <a:rPr b="0" i="0" lang="en-US" sz="6099" u="none" cap="none" strike="noStrike">
                <a:solidFill>
                  <a:srgbClr val="131416"/>
                </a:solidFill>
                <a:latin typeface="Arial"/>
                <a:ea typeface="Arial"/>
                <a:cs typeface="Arial"/>
                <a:sym typeface="Arial"/>
              </a:rPr>
              <a:t>¡GRACIAS POR SU  ATENCIÓN!</a:t>
            </a:r>
            <a:endParaRPr b="0" i="0" sz="1400" u="none" cap="none" strike="noStrike">
              <a:solidFill>
                <a:srgbClr val="000000"/>
              </a:solidFill>
              <a:latin typeface="Arial"/>
              <a:ea typeface="Arial"/>
              <a:cs typeface="Arial"/>
              <a:sym typeface="Arial"/>
            </a:endParaRPr>
          </a:p>
          <a:p>
            <a:pPr indent="0" lvl="0" marL="0" marR="0" rtl="0" algn="just">
              <a:lnSpc>
                <a:spcPct val="104000"/>
              </a:lnSpc>
              <a:spcBef>
                <a:spcPts val="0"/>
              </a:spcBef>
              <a:spcAft>
                <a:spcPts val="0"/>
              </a:spcAft>
              <a:buClr>
                <a:srgbClr val="000000"/>
              </a:buClr>
              <a:buSzPts val="6099"/>
              <a:buFont typeface="Arial"/>
              <a:buNone/>
            </a:pPr>
            <a:r>
              <a:t/>
            </a:r>
            <a:endParaRPr b="0" i="0" sz="6099" u="none" cap="none" strike="noStrike">
              <a:solidFill>
                <a:srgbClr val="131416"/>
              </a:solidFill>
              <a:latin typeface="Arial"/>
              <a:ea typeface="Arial"/>
              <a:cs typeface="Arial"/>
              <a:sym typeface="Arial"/>
            </a:endParaRPr>
          </a:p>
        </p:txBody>
      </p:sp>
      <p:sp>
        <p:nvSpPr>
          <p:cNvPr id="715" name="Google Shape;715;p43"/>
          <p:cNvSpPr txBox="1"/>
          <p:nvPr/>
        </p:nvSpPr>
        <p:spPr>
          <a:xfrm>
            <a:off x="5414714" y="5958103"/>
            <a:ext cx="6704991" cy="89852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000000"/>
              </a:buClr>
              <a:buSzPts val="5000"/>
              <a:buFont typeface="Arial"/>
              <a:buNone/>
            </a:pPr>
            <a:r>
              <a:rPr b="0" i="0" lang="en-US" sz="5000" u="none" cap="none" strike="noStrike">
                <a:solidFill>
                  <a:srgbClr val="131416"/>
                </a:solidFill>
                <a:latin typeface="Arial"/>
                <a:ea typeface="Arial"/>
                <a:cs typeface="Arial"/>
                <a:sym typeface="Arial"/>
              </a:rPr>
              <a:t>DUDAS</a:t>
            </a:r>
            <a:endParaRPr b="0" i="0" sz="1400" u="none" cap="none" strike="noStrike">
              <a:solidFill>
                <a:srgbClr val="000000"/>
              </a:solidFill>
              <a:latin typeface="Arial"/>
              <a:ea typeface="Arial"/>
              <a:cs typeface="Arial"/>
              <a:sym typeface="Arial"/>
            </a:endParaRPr>
          </a:p>
        </p:txBody>
      </p:sp>
      <p:sp>
        <p:nvSpPr>
          <p:cNvPr id="716" name="Google Shape;716;p43"/>
          <p:cNvSpPr/>
          <p:nvPr/>
        </p:nvSpPr>
        <p:spPr>
          <a:xfrm>
            <a:off x="13963751" y="1028700"/>
            <a:ext cx="2757268" cy="3770970"/>
          </a:xfrm>
          <a:custGeom>
            <a:rect b="b" l="l" r="r" t="t"/>
            <a:pathLst>
              <a:path extrusionOk="0" h="3770970" w="2757268">
                <a:moveTo>
                  <a:pt x="0" y="0"/>
                </a:moveTo>
                <a:lnTo>
                  <a:pt x="2757268" y="0"/>
                </a:lnTo>
                <a:lnTo>
                  <a:pt x="2757268" y="3770970"/>
                </a:lnTo>
                <a:lnTo>
                  <a:pt x="0" y="3770970"/>
                </a:lnTo>
                <a:lnTo>
                  <a:pt x="0" y="0"/>
                </a:lnTo>
                <a:close/>
              </a:path>
            </a:pathLst>
          </a:custGeom>
          <a:blipFill rotWithShape="1">
            <a:blip r:embed="rId3">
              <a:alphaModFix/>
            </a:blip>
            <a:stretch>
              <a:fillRect b="0" l="0" r="0" t="0"/>
            </a:stretch>
          </a:blipFill>
          <a:ln>
            <a:noFill/>
          </a:ln>
        </p:spPr>
      </p:sp>
      <p:sp>
        <p:nvSpPr>
          <p:cNvPr id="717" name="Google Shape;717;p43"/>
          <p:cNvSpPr txBox="1"/>
          <p:nvPr/>
        </p:nvSpPr>
        <p:spPr>
          <a:xfrm>
            <a:off x="2411098" y="7899735"/>
            <a:ext cx="13465804" cy="71945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000000"/>
              </a:buClr>
              <a:buSzPts val="2000"/>
              <a:buFont typeface="Arial"/>
              <a:buNone/>
            </a:pPr>
            <a:r>
              <a:rPr b="0" i="0" lang="en-US" sz="2000" u="none" cap="none" strike="noStrike">
                <a:solidFill>
                  <a:srgbClr val="131416"/>
                </a:solidFill>
                <a:latin typeface="Arial"/>
                <a:ea typeface="Arial"/>
                <a:cs typeface="Arial"/>
                <a:sym typeface="Arial"/>
              </a:rPr>
              <a:t>RECUERDA QUE TENEMOS NUESTRO FORO SEMANAL DONDE PUEDES CONSULTAR CUALQUIER DUDA QUE TE SURJA EN LA SEMANA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