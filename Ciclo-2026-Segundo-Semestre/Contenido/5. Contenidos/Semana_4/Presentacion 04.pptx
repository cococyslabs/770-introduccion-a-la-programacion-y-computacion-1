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acifico"/>
      <p:regular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Bd1eGIx666nZtNkhooiqBgz72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acifico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5" name="Google Shape;105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0" name="Google Shape;160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056312c4a_0_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b056312c4a_0_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4" name="Google Shape;174;g3b056312c4a_0_1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b056312c4a_0_1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b056312c4a_0_1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b056312c4a_0_1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056312c4a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b056312c4a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9" name="Google Shape;189;g3b056312c4a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056312c4a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b056312c4a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b056312c4a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5" name="Google Shape;21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056e2c252_0_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b056e2c252_0_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7" name="Google Shape;227;g3b056e2c252_0_2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b056e2c252_0_2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b056e2c252_0_2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b056e2c252_0_2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056e2c252_0_3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b056e2c252_0_3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9" name="Google Shape;239;g3b056e2c252_0_3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b056e2c252_0_3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b056e2c252_0_3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056e2c252_0_3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056e2c252_0_5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b056e2c252_0_5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1" name="Google Shape;251;g3b056e2c252_0_5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b056e2c252_0_5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b056e2c252_0_5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b056e2c252_0_5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056e2c252_0_6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b056e2c252_0_6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3" name="Google Shape;263;g3b056e2c252_0_6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b056e2c252_0_6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b056e2c252_0_6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b056e2c252_0_6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56e2c252_0_8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b056e2c252_0_8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5" name="Google Shape;275;g3b056e2c252_0_8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b056e2c252_0_8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b056e2c252_0_8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b056e2c252_0_8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056e2c252_0_9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b056e2c252_0_9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7" name="Google Shape;287;g3b056e2c252_0_9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b056e2c252_0_9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b056e2c252_0_9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b056e2c252_0_9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9" name="Google Shape;299;p2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056e2c252_0_10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b056e2c252_0_10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0" name="Google Shape;310;g3b056e2c252_0_10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b056e2c252_0_10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b056e2c252_0_10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b056e2c252_0_10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3" name="Google Shape;323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2541309" y="0"/>
            <a:ext cx="5746718" cy="1711738"/>
          </a:xfrm>
          <a:custGeom>
            <a:rect b="b" l="l" r="r" t="t"/>
            <a:pathLst>
              <a:path extrusionOk="0" h="2282317" w="7662291">
                <a:moveTo>
                  <a:pt x="0" y="0"/>
                </a:moveTo>
                <a:lnTo>
                  <a:pt x="7662291" y="0"/>
                </a:lnTo>
                <a:lnTo>
                  <a:pt x="7662291" y="2282317"/>
                </a:lnTo>
                <a:lnTo>
                  <a:pt x="0" y="2282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1081353" y="284324"/>
            <a:ext cx="11459956" cy="2018550"/>
            <a:chOff x="0" y="-228600"/>
            <a:chExt cx="17457600" cy="26914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7457600" cy="2462800"/>
            </a:xfrm>
            <a:custGeom>
              <a:rect b="b" l="l" r="r" t="t"/>
              <a:pathLst>
                <a:path extrusionOk="0" h="2462800" w="17457600">
                  <a:moveTo>
                    <a:pt x="0" y="0"/>
                  </a:moveTo>
                  <a:lnTo>
                    <a:pt x="17457600" y="0"/>
                  </a:lnTo>
                  <a:lnTo>
                    <a:pt x="17457600" y="2462800"/>
                  </a:lnTo>
                  <a:lnTo>
                    <a:pt x="0" y="246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228600"/>
              <a:ext cx="17457600" cy="26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1" i="0" lang="en-US" sz="49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Introducción a la Programación y Computación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2687399" y="3701337"/>
            <a:ext cx="13860001" cy="2813209"/>
            <a:chOff x="0" y="-285750"/>
            <a:chExt cx="18480001" cy="3750944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8480001" cy="3465194"/>
            </a:xfrm>
            <a:custGeom>
              <a:rect b="b" l="l" r="r" t="t"/>
              <a:pathLst>
                <a:path extrusionOk="0" h="3465194" w="18480001">
                  <a:moveTo>
                    <a:pt x="0" y="0"/>
                  </a:moveTo>
                  <a:lnTo>
                    <a:pt x="18480001" y="0"/>
                  </a:lnTo>
                  <a:lnTo>
                    <a:pt x="18480001" y="3465194"/>
                  </a:lnTo>
                  <a:lnTo>
                    <a:pt x="0" y="34651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285750"/>
              <a:ext cx="18480000" cy="3750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99"/>
                <a:buFont typeface="Arial"/>
                <a:buNone/>
              </a:pPr>
              <a:r>
                <a:rPr b="1" lang="en-US" sz="61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Fundamentos del Lenguaje y Entorno de Desarrollo</a:t>
              </a:r>
              <a:endParaRPr b="1" i="0" sz="6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1081353" y="8455051"/>
            <a:ext cx="6981300" cy="1547625"/>
            <a:chOff x="0" y="-114300"/>
            <a:chExt cx="9308400" cy="20635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9308400" cy="1949200"/>
            </a:xfrm>
            <a:custGeom>
              <a:rect b="b" l="l" r="r" t="t"/>
              <a:pathLst>
                <a:path extrusionOk="0" h="1949200" w="9308400">
                  <a:moveTo>
                    <a:pt x="0" y="0"/>
                  </a:moveTo>
                  <a:lnTo>
                    <a:pt x="9308400" y="0"/>
                  </a:lnTo>
                  <a:lnTo>
                    <a:pt x="9308400" y="1949200"/>
                  </a:lnTo>
                  <a:lnTo>
                    <a:pt x="0" y="194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-114300"/>
              <a:ext cx="9308400" cy="20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Ciencias Y Sistemas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349650" y="4383037"/>
            <a:ext cx="9827590" cy="1002729"/>
            <a:chOff x="0" y="-209550"/>
            <a:chExt cx="13103453" cy="1336971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3103453" cy="1127421"/>
            </a:xfrm>
            <a:custGeom>
              <a:rect b="b" l="l" r="r" t="t"/>
              <a:pathLst>
                <a:path extrusionOk="0" h="1127421" w="13103453">
                  <a:moveTo>
                    <a:pt x="0" y="0"/>
                  </a:moveTo>
                  <a:lnTo>
                    <a:pt x="13103453" y="0"/>
                  </a:lnTo>
                  <a:lnTo>
                    <a:pt x="13103453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209550"/>
              <a:ext cx="13103453" cy="1336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Introducción a Java: ¿Qué es?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866989" y="2856821"/>
            <a:ext cx="3681207" cy="1713646"/>
            <a:chOff x="0" y="-209550"/>
            <a:chExt cx="4908276" cy="2284862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209550"/>
              <a:ext cx="4908276" cy="22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" l="0" r="0" t="-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380356" y="99554"/>
            <a:ext cx="7894893" cy="5241017"/>
            <a:chOff x="-246123" y="-257175"/>
            <a:chExt cx="10526524" cy="6988023"/>
          </a:xfrm>
        </p:grpSpPr>
        <p:sp>
          <p:nvSpPr>
            <p:cNvPr id="121" name="Google Shape;121;p2"/>
            <p:cNvSpPr/>
            <p:nvPr/>
          </p:nvSpPr>
          <p:spPr>
            <a:xfrm>
              <a:off x="-246123" y="1307948"/>
              <a:ext cx="10280401" cy="5422900"/>
            </a:xfrm>
            <a:custGeom>
              <a:rect b="b" l="l" r="r" t="t"/>
              <a:pathLst>
                <a:path extrusionOk="0" h="5422900" w="10280401">
                  <a:moveTo>
                    <a:pt x="0" y="0"/>
                  </a:moveTo>
                  <a:lnTo>
                    <a:pt x="10280401" y="0"/>
                  </a:lnTo>
                  <a:lnTo>
                    <a:pt x="10280401" y="5422900"/>
                  </a:lnTo>
                  <a:lnTo>
                    <a:pt x="0" y="542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257175"/>
              <a:ext cx="10280401" cy="568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799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acifico"/>
                  <a:ea typeface="Pacifico"/>
                  <a:cs typeface="Pacifico"/>
                  <a:sym typeface="Pacifico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1727217" y="5170650"/>
            <a:ext cx="8096183" cy="1002826"/>
            <a:chOff x="0" y="-209543"/>
            <a:chExt cx="10794911" cy="13371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9429941" cy="1127421"/>
            </a:xfrm>
            <a:custGeom>
              <a:rect b="b" l="l" r="r" t="t"/>
              <a:pathLst>
                <a:path extrusionOk="0" h="1127421" w="9429941">
                  <a:moveTo>
                    <a:pt x="0" y="0"/>
                  </a:moveTo>
                  <a:lnTo>
                    <a:pt x="9429941" y="0"/>
                  </a:lnTo>
                  <a:lnTo>
                    <a:pt x="9429941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11" y="-209543"/>
              <a:ext cx="107949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La Máquina Virtual y el Entorno (JDK, JRE, JVM).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176625" y="6604851"/>
            <a:ext cx="5805583" cy="666369"/>
          </a:xfrm>
          <a:custGeom>
            <a:rect b="b" l="l" r="r" t="t"/>
            <a:pathLst>
              <a:path extrusionOk="0" h="888492" w="7740777">
                <a:moveTo>
                  <a:pt x="6940042" y="0"/>
                </a:moveTo>
                <a:lnTo>
                  <a:pt x="0" y="0"/>
                </a:lnTo>
                <a:lnTo>
                  <a:pt x="0" y="888492"/>
                </a:lnTo>
                <a:lnTo>
                  <a:pt x="6940042" y="888492"/>
                </a:lnTo>
                <a:lnTo>
                  <a:pt x="7740777" y="444246"/>
                </a:lnTo>
                <a:lnTo>
                  <a:pt x="694004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2360800" y="6066275"/>
            <a:ext cx="6575850" cy="1002826"/>
            <a:chOff x="0" y="-209547"/>
            <a:chExt cx="8767800" cy="133710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7740387" cy="1127424"/>
            </a:xfrm>
            <a:custGeom>
              <a:rect b="b" l="l" r="r" t="t"/>
              <a:pathLst>
                <a:path extrusionOk="0" h="1127424" w="7740387">
                  <a:moveTo>
                    <a:pt x="0" y="0"/>
                  </a:moveTo>
                  <a:lnTo>
                    <a:pt x="7740387" y="0"/>
                  </a:lnTo>
                  <a:lnTo>
                    <a:pt x="7740387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209547"/>
              <a:ext cx="87678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799"/>
                <a:t>Características principales del lenguaje.</a:t>
              </a:r>
              <a:endParaRPr sz="2799"/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148712" y="7528433"/>
            <a:ext cx="8213408" cy="666369"/>
          </a:xfrm>
          <a:custGeom>
            <a:rect b="b" l="l" r="r" t="t"/>
            <a:pathLst>
              <a:path extrusionOk="0" h="888492" w="10951210">
                <a:moveTo>
                  <a:pt x="9818243" y="0"/>
                </a:moveTo>
                <a:lnTo>
                  <a:pt x="0" y="0"/>
                </a:lnTo>
                <a:lnTo>
                  <a:pt x="0" y="888492"/>
                </a:lnTo>
                <a:lnTo>
                  <a:pt x="9818243" y="888492"/>
                </a:lnTo>
                <a:lnTo>
                  <a:pt x="10951210" y="444246"/>
                </a:lnTo>
                <a:lnTo>
                  <a:pt x="981824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1332012" y="7192111"/>
            <a:ext cx="8058586" cy="1002731"/>
            <a:chOff x="0" y="-209550"/>
            <a:chExt cx="10744782" cy="1336974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0744782" cy="1127424"/>
            </a:xfrm>
            <a:custGeom>
              <a:rect b="b" l="l" r="r" t="t"/>
              <a:pathLst>
                <a:path extrusionOk="0" h="1127424" w="10744782">
                  <a:moveTo>
                    <a:pt x="0" y="0"/>
                  </a:moveTo>
                  <a:lnTo>
                    <a:pt x="10744782" y="0"/>
                  </a:lnTo>
                  <a:lnTo>
                    <a:pt x="10744782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209550"/>
              <a:ext cx="10744782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Sintaxis básica: Comentarios y Variables.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453114" y="8591895"/>
            <a:ext cx="12167330" cy="666369"/>
          </a:xfrm>
          <a:custGeom>
            <a:rect b="b" l="l" r="r" t="t"/>
            <a:pathLst>
              <a:path extrusionOk="0" h="888492" w="16223107">
                <a:moveTo>
                  <a:pt x="14544802" y="0"/>
                </a:moveTo>
                <a:lnTo>
                  <a:pt x="0" y="0"/>
                </a:lnTo>
                <a:lnTo>
                  <a:pt x="0" y="888492"/>
                </a:lnTo>
                <a:lnTo>
                  <a:pt x="14544802" y="888492"/>
                </a:lnTo>
                <a:lnTo>
                  <a:pt x="16223107" y="444246"/>
                </a:lnTo>
                <a:lnTo>
                  <a:pt x="14544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2"/>
          <p:cNvGrpSpPr/>
          <p:nvPr/>
        </p:nvGrpSpPr>
        <p:grpSpPr>
          <a:xfrm>
            <a:off x="-12700" y="8255762"/>
            <a:ext cx="11458587" cy="1002694"/>
            <a:chOff x="0" y="-209550"/>
            <a:chExt cx="15278116" cy="1336926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5278116" cy="1127376"/>
            </a:xfrm>
            <a:custGeom>
              <a:rect b="b" l="l" r="r" t="t"/>
              <a:pathLst>
                <a:path extrusionOk="0" h="1127376" w="15278116">
                  <a:moveTo>
                    <a:pt x="0" y="0"/>
                  </a:moveTo>
                  <a:lnTo>
                    <a:pt x="15278116" y="0"/>
                  </a:lnTo>
                  <a:lnTo>
                    <a:pt x="15278116" y="1127376"/>
                  </a:lnTo>
                  <a:lnTo>
                    <a:pt x="0" y="1127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0" y="-209550"/>
              <a:ext cx="15278115" cy="1336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799"/>
                <a:t>Tipos de datos (Primitivos y No primitivos).</a:t>
              </a:r>
              <a:endParaRPr sz="2799"/>
            </a:p>
          </p:txBody>
        </p:sp>
      </p:grpSp>
      <p:sp>
        <p:nvSpPr>
          <p:cNvPr id="139" name="Google Shape;139;p2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78654" y="66048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78654" y="760463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78654" y="860554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0177169" y="4699461"/>
            <a:ext cx="4613625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2"/>
          <p:cNvGrpSpPr/>
          <p:nvPr/>
        </p:nvGrpSpPr>
        <p:grpSpPr>
          <a:xfrm>
            <a:off x="10879200" y="4429425"/>
            <a:ext cx="6229699" cy="1002826"/>
            <a:chOff x="0" y="-147667"/>
            <a:chExt cx="8306267" cy="1337100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6151038" cy="1127424"/>
            </a:xfrm>
            <a:custGeom>
              <a:rect b="b" l="l" r="r" t="t"/>
              <a:pathLst>
                <a:path extrusionOk="0" h="1127424" w="6151038">
                  <a:moveTo>
                    <a:pt x="0" y="0"/>
                  </a:moveTo>
                  <a:lnTo>
                    <a:pt x="6151038" y="0"/>
                  </a:lnTo>
                  <a:lnTo>
                    <a:pt x="6151038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755567" y="-147667"/>
              <a:ext cx="75507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Conversión de tipos (Casteo).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"/>
          <p:cNvSpPr/>
          <p:nvPr/>
        </p:nvSpPr>
        <p:spPr>
          <a:xfrm>
            <a:off x="1072190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0019869" y="5632375"/>
            <a:ext cx="4613624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10638213" y="5385767"/>
            <a:ext cx="7818987" cy="1295109"/>
            <a:chOff x="0" y="0"/>
            <a:chExt cx="10425316" cy="1726811"/>
          </a:xfrm>
        </p:grpSpPr>
        <p:sp>
          <p:nvSpPr>
            <p:cNvPr id="150" name="Google Shape;150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716116" y="11"/>
              <a:ext cx="9709200" cy="17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Operadores (Aritméticos, Relacionales y Lógicos).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"/>
          <p:cNvSpPr/>
          <p:nvPr/>
        </p:nvSpPr>
        <p:spPr>
          <a:xfrm>
            <a:off x="10721904" y="56733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2"/>
          <p:cNvGrpSpPr/>
          <p:nvPr/>
        </p:nvGrpSpPr>
        <p:grpSpPr>
          <a:xfrm>
            <a:off x="10807663" y="7604617"/>
            <a:ext cx="5620163" cy="1014038"/>
            <a:chOff x="0" y="0"/>
            <a:chExt cx="7493550" cy="1352050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699750" y="14950"/>
              <a:ext cx="67938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-US" sz="2799"/>
                <a:t>Entrada y Salida de datos.</a:t>
              </a:r>
              <a:endParaRPr sz="2799"/>
            </a:p>
          </p:txBody>
        </p:sp>
      </p:grpSp>
      <p:sp>
        <p:nvSpPr>
          <p:cNvPr id="156" name="Google Shape;156;p2"/>
          <p:cNvSpPr/>
          <p:nvPr/>
        </p:nvSpPr>
        <p:spPr>
          <a:xfrm>
            <a:off x="10891354" y="7892192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3"/>
          <p:cNvGrpSpPr/>
          <p:nvPr/>
        </p:nvGrpSpPr>
        <p:grpSpPr>
          <a:xfrm>
            <a:off x="1406936" y="593342"/>
            <a:ext cx="13991101" cy="1256147"/>
            <a:chOff x="0" y="-209550"/>
            <a:chExt cx="18654801" cy="1674862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18654801" cy="1465312"/>
            </a:xfrm>
            <a:custGeom>
              <a:rect b="b" l="l" r="r" t="t"/>
              <a:pathLst>
                <a:path extrusionOk="0" h="1465312" w="18654801">
                  <a:moveTo>
                    <a:pt x="0" y="0"/>
                  </a:moveTo>
                  <a:lnTo>
                    <a:pt x="18654801" y="0"/>
                  </a:lnTo>
                  <a:lnTo>
                    <a:pt x="186548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209550"/>
              <a:ext cx="18654800" cy="167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b="0" i="0" lang="en-US" sz="6098" u="none" cap="none" strike="noStrike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Competencias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2202100" y="3187428"/>
            <a:ext cx="14916375" cy="5442300"/>
            <a:chOff x="-3" y="-133330"/>
            <a:chExt cx="19888500" cy="7256400"/>
          </a:xfrm>
        </p:grpSpPr>
        <p:sp>
          <p:nvSpPr>
            <p:cNvPr id="169" name="Google Shape;169;p3"/>
            <p:cNvSpPr/>
            <p:nvPr/>
          </p:nvSpPr>
          <p:spPr>
            <a:xfrm>
              <a:off x="0" y="0"/>
              <a:ext cx="19322400" cy="5788000"/>
            </a:xfrm>
            <a:custGeom>
              <a:rect b="b" l="l" r="r" t="t"/>
              <a:pathLst>
                <a:path extrusionOk="0" h="5788000" w="19322400">
                  <a:moveTo>
                    <a:pt x="0" y="0"/>
                  </a:moveTo>
                  <a:lnTo>
                    <a:pt x="19322400" y="0"/>
                  </a:lnTo>
                  <a:lnTo>
                    <a:pt x="19322400" y="5788000"/>
                  </a:lnTo>
                  <a:lnTo>
                    <a:pt x="0" y="578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-3" y="-133330"/>
              <a:ext cx="19888500" cy="72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Al finalizar esta unidad, el estudiante será capaz de:</a:t>
              </a:r>
              <a:endParaRPr b="1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Distinguir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los componentes del entorno de desarrollo de Java (JDK, JRE y JVM) y su función en la ejecución del código.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Aplicar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la sintaxis básica para declarar variables y utilizar los tipos de datos adecuados según la necesidad.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operaciones lógicas y aritméticas para la resolución de expresiones computacionales.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Desarrollar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programas simples que interactúen con el usuario mediante la entrada y salida de datos por consola.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68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g3b056312c4a_0_19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180" name="Google Shape;180;g3b056312c4a_0_19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g3b056312c4a_0_19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¿Qué es Java?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g3b056312c4a_0_19"/>
          <p:cNvGrpSpPr/>
          <p:nvPr/>
        </p:nvGrpSpPr>
        <p:grpSpPr>
          <a:xfrm>
            <a:off x="1374903" y="2398856"/>
            <a:ext cx="15864600" cy="4799700"/>
            <a:chOff x="0" y="-314325"/>
            <a:chExt cx="21152800" cy="6399600"/>
          </a:xfrm>
        </p:grpSpPr>
        <p:sp>
          <p:nvSpPr>
            <p:cNvPr id="183" name="Google Shape;183;g3b056312c4a_0_19"/>
            <p:cNvSpPr/>
            <p:nvPr/>
          </p:nvSpPr>
          <p:spPr>
            <a:xfrm>
              <a:off x="0" y="0"/>
              <a:ext cx="21152800" cy="6085264"/>
            </a:xfrm>
            <a:custGeom>
              <a:rect b="b" l="l" r="r" t="t"/>
              <a:pathLst>
                <a:path extrusionOk="0" h="6085264" w="21152800">
                  <a:moveTo>
                    <a:pt x="0" y="0"/>
                  </a:moveTo>
                  <a:lnTo>
                    <a:pt x="21152800" y="0"/>
                  </a:lnTo>
                  <a:lnTo>
                    <a:pt x="21152800" y="6085264"/>
                  </a:lnTo>
                  <a:lnTo>
                    <a:pt x="0" y="6085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g3b056312c4a_0_19"/>
            <p:cNvSpPr txBox="1"/>
            <p:nvPr/>
          </p:nvSpPr>
          <p:spPr>
            <a:xfrm>
              <a:off x="0" y="-314325"/>
              <a:ext cx="21152700" cy="6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25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416"/>
                </a:buClr>
                <a:buSzPts val="3100"/>
                <a:buChar char="•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Definición: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Es un lenguaje de programación de alto nivel, orientado a objetos y diseñado para tener la menor cantidad de dependencias de implementación posibles.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416"/>
                </a:buClr>
                <a:buSzPts val="3100"/>
                <a:buChar char="•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Filosofía: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"Write Once, Run Anywhere" (Escribe una vez, ejecuta en cualquier lugar). Esto significa que el código compilado en una máquina puede correr en cualquier otra que soporte Java.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416"/>
                </a:buClr>
                <a:buSzPts val="3100"/>
                <a:buChar char="•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Historia: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Creado por Sun Microsystems (ahora Oracle) en 1995.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4"/>
                <a:buFont typeface="Arial"/>
                <a:buNone/>
              </a:pPr>
              <a:r>
                <a:t/>
              </a:r>
              <a:endParaRPr i="0" sz="3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1" marL="401463" marR="0" rtl="0" algn="l">
                <a:lnSpc>
                  <a:spcPct val="20763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24"/>
                <a:buFont typeface="Arial"/>
                <a:buNone/>
              </a:pPr>
              <a:r>
                <a:t/>
              </a:r>
              <a:endParaRPr b="0" i="0" sz="302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5" name="Google Shape;185;g3b056312c4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9650" y="6435806"/>
            <a:ext cx="4948700" cy="2783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g3b056312c4a_0_0"/>
          <p:cNvGrpSpPr/>
          <p:nvPr/>
        </p:nvGrpSpPr>
        <p:grpSpPr>
          <a:xfrm>
            <a:off x="1406936" y="593342"/>
            <a:ext cx="13991175" cy="1256175"/>
            <a:chOff x="0" y="-209550"/>
            <a:chExt cx="18654900" cy="1674900"/>
          </a:xfrm>
        </p:grpSpPr>
        <p:sp>
          <p:nvSpPr>
            <p:cNvPr id="195" name="Google Shape;195;g3b056312c4a_0_0"/>
            <p:cNvSpPr/>
            <p:nvPr/>
          </p:nvSpPr>
          <p:spPr>
            <a:xfrm>
              <a:off x="0" y="0"/>
              <a:ext cx="18654801" cy="1465312"/>
            </a:xfrm>
            <a:custGeom>
              <a:rect b="b" l="l" r="r" t="t"/>
              <a:pathLst>
                <a:path extrusionOk="0" h="1465312" w="18654801">
                  <a:moveTo>
                    <a:pt x="0" y="0"/>
                  </a:moveTo>
                  <a:lnTo>
                    <a:pt x="18654801" y="0"/>
                  </a:lnTo>
                  <a:lnTo>
                    <a:pt x="186548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b056312c4a_0_0"/>
            <p:cNvSpPr txBox="1"/>
            <p:nvPr/>
          </p:nvSpPr>
          <p:spPr>
            <a:xfrm>
              <a:off x="0" y="-209550"/>
              <a:ext cx="186549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Versiones y Ambientes (La Arquitectura)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g3b056312c4a_0_0"/>
          <p:cNvSpPr txBox="1"/>
          <p:nvPr/>
        </p:nvSpPr>
        <p:spPr>
          <a:xfrm>
            <a:off x="964950" y="1849525"/>
            <a:ext cx="10069500" cy="6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JVM (Java Virtual Machine):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Es el motor que ejecuta el código. Traduce el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bytecode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 Java al lenguaje máquina específico de tu computadora.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JRE (Java Runtime Environment):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Incluye la JVM y las bibliotecas necesarias para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correr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programas, pero no para programarlos.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JDK (Java Development Kit):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Es el kit completo. Incluye el JRE más las herramientas para desarrolladores (compilador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javac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depurador, etc.).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Nota clave: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Para programar necesitas instalar el </a:t>
            </a: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JDK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g3b056312c4a_0_0"/>
          <p:cNvSpPr txBox="1"/>
          <p:nvPr/>
        </p:nvSpPr>
        <p:spPr>
          <a:xfrm>
            <a:off x="12779925" y="1918550"/>
            <a:ext cx="29148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de JVM: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g3b056312c4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7700" y="3020125"/>
            <a:ext cx="6600525" cy="50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/>
          <p:nvPr/>
        </p:nvSpPr>
        <p:spPr>
          <a:xfrm>
            <a:off x="1374900" y="2123500"/>
            <a:ext cx="14889301" cy="6087948"/>
          </a:xfrm>
          <a:custGeom>
            <a:rect b="b" l="l" r="r" t="t"/>
            <a:pathLst>
              <a:path extrusionOk="0" h="8117264" w="19852401">
                <a:moveTo>
                  <a:pt x="0" y="0"/>
                </a:moveTo>
                <a:lnTo>
                  <a:pt x="19852401" y="0"/>
                </a:lnTo>
                <a:lnTo>
                  <a:pt x="19852401" y="8117264"/>
                </a:lnTo>
                <a:lnTo>
                  <a:pt x="0" y="8117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Orientado a Objetos: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Todo en Java se modela como objetos con atributos y comportamientos.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Simple: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Elimina complejidades de lenguajes anteriores (como la gestión manual de memoria de C++).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Seguro: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Tiene fuertes mecanismos de tipado y control de acceso a memoria.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Robusto: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Manejo estricto de errores y recolección de basura automática (Garbage Collection).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Multihilo: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Permite ejecutar varias tareas simultáneamente.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4"/>
          <p:cNvGrpSpPr/>
          <p:nvPr/>
        </p:nvGrpSpPr>
        <p:grpSpPr>
          <a:xfrm>
            <a:off x="1374889" y="497201"/>
            <a:ext cx="13991101" cy="1256147"/>
            <a:chOff x="0" y="-209550"/>
            <a:chExt cx="18654801" cy="1674862"/>
          </a:xfrm>
        </p:grpSpPr>
        <p:sp>
          <p:nvSpPr>
            <p:cNvPr id="210" name="Google Shape;210;p4"/>
            <p:cNvSpPr/>
            <p:nvPr/>
          </p:nvSpPr>
          <p:spPr>
            <a:xfrm>
              <a:off x="0" y="0"/>
              <a:ext cx="18654801" cy="1465312"/>
            </a:xfrm>
            <a:custGeom>
              <a:rect b="b" l="l" r="r" t="t"/>
              <a:pathLst>
                <a:path extrusionOk="0" h="1465312" w="18654801">
                  <a:moveTo>
                    <a:pt x="0" y="0"/>
                  </a:moveTo>
                  <a:lnTo>
                    <a:pt x="18654801" y="0"/>
                  </a:lnTo>
                  <a:lnTo>
                    <a:pt x="186548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0" y="-209550"/>
              <a:ext cx="18654800" cy="167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Características de Java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1392603" y="1973975"/>
            <a:ext cx="15502800" cy="3173984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Los comentarios son ignorados por el compilador y sirven para documentar el código.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Comentario de una línea: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Se usa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//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Ejemplo: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// Esto es una variable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Comentario multilínea: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Se usa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/* ... */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b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</a:t>
            </a:r>
            <a:b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/* Este es un comentario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que ocupa varias líneas */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5"/>
          <p:cNvGrpSpPr/>
          <p:nvPr/>
        </p:nvGrpSpPr>
        <p:grpSpPr>
          <a:xfrm>
            <a:off x="1374901" y="497213"/>
            <a:ext cx="15288901" cy="1256147"/>
            <a:chOff x="0" y="-209550"/>
            <a:chExt cx="20385201" cy="1674862"/>
          </a:xfrm>
        </p:grpSpPr>
        <p:sp>
          <p:nvSpPr>
            <p:cNvPr id="222" name="Google Shape;222;p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0" y="-209550"/>
              <a:ext cx="20385200" cy="167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Comentarios en el Código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056e2c252_0_25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Definición: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Una variable es un espacio en memoria reservado para almacenar un valor que puede cambiar durante la ejecución.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Sintaxis: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tipo nombre = valor;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Ejemplos: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 edad = 25;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 precio = 10.50;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String nombre = "Juan";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g3b056e2c252_0_25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34" name="Google Shape;234;g3b056e2c252_0_2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b056e2c252_0_25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Variables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056e2c252_0_38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Tipos Primitivos (Almacenan valores simples):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Enteros: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byte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short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long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Decimales: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float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Carácter: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char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(un solo símbolo, ej: 'A').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Lógico: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boolean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(true o false).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Tipos No Primitivos (Referencia):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AutoNum type="alphaLcPeriod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Almacenan direcciones de memoria de objetos.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más común es </a:t>
            </a: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String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(cadena de texto).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AutoNum type="alphaLcPeriod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También incluye Arrays y Clases creadas por el usuario.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g3b056e2c252_0_38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46" name="Google Shape;246;g3b056e2c252_0_38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g3b056e2c252_0_38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Tipos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056e2c252_0_55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Casteo Implícito (Automático):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Ocurre al pasar de un tipo pequeño a uno más grande (no hay pérdida de datos).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-&gt;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Casteo Explícito (Manual):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Se requiere cuando pasamos de un tipo grande a uno pequeño (puede haber pérdida de precisión).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Ejemplo: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 x = 9.78; int y = (int) x;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(El valor será 9).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g3b056e2c252_0_55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58" name="Google Shape;258;g3b056e2c252_0_5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b056e2c252_0_55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Casteos (Conversión de Tipos)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056e2c252_0_69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Aritméticos: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Suma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Resta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Multiplicación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División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Módulo/Residuo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Relacionales: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Mayor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Menor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Igual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==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Diferente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!=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 Devuelven un booleano.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Lógicos: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&amp;&amp;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(AND): Verdadero si ambos son verdaderos.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||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(OR): Verdadero si al menos uno es verdadero.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(NOT): Invierte el valor.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" name="Google Shape;269;g3b056e2c252_0_69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70" name="Google Shape;270;g3b056e2c252_0_69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g3b056e2c252_0_69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Operadores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056e2c252_0_82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Output (Salida):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Para mostrar información en consola.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System.out.println("Hola Mundo");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(Imprime con salto de línea).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System.out.print("Hola");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(Imprime sin salto de línea).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 consejo para ahorrar tiempo, es poder usar la abreviación “sout” para que se autocomplete toda la sentencia.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(Entrada):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Para recibir datos del usuario se usa la clase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Scanner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Scanner scanner = new Scanner(System.in);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 numero = scanner.nextInt();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g3b056e2c252_0_82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82" name="Google Shape;282;g3b056e2c252_0_82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g3b056e2c252_0_82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Input y Output (Entrada y Salida)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056e2c252_0_95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Precisión: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Escribir código respetando estrictamente la sintaxis (puntos y comas, llaves) para evitar errores de compilación.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Claridad: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Usar nombres de variables descriptivos (ej: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salarioTotal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en lugar de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para que el código sea legible por otros.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Curiosidad: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Experimentar con diferentes tipos de datos y operadores para comprender sus límites y comportamientos.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g3b056e2c252_0_95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94" name="Google Shape;294;g3b056e2c252_0_9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g3b056e2c252_0_95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Valores y Actitudes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2"/>
          <p:cNvGrpSpPr/>
          <p:nvPr/>
        </p:nvGrpSpPr>
        <p:grpSpPr>
          <a:xfrm>
            <a:off x="4487895" y="3966084"/>
            <a:ext cx="9312212" cy="1926649"/>
            <a:chOff x="0" y="-285750"/>
            <a:chExt cx="6214547" cy="1285758"/>
          </a:xfrm>
        </p:grpSpPr>
        <p:sp>
          <p:nvSpPr>
            <p:cNvPr id="305" name="Google Shape;305;p22"/>
            <p:cNvSpPr/>
            <p:nvPr/>
          </p:nvSpPr>
          <p:spPr>
            <a:xfrm>
              <a:off x="0" y="0"/>
              <a:ext cx="6214547" cy="1000008"/>
            </a:xfrm>
            <a:custGeom>
              <a:rect b="b" l="l" r="r" t="t"/>
              <a:pathLst>
                <a:path extrusionOk="0" h="1000008" w="6214547">
                  <a:moveTo>
                    <a:pt x="0" y="0"/>
                  </a:moveTo>
                  <a:lnTo>
                    <a:pt x="6214547" y="0"/>
                  </a:lnTo>
                  <a:lnTo>
                    <a:pt x="6214547" y="1000008"/>
                  </a:lnTo>
                  <a:lnTo>
                    <a:pt x="0" y="10000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0" y="-285750"/>
              <a:ext cx="6214546" cy="1285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55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97"/>
                <a:buFont typeface="Arial"/>
                <a:buNone/>
              </a:pPr>
              <a:r>
                <a:rPr b="0" i="0" lang="en-US" sz="8297" u="none" cap="none" strike="noStrike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Conclusiones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056e2c252_0_108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Oracle.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(2024).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Java™ Tutorials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Oracle Documentation.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Deitel, P., &amp; Deitel, H.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(2017).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Java: Cómo programar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Pearson Educación.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Eck, D. J.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(2022).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Introduction to Programming Using Java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Hobart and William Smith Colleges.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" name="Google Shape;316;g3b056e2c252_0_108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317" name="Google Shape;317;g3b056e2c252_0_108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g3b056e2c252_0_108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Referencias Bibliográficas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9" name="Google Shape;319;g3b056e2c252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738" y="5447994"/>
            <a:ext cx="8686515" cy="43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3"/>
          <p:cNvGrpSpPr/>
          <p:nvPr/>
        </p:nvGrpSpPr>
        <p:grpSpPr>
          <a:xfrm>
            <a:off x="4437795" y="3274804"/>
            <a:ext cx="8658900" cy="2029500"/>
            <a:chOff x="0" y="-152400"/>
            <a:chExt cx="11545200" cy="2706000"/>
          </a:xfrm>
        </p:grpSpPr>
        <p:sp>
          <p:nvSpPr>
            <p:cNvPr id="329" name="Google Shape;329;p23"/>
            <p:cNvSpPr/>
            <p:nvPr/>
          </p:nvSpPr>
          <p:spPr>
            <a:xfrm>
              <a:off x="0" y="0"/>
              <a:ext cx="11545200" cy="2553600"/>
            </a:xfrm>
            <a:custGeom>
              <a:rect b="b" l="l" r="r" t="t"/>
              <a:pathLst>
                <a:path extrusionOk="0" h="2553600" w="11545200">
                  <a:moveTo>
                    <a:pt x="0" y="0"/>
                  </a:moveTo>
                  <a:lnTo>
                    <a:pt x="11545200" y="0"/>
                  </a:lnTo>
                  <a:lnTo>
                    <a:pt x="11545200" y="2553600"/>
                  </a:lnTo>
                  <a:lnTo>
                    <a:pt x="0" y="25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0" y="-152400"/>
              <a:ext cx="11545200" cy="27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48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b="0" i="0" lang="en-US" sz="6098" u="none" cap="none" strike="noStrike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¡GRACIAS POR SU  ATENCIÓN!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2864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t/>
              </a:r>
              <a:endParaRPr b="0" i="0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331" name="Google Shape;331;p23"/>
          <p:cNvGrpSpPr/>
          <p:nvPr/>
        </p:nvGrpSpPr>
        <p:grpSpPr>
          <a:xfrm>
            <a:off x="5414714" y="5679497"/>
            <a:ext cx="6704991" cy="1177131"/>
            <a:chOff x="0" y="-371475"/>
            <a:chExt cx="8939988" cy="1569508"/>
          </a:xfrm>
        </p:grpSpPr>
        <p:sp>
          <p:nvSpPr>
            <p:cNvPr id="332" name="Google Shape;332;p23"/>
            <p:cNvSpPr/>
            <p:nvPr/>
          </p:nvSpPr>
          <p:spPr>
            <a:xfrm>
              <a:off x="0" y="0"/>
              <a:ext cx="8939988" cy="1198033"/>
            </a:xfrm>
            <a:custGeom>
              <a:rect b="b" l="l" r="r" t="t"/>
              <a:pathLst>
                <a:path extrusionOk="0" h="1198033" w="8939988">
                  <a:moveTo>
                    <a:pt x="0" y="0"/>
                  </a:moveTo>
                  <a:lnTo>
                    <a:pt x="8939988" y="0"/>
                  </a:lnTo>
                  <a:lnTo>
                    <a:pt x="8939988" y="1198033"/>
                  </a:lnTo>
                  <a:lnTo>
                    <a:pt x="0" y="1198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3"/>
            <p:cNvSpPr txBox="1"/>
            <p:nvPr/>
          </p:nvSpPr>
          <p:spPr>
            <a:xfrm>
              <a:off x="0" y="-371475"/>
              <a:ext cx="8939988" cy="15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" name="Google Shape;334;p23"/>
          <p:cNvSpPr/>
          <p:nvPr/>
        </p:nvSpPr>
        <p:spPr>
          <a:xfrm>
            <a:off x="13963751" y="1028700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" r="-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p23"/>
          <p:cNvGrpSpPr/>
          <p:nvPr/>
        </p:nvGrpSpPr>
        <p:grpSpPr>
          <a:xfrm>
            <a:off x="2411098" y="7785435"/>
            <a:ext cx="13465804" cy="833755"/>
            <a:chOff x="0" y="-152400"/>
            <a:chExt cx="17954405" cy="1111673"/>
          </a:xfrm>
        </p:grpSpPr>
        <p:sp>
          <p:nvSpPr>
            <p:cNvPr id="336" name="Google Shape;336;p23"/>
            <p:cNvSpPr/>
            <p:nvPr/>
          </p:nvSpPr>
          <p:spPr>
            <a:xfrm>
              <a:off x="0" y="0"/>
              <a:ext cx="17954405" cy="959273"/>
            </a:xfrm>
            <a:custGeom>
              <a:rect b="b" l="l" r="r" t="t"/>
              <a:pathLst>
                <a:path extrusionOk="0" h="959273" w="17954405">
                  <a:moveTo>
                    <a:pt x="0" y="0"/>
                  </a:moveTo>
                  <a:lnTo>
                    <a:pt x="17954405" y="0"/>
                  </a:lnTo>
                  <a:lnTo>
                    <a:pt x="17954405" y="959273"/>
                  </a:lnTo>
                  <a:lnTo>
                    <a:pt x="0" y="9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0" y="-152400"/>
              <a:ext cx="17954405" cy="1111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RECUERDA QUE TENEMOS NUESTRO FORO SEMANAL DONDE PUEDES CONSULTAR CUALQUIER DUDA QUE TE SURJA EN LA SEMANA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