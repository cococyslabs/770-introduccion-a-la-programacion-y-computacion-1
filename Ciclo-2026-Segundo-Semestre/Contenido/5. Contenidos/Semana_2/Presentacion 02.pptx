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Pacifico"/>
      <p:regular r:id="rId24"/>
    </p:embeddedFont>
    <p:embeddedFont>
      <p:font typeface="Open Sa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KejnXXTG8kUyKJ6ylj4f24kiU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cific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4" name="Google Shape;10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5" name="Google Shape;105;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8" name="Google Shape;10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9" name="Google Shape;179;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0" name="Google Shape;180;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3" name="Google Shape;183;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4" name="Google Shape;194;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5" name="Google Shape;195;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8" name="Google Shape;198;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1" name="Google Shape;21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2" name="Google Shape;21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5" name="Google Shape;21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6" name="Google Shape;226;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9" name="Google Shape;229;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1" name="Google Shape;241;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2" name="Google Shape;242;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5" name="Google Shape;245;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5" name="Google Shape;255;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6" name="Google Shape;256;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2" name="Google Shape;272;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3" name="Google Shape;273;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6" name="Google Shape;276;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5" name="Google Shape;285;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6" name="Google Shape;286;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9" name="Google Shape;289;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9" name="Google Shape;299;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4" name="Google Shape;314;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5" name="Google Shape;315;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8" name="Google Shape;318;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8" name="Google Shape;32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9" name="Google Shape;329;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2" name="Google Shape;33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2" name="Google Shape;342;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3" name="Google Shape;343;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6" name="Google Shape;346;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7" name="Google Shape;357;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8" name="Google Shape;358;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1" name="Google Shape;361;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1" name="Google Shape;371;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2" name="Google Shape;372;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5" name="Google Shape;375;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5" name="Google Shape;385;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6" name="Google Shape;386;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9" name="Google Shape;389;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2541309" y="0"/>
            <a:ext cx="5746718" cy="1711738"/>
          </a:xfrm>
          <a:custGeom>
            <a:rect b="b" l="l" r="r" t="t"/>
            <a:pathLst>
              <a:path extrusionOk="0" h="2282317" w="7662291">
                <a:moveTo>
                  <a:pt x="0" y="0"/>
                </a:moveTo>
                <a:lnTo>
                  <a:pt x="7662291" y="0"/>
                </a:lnTo>
                <a:lnTo>
                  <a:pt x="7662291" y="2282317"/>
                </a:lnTo>
                <a:lnTo>
                  <a:pt x="0" y="2282317"/>
                </a:lnTo>
                <a:lnTo>
                  <a:pt x="0" y="0"/>
                </a:lnTo>
                <a:close/>
              </a:path>
            </a:pathLst>
          </a:custGeom>
          <a:blipFill rotWithShape="1">
            <a:blip r:embed="rId3">
              <a:alphaModFix/>
            </a:blip>
            <a:stretch>
              <a:fillRect b="-1" l="0" r="0" t="0"/>
            </a:stretch>
          </a:blipFill>
          <a:ln>
            <a:noFill/>
          </a:ln>
        </p:spPr>
      </p:sp>
      <p:grpSp>
        <p:nvGrpSpPr>
          <p:cNvPr id="93" name="Google Shape;93;p1"/>
          <p:cNvGrpSpPr/>
          <p:nvPr/>
        </p:nvGrpSpPr>
        <p:grpSpPr>
          <a:xfrm>
            <a:off x="1063296" y="6319475"/>
            <a:ext cx="13093200" cy="2018550"/>
            <a:chOff x="0" y="-228600"/>
            <a:chExt cx="17457600" cy="2691400"/>
          </a:xfrm>
        </p:grpSpPr>
        <p:sp>
          <p:nvSpPr>
            <p:cNvPr id="94" name="Google Shape;94;p1"/>
            <p:cNvSpPr/>
            <p:nvPr/>
          </p:nvSpPr>
          <p:spPr>
            <a:xfrm>
              <a:off x="0" y="0"/>
              <a:ext cx="17457600" cy="2462800"/>
            </a:xfrm>
            <a:custGeom>
              <a:rect b="b" l="l" r="r" t="t"/>
              <a:pathLst>
                <a:path extrusionOk="0" h="2462800" w="17457600">
                  <a:moveTo>
                    <a:pt x="0" y="0"/>
                  </a:moveTo>
                  <a:lnTo>
                    <a:pt x="17457600" y="0"/>
                  </a:lnTo>
                  <a:lnTo>
                    <a:pt x="17457600" y="2462800"/>
                  </a:lnTo>
                  <a:lnTo>
                    <a:pt x="0" y="2462800"/>
                  </a:lnTo>
                  <a:close/>
                </a:path>
              </a:pathLst>
            </a:custGeom>
            <a:solidFill>
              <a:srgbClr val="000000">
                <a:alpha val="0"/>
              </a:srgbClr>
            </a:solidFill>
            <a:ln>
              <a:noFill/>
            </a:ln>
          </p:spPr>
        </p:sp>
        <p:sp>
          <p:nvSpPr>
            <p:cNvPr id="95" name="Google Shape;95;p1"/>
            <p:cNvSpPr txBox="1"/>
            <p:nvPr/>
          </p:nvSpPr>
          <p:spPr>
            <a:xfrm>
              <a:off x="0" y="-228600"/>
              <a:ext cx="17457600" cy="2691400"/>
            </a:xfrm>
            <a:prstGeom prst="rect">
              <a:avLst/>
            </a:prstGeom>
            <a:noFill/>
            <a:ln>
              <a:noFill/>
            </a:ln>
          </p:spPr>
          <p:txBody>
            <a:bodyPr anchorCtr="0" anchor="t" bIns="0" lIns="0" spcFirstLastPara="1" rIns="0" wrap="square" tIns="0">
              <a:noAutofit/>
            </a:bodyPr>
            <a:lstStyle/>
            <a:p>
              <a:pPr indent="0" lvl="0" marL="0" marR="0" rtl="0" algn="ctr">
                <a:lnSpc>
                  <a:spcPct val="168013"/>
                </a:lnSpc>
                <a:spcBef>
                  <a:spcPts val="0"/>
                </a:spcBef>
                <a:spcAft>
                  <a:spcPts val="0"/>
                </a:spcAft>
                <a:buNone/>
              </a:pPr>
              <a:r>
                <a:rPr b="1" i="0" lang="en-US" sz="4999" u="none" cap="none" strike="noStrike">
                  <a:solidFill>
                    <a:srgbClr val="131416"/>
                  </a:solidFill>
                  <a:latin typeface="Open Sans"/>
                  <a:ea typeface="Open Sans"/>
                  <a:cs typeface="Open Sans"/>
                  <a:sym typeface="Open Sans"/>
                </a:rPr>
                <a:t>Introducción a la Programación y Computación 1</a:t>
              </a:r>
              <a:endParaRPr/>
            </a:p>
          </p:txBody>
        </p:sp>
      </p:grpSp>
      <p:grpSp>
        <p:nvGrpSpPr>
          <p:cNvPr id="96" name="Google Shape;96;p1"/>
          <p:cNvGrpSpPr/>
          <p:nvPr/>
        </p:nvGrpSpPr>
        <p:grpSpPr>
          <a:xfrm>
            <a:off x="440832" y="3681643"/>
            <a:ext cx="17406336" cy="2723689"/>
            <a:chOff x="0" y="-266700"/>
            <a:chExt cx="23208448" cy="3631585"/>
          </a:xfrm>
        </p:grpSpPr>
        <p:sp>
          <p:nvSpPr>
            <p:cNvPr id="97" name="Google Shape;97;p1"/>
            <p:cNvSpPr/>
            <p:nvPr/>
          </p:nvSpPr>
          <p:spPr>
            <a:xfrm>
              <a:off x="0" y="0"/>
              <a:ext cx="23208448" cy="3364885"/>
            </a:xfrm>
            <a:custGeom>
              <a:rect b="b" l="l" r="r" t="t"/>
              <a:pathLst>
                <a:path extrusionOk="0" h="3364885" w="23208448">
                  <a:moveTo>
                    <a:pt x="0" y="0"/>
                  </a:moveTo>
                  <a:lnTo>
                    <a:pt x="23208448" y="0"/>
                  </a:lnTo>
                  <a:lnTo>
                    <a:pt x="23208448" y="3364885"/>
                  </a:lnTo>
                  <a:lnTo>
                    <a:pt x="0" y="3364885"/>
                  </a:lnTo>
                  <a:close/>
                </a:path>
              </a:pathLst>
            </a:custGeom>
            <a:solidFill>
              <a:srgbClr val="000000">
                <a:alpha val="0"/>
              </a:srgbClr>
            </a:solidFill>
            <a:ln>
              <a:noFill/>
            </a:ln>
          </p:spPr>
        </p:sp>
        <p:sp>
          <p:nvSpPr>
            <p:cNvPr id="98" name="Google Shape;98;p1"/>
            <p:cNvSpPr txBox="1"/>
            <p:nvPr/>
          </p:nvSpPr>
          <p:spPr>
            <a:xfrm>
              <a:off x="0" y="-266700"/>
              <a:ext cx="23208300" cy="3631500"/>
            </a:xfrm>
            <a:prstGeom prst="rect">
              <a:avLst/>
            </a:prstGeom>
            <a:noFill/>
            <a:ln>
              <a:noFill/>
            </a:ln>
          </p:spPr>
          <p:txBody>
            <a:bodyPr anchorCtr="0" anchor="t" bIns="0" lIns="0" spcFirstLastPara="1" rIns="0" wrap="square" tIns="0">
              <a:noAutofit/>
            </a:bodyPr>
            <a:lstStyle/>
            <a:p>
              <a:pPr indent="0" lvl="0" marL="0" marR="0" rtl="0" algn="ctr">
                <a:lnSpc>
                  <a:spcPct val="168000"/>
                </a:lnSpc>
                <a:spcBef>
                  <a:spcPts val="0"/>
                </a:spcBef>
                <a:spcAft>
                  <a:spcPts val="0"/>
                </a:spcAft>
                <a:buNone/>
              </a:pPr>
              <a:r>
                <a:rPr b="1" i="0" lang="en-US" sz="6000" u="none" cap="none" strike="noStrike">
                  <a:solidFill>
                    <a:srgbClr val="131416"/>
                  </a:solidFill>
                  <a:latin typeface="Open Sans"/>
                  <a:ea typeface="Open Sans"/>
                  <a:cs typeface="Open Sans"/>
                  <a:sym typeface="Open Sans"/>
                </a:rPr>
                <a:t>Introducción a los Fundamentos de Programación y Pseudocódigo</a:t>
              </a:r>
              <a:endParaRPr/>
            </a:p>
          </p:txBody>
        </p:sp>
      </p:grpSp>
      <p:grpSp>
        <p:nvGrpSpPr>
          <p:cNvPr id="99" name="Google Shape;99;p1"/>
          <p:cNvGrpSpPr/>
          <p:nvPr/>
        </p:nvGrpSpPr>
        <p:grpSpPr>
          <a:xfrm>
            <a:off x="1081353" y="8455051"/>
            <a:ext cx="6981300" cy="1547625"/>
            <a:chOff x="0" y="-114300"/>
            <a:chExt cx="9308400" cy="2063500"/>
          </a:xfrm>
        </p:grpSpPr>
        <p:sp>
          <p:nvSpPr>
            <p:cNvPr id="100" name="Google Shape;100;p1"/>
            <p:cNvSpPr/>
            <p:nvPr/>
          </p:nvSpPr>
          <p:spPr>
            <a:xfrm>
              <a:off x="0" y="0"/>
              <a:ext cx="9308400" cy="1949200"/>
            </a:xfrm>
            <a:custGeom>
              <a:rect b="b" l="l" r="r" t="t"/>
              <a:pathLst>
                <a:path extrusionOk="0" h="1949200" w="9308400">
                  <a:moveTo>
                    <a:pt x="0" y="0"/>
                  </a:moveTo>
                  <a:lnTo>
                    <a:pt x="9308400" y="0"/>
                  </a:lnTo>
                  <a:lnTo>
                    <a:pt x="9308400" y="1949200"/>
                  </a:lnTo>
                  <a:lnTo>
                    <a:pt x="0" y="1949200"/>
                  </a:lnTo>
                  <a:close/>
                </a:path>
              </a:pathLst>
            </a:custGeom>
            <a:solidFill>
              <a:srgbClr val="000000">
                <a:alpha val="0"/>
              </a:srgbClr>
            </a:solidFill>
            <a:ln>
              <a:noFill/>
            </a:ln>
          </p:spPr>
        </p:sp>
        <p:sp>
          <p:nvSpPr>
            <p:cNvPr id="101" name="Google Shape;101;p1"/>
            <p:cNvSpPr txBox="1"/>
            <p:nvPr/>
          </p:nvSpPr>
          <p:spPr>
            <a:xfrm>
              <a:off x="0" y="-114300"/>
              <a:ext cx="9308400" cy="2063500"/>
            </a:xfrm>
            <a:prstGeom prst="rect">
              <a:avLst/>
            </a:prstGeom>
            <a:noFill/>
            <a:ln>
              <a:noFill/>
            </a:ln>
          </p:spPr>
          <p:txBody>
            <a:bodyPr anchorCtr="0" anchor="t" bIns="0" lIns="0" spcFirstLastPara="1" rIns="0" wrap="square" tIns="0">
              <a:noAutofit/>
            </a:bodyPr>
            <a:lstStyle/>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Ingeniería</a:t>
              </a:r>
              <a:endParaRPr/>
            </a:p>
            <a:p>
              <a:pPr indent="0" lvl="0" marL="0" marR="0" rtl="0" algn="l">
                <a:lnSpc>
                  <a:spcPct val="167987"/>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Ciencias Y Sistemas</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p:nvPr/>
        </p:nvSpPr>
        <p:spPr>
          <a:xfrm>
            <a:off x="176619" y="4699462"/>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sp>
        <p:nvSpPr>
          <p:cNvPr id="111" name="Google Shape;111;p2"/>
          <p:cNvSpPr/>
          <p:nvPr/>
        </p:nvSpPr>
        <p:spPr>
          <a:xfrm>
            <a:off x="87865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12" name="Google Shape;112;p2"/>
          <p:cNvSpPr/>
          <p:nvPr/>
        </p:nvSpPr>
        <p:spPr>
          <a:xfrm>
            <a:off x="1866989" y="3303305"/>
            <a:ext cx="4115181" cy="1267206"/>
          </a:xfrm>
          <a:custGeom>
            <a:rect b="b" l="l" r="r" t="t"/>
            <a:pathLst>
              <a:path extrusionOk="0" h="1689608" w="5486908">
                <a:moveTo>
                  <a:pt x="4458208" y="0"/>
                </a:moveTo>
                <a:lnTo>
                  <a:pt x="0" y="0"/>
                </a:lnTo>
                <a:lnTo>
                  <a:pt x="0" y="1689608"/>
                </a:lnTo>
                <a:lnTo>
                  <a:pt x="4458208" y="1689608"/>
                </a:lnTo>
                <a:lnTo>
                  <a:pt x="5486908" y="844804"/>
                </a:lnTo>
                <a:lnTo>
                  <a:pt x="4458208" y="0"/>
                </a:lnTo>
                <a:close/>
              </a:path>
            </a:pathLst>
          </a:custGeom>
          <a:solidFill>
            <a:srgbClr val="FFFFFF"/>
          </a:solidFill>
          <a:ln>
            <a:noFill/>
          </a:ln>
        </p:spPr>
      </p:sp>
      <p:grpSp>
        <p:nvGrpSpPr>
          <p:cNvPr id="113" name="Google Shape;113;p2"/>
          <p:cNvGrpSpPr/>
          <p:nvPr/>
        </p:nvGrpSpPr>
        <p:grpSpPr>
          <a:xfrm>
            <a:off x="1866989" y="2856821"/>
            <a:ext cx="3681207" cy="1713646"/>
            <a:chOff x="0" y="-209550"/>
            <a:chExt cx="4908276" cy="2284862"/>
          </a:xfrm>
        </p:grpSpPr>
        <p:sp>
          <p:nvSpPr>
            <p:cNvPr id="114" name="Google Shape;114;p2"/>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115" name="Google Shape;115;p2"/>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6" name="Google Shape;116;p2"/>
          <p:cNvSpPr/>
          <p:nvPr/>
        </p:nvSpPr>
        <p:spPr>
          <a:xfrm>
            <a:off x="651754" y="3429735"/>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4">
              <a:alphaModFix/>
            </a:blip>
            <a:stretch>
              <a:fillRect b="-29" l="0" r="0" t="-35"/>
            </a:stretch>
          </a:blipFill>
          <a:ln>
            <a:noFill/>
          </a:ln>
        </p:spPr>
      </p:sp>
      <p:grpSp>
        <p:nvGrpSpPr>
          <p:cNvPr id="117" name="Google Shape;117;p2"/>
          <p:cNvGrpSpPr/>
          <p:nvPr/>
        </p:nvGrpSpPr>
        <p:grpSpPr>
          <a:xfrm>
            <a:off x="508623" y="-609817"/>
            <a:ext cx="7710302" cy="4067175"/>
            <a:chOff x="0" y="0"/>
            <a:chExt cx="10280403" cy="5422900"/>
          </a:xfrm>
        </p:grpSpPr>
        <p:sp>
          <p:nvSpPr>
            <p:cNvPr id="118" name="Google Shape;118;p2"/>
            <p:cNvSpPr/>
            <p:nvPr/>
          </p:nvSpPr>
          <p:spPr>
            <a:xfrm>
              <a:off x="0" y="0"/>
              <a:ext cx="10280401" cy="5422900"/>
            </a:xfrm>
            <a:custGeom>
              <a:rect b="b" l="l" r="r" t="t"/>
              <a:pathLst>
                <a:path extrusionOk="0" h="5422900" w="10280401">
                  <a:moveTo>
                    <a:pt x="0" y="0"/>
                  </a:moveTo>
                  <a:lnTo>
                    <a:pt x="10280401" y="0"/>
                  </a:lnTo>
                  <a:lnTo>
                    <a:pt x="10280401" y="5422900"/>
                  </a:lnTo>
                  <a:lnTo>
                    <a:pt x="0" y="5422900"/>
                  </a:lnTo>
                  <a:close/>
                </a:path>
              </a:pathLst>
            </a:custGeom>
            <a:solidFill>
              <a:srgbClr val="000000">
                <a:alpha val="0"/>
              </a:srgbClr>
            </a:solidFill>
            <a:ln>
              <a:noFill/>
            </a:ln>
          </p:spPr>
        </p:sp>
        <p:sp>
          <p:nvSpPr>
            <p:cNvPr id="119" name="Google Shape;119;p2"/>
            <p:cNvSpPr txBox="1"/>
            <p:nvPr/>
          </p:nvSpPr>
          <p:spPr>
            <a:xfrm>
              <a:off x="3" y="1031425"/>
              <a:ext cx="10280400" cy="43914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Pacifico"/>
                  <a:ea typeface="Pacifico"/>
                  <a:cs typeface="Pacifico"/>
                  <a:sym typeface="Pacifico"/>
                </a:rPr>
                <a:t>Agenda</a:t>
              </a:r>
              <a:endParaRPr/>
            </a:p>
          </p:txBody>
        </p:sp>
      </p:grpSp>
      <p:sp>
        <p:nvSpPr>
          <p:cNvPr id="120" name="Google Shape;120;p2"/>
          <p:cNvSpPr/>
          <p:nvPr/>
        </p:nvSpPr>
        <p:spPr>
          <a:xfrm>
            <a:off x="176619" y="5623279"/>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grpSp>
        <p:nvGrpSpPr>
          <p:cNvPr id="121" name="Google Shape;121;p2"/>
          <p:cNvGrpSpPr/>
          <p:nvPr/>
        </p:nvGrpSpPr>
        <p:grpSpPr>
          <a:xfrm>
            <a:off x="508623" y="5393176"/>
            <a:ext cx="10079147" cy="1002729"/>
            <a:chOff x="0" y="-209550"/>
            <a:chExt cx="13438862" cy="1336971"/>
          </a:xfrm>
        </p:grpSpPr>
        <p:sp>
          <p:nvSpPr>
            <p:cNvPr id="122" name="Google Shape;122;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23" name="Google Shape;123;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Fundamentos de Programación</a:t>
              </a:r>
              <a:endParaRPr/>
            </a:p>
          </p:txBody>
        </p:sp>
      </p:grpSp>
      <p:sp>
        <p:nvSpPr>
          <p:cNvPr id="124" name="Google Shape;124;p2"/>
          <p:cNvSpPr/>
          <p:nvPr/>
        </p:nvSpPr>
        <p:spPr>
          <a:xfrm>
            <a:off x="176625" y="6604851"/>
            <a:ext cx="6728652" cy="666368"/>
          </a:xfrm>
          <a:custGeom>
            <a:rect b="b" l="l" r="r" t="t"/>
            <a:pathLst>
              <a:path extrusionOk="0" h="888492" w="8971535">
                <a:moveTo>
                  <a:pt x="8043418" y="0"/>
                </a:moveTo>
                <a:lnTo>
                  <a:pt x="0" y="0"/>
                </a:lnTo>
                <a:lnTo>
                  <a:pt x="0" y="888492"/>
                </a:lnTo>
                <a:lnTo>
                  <a:pt x="8043418" y="888492"/>
                </a:lnTo>
                <a:lnTo>
                  <a:pt x="8971535" y="444246"/>
                </a:lnTo>
                <a:lnTo>
                  <a:pt x="8043418" y="0"/>
                </a:lnTo>
                <a:close/>
              </a:path>
            </a:pathLst>
          </a:custGeom>
          <a:solidFill>
            <a:srgbClr val="FFFFFF"/>
          </a:solidFill>
          <a:ln>
            <a:noFill/>
          </a:ln>
        </p:spPr>
      </p:sp>
      <p:sp>
        <p:nvSpPr>
          <p:cNvPr id="125" name="Google Shape;125;p2"/>
          <p:cNvSpPr/>
          <p:nvPr/>
        </p:nvSpPr>
        <p:spPr>
          <a:xfrm>
            <a:off x="176624" y="7528432"/>
            <a:ext cx="9198103" cy="666369"/>
          </a:xfrm>
          <a:custGeom>
            <a:rect b="b" l="l" r="r" t="t"/>
            <a:pathLst>
              <a:path extrusionOk="0" h="888492" w="12264137">
                <a:moveTo>
                  <a:pt x="10995406" y="0"/>
                </a:moveTo>
                <a:lnTo>
                  <a:pt x="0" y="0"/>
                </a:lnTo>
                <a:lnTo>
                  <a:pt x="0" y="888492"/>
                </a:lnTo>
                <a:lnTo>
                  <a:pt x="10995406" y="888492"/>
                </a:lnTo>
                <a:lnTo>
                  <a:pt x="12264137" y="444246"/>
                </a:lnTo>
                <a:lnTo>
                  <a:pt x="10995406" y="0"/>
                </a:lnTo>
                <a:close/>
              </a:path>
            </a:pathLst>
          </a:custGeom>
          <a:solidFill>
            <a:srgbClr val="FFFFFF"/>
          </a:solidFill>
          <a:ln>
            <a:noFill/>
          </a:ln>
        </p:spPr>
      </p:sp>
      <p:sp>
        <p:nvSpPr>
          <p:cNvPr id="126" name="Google Shape;126;p2"/>
          <p:cNvSpPr/>
          <p:nvPr/>
        </p:nvSpPr>
        <p:spPr>
          <a:xfrm>
            <a:off x="176619" y="8591893"/>
            <a:ext cx="4613529" cy="666369"/>
          </a:xfrm>
          <a:custGeom>
            <a:rect b="b" l="l" r="r" t="t"/>
            <a:pathLst>
              <a:path extrusionOk="0" h="888492" w="6151372">
                <a:moveTo>
                  <a:pt x="5514975" y="0"/>
                </a:moveTo>
                <a:lnTo>
                  <a:pt x="0" y="0"/>
                </a:lnTo>
                <a:lnTo>
                  <a:pt x="0" y="888492"/>
                </a:lnTo>
                <a:lnTo>
                  <a:pt x="5514975" y="888492"/>
                </a:lnTo>
                <a:lnTo>
                  <a:pt x="6151372" y="444246"/>
                </a:lnTo>
                <a:lnTo>
                  <a:pt x="5514975" y="0"/>
                </a:lnTo>
                <a:close/>
              </a:path>
            </a:pathLst>
          </a:custGeom>
          <a:solidFill>
            <a:srgbClr val="FFFFFF"/>
          </a:solidFill>
          <a:ln>
            <a:noFill/>
          </a:ln>
        </p:spPr>
      </p:sp>
      <p:sp>
        <p:nvSpPr>
          <p:cNvPr id="127" name="Google Shape;127;p2"/>
          <p:cNvSpPr/>
          <p:nvPr/>
        </p:nvSpPr>
        <p:spPr>
          <a:xfrm>
            <a:off x="878654" y="562328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8" name="Google Shape;128;p2"/>
          <p:cNvSpPr/>
          <p:nvPr/>
        </p:nvSpPr>
        <p:spPr>
          <a:xfrm>
            <a:off x="878654" y="6604853"/>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29" name="Google Shape;129;p2"/>
          <p:cNvSpPr/>
          <p:nvPr/>
        </p:nvSpPr>
        <p:spPr>
          <a:xfrm>
            <a:off x="878654" y="760463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0" name="Google Shape;130;p2"/>
          <p:cNvSpPr/>
          <p:nvPr/>
        </p:nvSpPr>
        <p:spPr>
          <a:xfrm>
            <a:off x="878654" y="8605540"/>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1" name="Google Shape;131;p2"/>
          <p:cNvSpPr/>
          <p:nvPr/>
        </p:nvSpPr>
        <p:spPr>
          <a:xfrm>
            <a:off x="10177169" y="4699461"/>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32" name="Google Shape;132;p2"/>
          <p:cNvGrpSpPr/>
          <p:nvPr/>
        </p:nvGrpSpPr>
        <p:grpSpPr>
          <a:xfrm>
            <a:off x="10879200" y="4383013"/>
            <a:ext cx="6983688" cy="1002731"/>
            <a:chOff x="0" y="-209550"/>
            <a:chExt cx="9311584" cy="1336974"/>
          </a:xfrm>
        </p:grpSpPr>
        <p:sp>
          <p:nvSpPr>
            <p:cNvPr id="133" name="Google Shape;133;p2"/>
            <p:cNvSpPr/>
            <p:nvPr/>
          </p:nvSpPr>
          <p:spPr>
            <a:xfrm>
              <a:off x="0" y="0"/>
              <a:ext cx="9311584" cy="1127424"/>
            </a:xfrm>
            <a:custGeom>
              <a:rect b="b" l="l" r="r" t="t"/>
              <a:pathLst>
                <a:path extrusionOk="0" h="1127424" w="9311584">
                  <a:moveTo>
                    <a:pt x="0" y="0"/>
                  </a:moveTo>
                  <a:lnTo>
                    <a:pt x="9311584" y="0"/>
                  </a:lnTo>
                  <a:lnTo>
                    <a:pt x="9311584" y="1127424"/>
                  </a:lnTo>
                  <a:lnTo>
                    <a:pt x="0" y="1127424"/>
                  </a:lnTo>
                  <a:close/>
                </a:path>
              </a:pathLst>
            </a:custGeom>
            <a:solidFill>
              <a:srgbClr val="000000">
                <a:alpha val="0"/>
              </a:srgbClr>
            </a:solidFill>
            <a:ln>
              <a:noFill/>
            </a:ln>
          </p:spPr>
        </p:sp>
        <p:sp>
          <p:nvSpPr>
            <p:cNvPr id="134" name="Google Shape;134;p2"/>
            <p:cNvSpPr txBox="1"/>
            <p:nvPr/>
          </p:nvSpPr>
          <p:spPr>
            <a:xfrm>
              <a:off x="0" y="-209550"/>
              <a:ext cx="9311583"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Reglas para Escribir Pseudocódigo</a:t>
              </a:r>
              <a:endParaRPr/>
            </a:p>
          </p:txBody>
        </p:sp>
      </p:grpSp>
      <p:sp>
        <p:nvSpPr>
          <p:cNvPr id="135" name="Google Shape;135;p2"/>
          <p:cNvSpPr/>
          <p:nvPr/>
        </p:nvSpPr>
        <p:spPr>
          <a:xfrm>
            <a:off x="10721904" y="47404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36" name="Google Shape;136;p2"/>
          <p:cNvSpPr/>
          <p:nvPr/>
        </p:nvSpPr>
        <p:spPr>
          <a:xfrm>
            <a:off x="10019869" y="5632375"/>
            <a:ext cx="4613624"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37" name="Google Shape;137;p2"/>
          <p:cNvGrpSpPr/>
          <p:nvPr/>
        </p:nvGrpSpPr>
        <p:grpSpPr>
          <a:xfrm>
            <a:off x="10948583" y="5362782"/>
            <a:ext cx="6936477" cy="1002731"/>
            <a:chOff x="0" y="-209550"/>
            <a:chExt cx="9248635" cy="1336974"/>
          </a:xfrm>
        </p:grpSpPr>
        <p:sp>
          <p:nvSpPr>
            <p:cNvPr id="138" name="Google Shape;138;p2"/>
            <p:cNvSpPr/>
            <p:nvPr/>
          </p:nvSpPr>
          <p:spPr>
            <a:xfrm>
              <a:off x="0" y="0"/>
              <a:ext cx="9248635" cy="1127424"/>
            </a:xfrm>
            <a:custGeom>
              <a:rect b="b" l="l" r="r" t="t"/>
              <a:pathLst>
                <a:path extrusionOk="0" h="1127424" w="9248635">
                  <a:moveTo>
                    <a:pt x="0" y="0"/>
                  </a:moveTo>
                  <a:lnTo>
                    <a:pt x="9248635" y="0"/>
                  </a:lnTo>
                  <a:lnTo>
                    <a:pt x="9248635" y="1127424"/>
                  </a:lnTo>
                  <a:lnTo>
                    <a:pt x="0" y="1127424"/>
                  </a:lnTo>
                  <a:close/>
                </a:path>
              </a:pathLst>
            </a:custGeom>
            <a:solidFill>
              <a:srgbClr val="000000">
                <a:alpha val="0"/>
              </a:srgbClr>
            </a:solidFill>
            <a:ln>
              <a:noFill/>
            </a:ln>
          </p:spPr>
        </p:sp>
        <p:sp>
          <p:nvSpPr>
            <p:cNvPr id="139" name="Google Shape;139;p2"/>
            <p:cNvSpPr txBox="1"/>
            <p:nvPr/>
          </p:nvSpPr>
          <p:spPr>
            <a:xfrm>
              <a:off x="0" y="-209550"/>
              <a:ext cx="9248634"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Ejemplos Prácticos de Pseudocódigo</a:t>
              </a:r>
              <a:endParaRPr/>
            </a:p>
          </p:txBody>
        </p:sp>
      </p:grpSp>
      <p:sp>
        <p:nvSpPr>
          <p:cNvPr id="140" name="Google Shape;140;p2"/>
          <p:cNvSpPr/>
          <p:nvPr/>
        </p:nvSpPr>
        <p:spPr>
          <a:xfrm>
            <a:off x="10721904" y="567334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41" name="Google Shape;141;p2"/>
          <p:cNvSpPr/>
          <p:nvPr/>
        </p:nvSpPr>
        <p:spPr>
          <a:xfrm>
            <a:off x="10019869" y="6670312"/>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42" name="Google Shape;142;p2"/>
          <p:cNvGrpSpPr/>
          <p:nvPr/>
        </p:nvGrpSpPr>
        <p:grpSpPr>
          <a:xfrm>
            <a:off x="10192900" y="6423570"/>
            <a:ext cx="6917451" cy="1002730"/>
            <a:chOff x="0" y="-209550"/>
            <a:chExt cx="9223269" cy="1336974"/>
          </a:xfrm>
        </p:grpSpPr>
        <p:sp>
          <p:nvSpPr>
            <p:cNvPr id="143" name="Google Shape;143;p2"/>
            <p:cNvSpPr/>
            <p:nvPr/>
          </p:nvSpPr>
          <p:spPr>
            <a:xfrm>
              <a:off x="0" y="0"/>
              <a:ext cx="9223269" cy="1127424"/>
            </a:xfrm>
            <a:custGeom>
              <a:rect b="b" l="l" r="r" t="t"/>
              <a:pathLst>
                <a:path extrusionOk="0" h="1127424" w="9223269">
                  <a:moveTo>
                    <a:pt x="0" y="0"/>
                  </a:moveTo>
                  <a:lnTo>
                    <a:pt x="9223269" y="0"/>
                  </a:lnTo>
                  <a:lnTo>
                    <a:pt x="9223269" y="1127424"/>
                  </a:lnTo>
                  <a:lnTo>
                    <a:pt x="0" y="1127424"/>
                  </a:lnTo>
                  <a:close/>
                </a:path>
              </a:pathLst>
            </a:custGeom>
            <a:solidFill>
              <a:srgbClr val="000000">
                <a:alpha val="0"/>
              </a:srgbClr>
            </a:solidFill>
            <a:ln>
              <a:noFill/>
            </a:ln>
          </p:spPr>
        </p:sp>
        <p:sp>
          <p:nvSpPr>
            <p:cNvPr id="144" name="Google Shape;144;p2"/>
            <p:cNvSpPr txBox="1"/>
            <p:nvPr/>
          </p:nvSpPr>
          <p:spPr>
            <a:xfrm>
              <a:off x="0" y="-209550"/>
              <a:ext cx="9223269"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Ventajas del Pseudocódigo</a:t>
              </a:r>
              <a:endParaRPr/>
            </a:p>
          </p:txBody>
        </p:sp>
      </p:grpSp>
      <p:sp>
        <p:nvSpPr>
          <p:cNvPr id="145" name="Google Shape;145;p2"/>
          <p:cNvSpPr/>
          <p:nvPr/>
        </p:nvSpPr>
        <p:spPr>
          <a:xfrm>
            <a:off x="10721904" y="671129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sp>
        <p:nvSpPr>
          <p:cNvPr id="146" name="Google Shape;146;p2"/>
          <p:cNvSpPr/>
          <p:nvPr/>
        </p:nvSpPr>
        <p:spPr>
          <a:xfrm>
            <a:off x="10019869" y="7803486"/>
            <a:ext cx="4613625" cy="666369"/>
          </a:xfrm>
          <a:custGeom>
            <a:rect b="b" l="l" r="r" t="t"/>
            <a:pathLst>
              <a:path extrusionOk="0" h="888492" w="6151499">
                <a:moveTo>
                  <a:pt x="5515102" y="0"/>
                </a:moveTo>
                <a:lnTo>
                  <a:pt x="0" y="0"/>
                </a:lnTo>
                <a:lnTo>
                  <a:pt x="0" y="888492"/>
                </a:lnTo>
                <a:lnTo>
                  <a:pt x="5515102" y="888492"/>
                </a:lnTo>
                <a:lnTo>
                  <a:pt x="6151499" y="444246"/>
                </a:lnTo>
                <a:lnTo>
                  <a:pt x="5515102" y="0"/>
                </a:lnTo>
                <a:close/>
              </a:path>
            </a:pathLst>
          </a:custGeom>
          <a:solidFill>
            <a:srgbClr val="FFFFFF"/>
          </a:solidFill>
          <a:ln>
            <a:noFill/>
          </a:ln>
        </p:spPr>
      </p:sp>
      <p:grpSp>
        <p:nvGrpSpPr>
          <p:cNvPr id="147" name="Google Shape;147;p2"/>
          <p:cNvGrpSpPr/>
          <p:nvPr/>
        </p:nvGrpSpPr>
        <p:grpSpPr>
          <a:xfrm>
            <a:off x="11061279" y="7573938"/>
            <a:ext cx="6049073" cy="1002730"/>
            <a:chOff x="0" y="-209550"/>
            <a:chExt cx="8065431" cy="1336974"/>
          </a:xfrm>
        </p:grpSpPr>
        <p:sp>
          <p:nvSpPr>
            <p:cNvPr id="148" name="Google Shape;148;p2"/>
            <p:cNvSpPr/>
            <p:nvPr/>
          </p:nvSpPr>
          <p:spPr>
            <a:xfrm>
              <a:off x="0" y="0"/>
              <a:ext cx="8065431" cy="1127424"/>
            </a:xfrm>
            <a:custGeom>
              <a:rect b="b" l="l" r="r" t="t"/>
              <a:pathLst>
                <a:path extrusionOk="0" h="1127424" w="8065431">
                  <a:moveTo>
                    <a:pt x="0" y="0"/>
                  </a:moveTo>
                  <a:lnTo>
                    <a:pt x="8065431" y="0"/>
                  </a:lnTo>
                  <a:lnTo>
                    <a:pt x="8065431" y="1127424"/>
                  </a:lnTo>
                  <a:lnTo>
                    <a:pt x="0" y="1127424"/>
                  </a:lnTo>
                  <a:close/>
                </a:path>
              </a:pathLst>
            </a:custGeom>
            <a:solidFill>
              <a:srgbClr val="000000">
                <a:alpha val="0"/>
              </a:srgbClr>
            </a:solidFill>
            <a:ln>
              <a:noFill/>
            </a:ln>
          </p:spPr>
        </p:sp>
        <p:sp>
          <p:nvSpPr>
            <p:cNvPr id="149" name="Google Shape;149;p2"/>
            <p:cNvSpPr txBox="1"/>
            <p:nvPr/>
          </p:nvSpPr>
          <p:spPr>
            <a:xfrm>
              <a:off x="0" y="-209550"/>
              <a:ext cx="8065431" cy="1336974"/>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Conclusión y Recomendaciones</a:t>
              </a:r>
              <a:endParaRPr/>
            </a:p>
          </p:txBody>
        </p:sp>
      </p:grpSp>
      <p:sp>
        <p:nvSpPr>
          <p:cNvPr id="150" name="Google Shape;150;p2"/>
          <p:cNvSpPr/>
          <p:nvPr/>
        </p:nvSpPr>
        <p:spPr>
          <a:xfrm>
            <a:off x="10721904" y="7844466"/>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3">
              <a:alphaModFix/>
            </a:blip>
            <a:stretch>
              <a:fillRect b="-3" l="0" r="5" t="0"/>
            </a:stretch>
          </a:blipFill>
          <a:ln>
            <a:noFill/>
          </a:ln>
        </p:spPr>
      </p:sp>
      <p:grpSp>
        <p:nvGrpSpPr>
          <p:cNvPr id="151" name="Google Shape;151;p2"/>
          <p:cNvGrpSpPr/>
          <p:nvPr/>
        </p:nvGrpSpPr>
        <p:grpSpPr>
          <a:xfrm>
            <a:off x="318228" y="4452720"/>
            <a:ext cx="10079147" cy="1002729"/>
            <a:chOff x="0" y="-209550"/>
            <a:chExt cx="13438862" cy="1336971"/>
          </a:xfrm>
        </p:grpSpPr>
        <p:sp>
          <p:nvSpPr>
            <p:cNvPr id="152" name="Google Shape;152;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3" name="Google Shape;153;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¿Qué es la Programación?</a:t>
              </a:r>
              <a:endParaRPr/>
            </a:p>
          </p:txBody>
        </p:sp>
      </p:grpSp>
      <p:grpSp>
        <p:nvGrpSpPr>
          <p:cNvPr id="154" name="Google Shape;154;p2"/>
          <p:cNvGrpSpPr/>
          <p:nvPr/>
        </p:nvGrpSpPr>
        <p:grpSpPr>
          <a:xfrm>
            <a:off x="508623" y="6333992"/>
            <a:ext cx="10079147" cy="1002729"/>
            <a:chOff x="0" y="-209550"/>
            <a:chExt cx="13438862" cy="1336971"/>
          </a:xfrm>
        </p:grpSpPr>
        <p:sp>
          <p:nvSpPr>
            <p:cNvPr id="155" name="Google Shape;155;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6" name="Google Shape;156;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Elementos de un Lenguaje de Programación</a:t>
              </a:r>
              <a:endParaRPr/>
            </a:p>
          </p:txBody>
        </p:sp>
      </p:grpSp>
      <p:grpSp>
        <p:nvGrpSpPr>
          <p:cNvPr id="157" name="Google Shape;157;p2"/>
          <p:cNvGrpSpPr/>
          <p:nvPr/>
        </p:nvGrpSpPr>
        <p:grpSpPr>
          <a:xfrm>
            <a:off x="508623" y="7312908"/>
            <a:ext cx="10079147" cy="1002729"/>
            <a:chOff x="0" y="-209550"/>
            <a:chExt cx="13438862" cy="1336971"/>
          </a:xfrm>
        </p:grpSpPr>
        <p:sp>
          <p:nvSpPr>
            <p:cNvPr id="158" name="Google Shape;158;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59" name="Google Shape;159;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Estructuras Básicas</a:t>
              </a:r>
              <a:endParaRPr/>
            </a:p>
          </p:txBody>
        </p:sp>
      </p:grpSp>
      <p:grpSp>
        <p:nvGrpSpPr>
          <p:cNvPr id="160" name="Google Shape;160;p2"/>
          <p:cNvGrpSpPr/>
          <p:nvPr/>
        </p:nvGrpSpPr>
        <p:grpSpPr>
          <a:xfrm>
            <a:off x="318228" y="8351667"/>
            <a:ext cx="10079147" cy="1002729"/>
            <a:chOff x="0" y="-209550"/>
            <a:chExt cx="13438862" cy="1336971"/>
          </a:xfrm>
        </p:grpSpPr>
        <p:sp>
          <p:nvSpPr>
            <p:cNvPr id="161" name="Google Shape;161;p2"/>
            <p:cNvSpPr/>
            <p:nvPr/>
          </p:nvSpPr>
          <p:spPr>
            <a:xfrm>
              <a:off x="0" y="0"/>
              <a:ext cx="13438862" cy="1127421"/>
            </a:xfrm>
            <a:custGeom>
              <a:rect b="b" l="l" r="r" t="t"/>
              <a:pathLst>
                <a:path extrusionOk="0" h="1127421" w="13438862">
                  <a:moveTo>
                    <a:pt x="0" y="0"/>
                  </a:moveTo>
                  <a:lnTo>
                    <a:pt x="13438862" y="0"/>
                  </a:lnTo>
                  <a:lnTo>
                    <a:pt x="13438862" y="1127421"/>
                  </a:lnTo>
                  <a:lnTo>
                    <a:pt x="0" y="1127421"/>
                  </a:lnTo>
                  <a:close/>
                </a:path>
              </a:pathLst>
            </a:custGeom>
            <a:solidFill>
              <a:srgbClr val="000000">
                <a:alpha val="0"/>
              </a:srgbClr>
            </a:solidFill>
            <a:ln>
              <a:noFill/>
            </a:ln>
          </p:spPr>
        </p:sp>
        <p:sp>
          <p:nvSpPr>
            <p:cNvPr id="162" name="Google Shape;162;p2"/>
            <p:cNvSpPr txBox="1"/>
            <p:nvPr/>
          </p:nvSpPr>
          <p:spPr>
            <a:xfrm>
              <a:off x="0" y="-209550"/>
              <a:ext cx="13438862" cy="1336971"/>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¿Qué es el Pseudocódigo?</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3"/>
          <p:cNvGrpSpPr/>
          <p:nvPr/>
        </p:nvGrpSpPr>
        <p:grpSpPr>
          <a:xfrm>
            <a:off x="1374889" y="497201"/>
            <a:ext cx="13991101" cy="1256147"/>
            <a:chOff x="0" y="-209550"/>
            <a:chExt cx="18654801" cy="1674862"/>
          </a:xfrm>
        </p:grpSpPr>
        <p:sp>
          <p:nvSpPr>
            <p:cNvPr id="172" name="Google Shape;172;p3"/>
            <p:cNvSpPr/>
            <p:nvPr/>
          </p:nvSpPr>
          <p:spPr>
            <a:xfrm>
              <a:off x="0" y="0"/>
              <a:ext cx="18654801" cy="1465312"/>
            </a:xfrm>
            <a:custGeom>
              <a:rect b="b" l="l" r="r" t="t"/>
              <a:pathLst>
                <a:path extrusionOk="0" h="1465312" w="18654801">
                  <a:moveTo>
                    <a:pt x="0" y="0"/>
                  </a:moveTo>
                  <a:lnTo>
                    <a:pt x="18654801" y="0"/>
                  </a:lnTo>
                  <a:lnTo>
                    <a:pt x="18654801" y="1465312"/>
                  </a:lnTo>
                  <a:lnTo>
                    <a:pt x="0" y="1465312"/>
                  </a:lnTo>
                  <a:close/>
                </a:path>
              </a:pathLst>
            </a:custGeom>
            <a:solidFill>
              <a:srgbClr val="000000">
                <a:alpha val="0"/>
              </a:srgbClr>
            </a:solidFill>
            <a:ln>
              <a:noFill/>
            </a:ln>
          </p:spPr>
        </p:sp>
        <p:sp>
          <p:nvSpPr>
            <p:cNvPr id="173" name="Google Shape;173;p3"/>
            <p:cNvSpPr txBox="1"/>
            <p:nvPr/>
          </p:nvSpPr>
          <p:spPr>
            <a:xfrm>
              <a:off x="0" y="-209550"/>
              <a:ext cx="186548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¿Qué es la Programación?</a:t>
              </a:r>
              <a:endParaRPr/>
            </a:p>
          </p:txBody>
        </p:sp>
      </p:grpSp>
      <p:grpSp>
        <p:nvGrpSpPr>
          <p:cNvPr id="174" name="Google Shape;174;p3"/>
          <p:cNvGrpSpPr/>
          <p:nvPr/>
        </p:nvGrpSpPr>
        <p:grpSpPr>
          <a:xfrm>
            <a:off x="2202102" y="3187413"/>
            <a:ext cx="14491800" cy="4557482"/>
            <a:chOff x="0" y="-133350"/>
            <a:chExt cx="19322400" cy="6076642"/>
          </a:xfrm>
        </p:grpSpPr>
        <p:sp>
          <p:nvSpPr>
            <p:cNvPr id="175" name="Google Shape;175;p3"/>
            <p:cNvSpPr/>
            <p:nvPr/>
          </p:nvSpPr>
          <p:spPr>
            <a:xfrm>
              <a:off x="0" y="0"/>
              <a:ext cx="19322400" cy="5943292"/>
            </a:xfrm>
            <a:custGeom>
              <a:rect b="b" l="l" r="r" t="t"/>
              <a:pathLst>
                <a:path extrusionOk="0" h="5943292" w="19322400">
                  <a:moveTo>
                    <a:pt x="0" y="0"/>
                  </a:moveTo>
                  <a:lnTo>
                    <a:pt x="19322400" y="0"/>
                  </a:lnTo>
                  <a:lnTo>
                    <a:pt x="19322400" y="5943292"/>
                  </a:lnTo>
                  <a:lnTo>
                    <a:pt x="0" y="5943292"/>
                  </a:lnTo>
                  <a:close/>
                </a:path>
              </a:pathLst>
            </a:custGeom>
            <a:solidFill>
              <a:srgbClr val="000000">
                <a:alpha val="0"/>
              </a:srgbClr>
            </a:solidFill>
            <a:ln>
              <a:noFill/>
            </a:ln>
          </p:spPr>
        </p:sp>
        <p:sp>
          <p:nvSpPr>
            <p:cNvPr id="176" name="Google Shape;176;p3"/>
            <p:cNvSpPr txBox="1"/>
            <p:nvPr/>
          </p:nvSpPr>
          <p:spPr>
            <a:xfrm>
              <a:off x="0" y="-133350"/>
              <a:ext cx="19322400" cy="6076642"/>
            </a:xfrm>
            <a:prstGeom prst="rect">
              <a:avLst/>
            </a:prstGeom>
            <a:noFill/>
            <a:ln>
              <a:noFill/>
            </a:ln>
          </p:spPr>
          <p:txBody>
            <a:bodyPr anchorCtr="0" anchor="t" bIns="0" lIns="0" spcFirstLastPara="1" rIns="0" wrap="square" tIns="0">
              <a:noAutofit/>
            </a:bodyPr>
            <a:lstStyle/>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Es el proceso mediante el cual se diseña y se crea un conjunto de instrucciones (código) que una computadora puede ejecutar.</a:t>
              </a:r>
              <a:endParaRPr/>
            </a:p>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Permite automatizar tareas, resolver problemas y construir aplicaciones que interactúan con el usuario.</a:t>
              </a:r>
              <a:endParaRPr/>
            </a:p>
            <a:p>
              <a:pPr indent="-200025" lvl="1" marL="400050" marR="0" rtl="0" algn="l">
                <a:lnSpc>
                  <a:spcPct val="168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Es una habilidad esencial en el mundo actual, transversal a diversas industrias y sectores.</a:t>
              </a:r>
              <a:endParaRPr/>
            </a:p>
            <a:p>
              <a:pPr indent="0" lvl="0" marL="0" marR="0" rtl="0" algn="l">
                <a:lnSpc>
                  <a:spcPct val="168000"/>
                </a:lnSpc>
                <a:spcBef>
                  <a:spcPts val="0"/>
                </a:spcBef>
                <a:spcAft>
                  <a:spcPts val="0"/>
                </a:spcAft>
                <a:buNone/>
              </a:pPr>
              <a:r>
                <a:t/>
              </a:r>
              <a:endParaRPr b="0" i="0" sz="3000" u="none" cap="none" strike="noStrike">
                <a:solidFill>
                  <a:srgbClr val="131416"/>
                </a:solidFill>
                <a:latin typeface="Open Sans"/>
                <a:ea typeface="Open Sans"/>
                <a:cs typeface="Open Sans"/>
                <a:sym typeface="Ope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4"/>
          <p:cNvGrpSpPr/>
          <p:nvPr/>
        </p:nvGrpSpPr>
        <p:grpSpPr>
          <a:xfrm>
            <a:off x="1374900" y="1959194"/>
            <a:ext cx="13174801" cy="5870606"/>
            <a:chOff x="0" y="-219075"/>
            <a:chExt cx="17566401" cy="7827475"/>
          </a:xfrm>
        </p:grpSpPr>
        <p:sp>
          <p:nvSpPr>
            <p:cNvPr id="186" name="Google Shape;186;p4"/>
            <p:cNvSpPr/>
            <p:nvPr/>
          </p:nvSpPr>
          <p:spPr>
            <a:xfrm>
              <a:off x="0" y="0"/>
              <a:ext cx="17566401" cy="7608400"/>
            </a:xfrm>
            <a:custGeom>
              <a:rect b="b" l="l" r="r" t="t"/>
              <a:pathLst>
                <a:path extrusionOk="0" h="7608400" w="17566401">
                  <a:moveTo>
                    <a:pt x="0" y="0"/>
                  </a:moveTo>
                  <a:lnTo>
                    <a:pt x="17566401" y="0"/>
                  </a:lnTo>
                  <a:lnTo>
                    <a:pt x="17566401" y="7608400"/>
                  </a:lnTo>
                  <a:lnTo>
                    <a:pt x="0" y="7608400"/>
                  </a:lnTo>
                  <a:close/>
                </a:path>
              </a:pathLst>
            </a:custGeom>
            <a:solidFill>
              <a:srgbClr val="000000">
                <a:alpha val="0"/>
              </a:srgbClr>
            </a:solidFill>
            <a:ln>
              <a:noFill/>
            </a:ln>
          </p:spPr>
        </p:sp>
        <p:sp>
          <p:nvSpPr>
            <p:cNvPr id="187" name="Google Shape;187;p4"/>
            <p:cNvSpPr txBox="1"/>
            <p:nvPr/>
          </p:nvSpPr>
          <p:spPr>
            <a:xfrm>
              <a:off x="0" y="-219075"/>
              <a:ext cx="17566400" cy="7827475"/>
            </a:xfrm>
            <a:prstGeom prst="rect">
              <a:avLst/>
            </a:prstGeom>
            <a:noFill/>
            <a:ln>
              <a:noFill/>
            </a:ln>
          </p:spPr>
          <p:txBody>
            <a:bodyPr anchorCtr="0" anchor="t" bIns="0" lIns="0" spcFirstLastPara="1" rIns="0" wrap="square" tIns="0">
              <a:noAutofit/>
            </a:bodyPr>
            <a:lstStyle/>
            <a:p>
              <a:pPr indent="0" lvl="0" marL="0" marR="0" rtl="0" algn="just">
                <a:lnSpc>
                  <a:spcPct val="207555"/>
                </a:lnSpc>
                <a:spcBef>
                  <a:spcPts val="0"/>
                </a:spcBef>
                <a:spcAft>
                  <a:spcPts val="0"/>
                </a:spcAft>
                <a:buNone/>
              </a:pPr>
              <a:r>
                <a:rPr b="0" i="0" lang="en-US" sz="2025" u="none" cap="none" strike="noStrike">
                  <a:solidFill>
                    <a:srgbClr val="131416"/>
                  </a:solidFill>
                  <a:latin typeface="Arial"/>
                  <a:ea typeface="Arial"/>
                  <a:cs typeface="Arial"/>
                  <a:sym typeface="Arial"/>
                </a:rPr>
                <a:t>Los fundamentos de la programación constituyen los conceptos esenciales que todo programador debe conocer:</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Algoritmos: Secuencia de pasos finitos para resolver un problema.</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Variables y Tipos de Datos: Elementos para almacenar y manipular datos.</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Estructuras de Control: Decisiones (if, else) y repeticiones (for, while).</a:t>
              </a:r>
              <a:endParaRPr/>
            </a:p>
            <a:p>
              <a:pPr indent="-218599" lvl="1" marL="437197" marR="0" rtl="0" algn="just">
                <a:lnSpc>
                  <a:spcPct val="207555"/>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Entrada y Salida: Comunicación con el usuario.</a:t>
              </a:r>
              <a:endParaRPr/>
            </a:p>
            <a:p>
              <a:pPr indent="-218599" lvl="1" marL="437197" marR="0" rtl="0" algn="just">
                <a:lnSpc>
                  <a:spcPct val="207654"/>
                </a:lnSpc>
                <a:spcBef>
                  <a:spcPts val="0"/>
                </a:spcBef>
                <a:spcAft>
                  <a:spcPts val="0"/>
                </a:spcAft>
                <a:buClr>
                  <a:srgbClr val="131416"/>
                </a:buClr>
                <a:buSzPts val="2025"/>
                <a:buFont typeface="Arial"/>
                <a:buChar char="•"/>
              </a:pPr>
              <a:r>
                <a:rPr b="0" i="0" lang="en-US" sz="2025" u="none" cap="none" strike="noStrike">
                  <a:solidFill>
                    <a:srgbClr val="131416"/>
                  </a:solidFill>
                  <a:latin typeface="Arial"/>
                  <a:ea typeface="Arial"/>
                  <a:cs typeface="Arial"/>
                  <a:sym typeface="Arial"/>
                </a:rPr>
                <a:t>Funciones o Procedimientos: Bloques de código reutilizables.</a:t>
              </a:r>
              <a:endParaRPr/>
            </a:p>
            <a:p>
              <a:pPr indent="0" lvl="0" marL="0" marR="0" rtl="0" algn="just">
                <a:lnSpc>
                  <a:spcPct val="207555"/>
                </a:lnSpc>
                <a:spcBef>
                  <a:spcPts val="0"/>
                </a:spcBef>
                <a:spcAft>
                  <a:spcPts val="0"/>
                </a:spcAft>
                <a:buNone/>
              </a:pPr>
              <a:r>
                <a:t/>
              </a:r>
              <a:endParaRPr b="0" i="0" sz="2025" u="none" cap="none" strike="noStrike">
                <a:solidFill>
                  <a:srgbClr val="131416"/>
                </a:solidFill>
                <a:latin typeface="Arial"/>
                <a:ea typeface="Arial"/>
                <a:cs typeface="Arial"/>
                <a:sym typeface="Arial"/>
              </a:endParaRPr>
            </a:p>
          </p:txBody>
        </p:sp>
      </p:grpSp>
      <p:grpSp>
        <p:nvGrpSpPr>
          <p:cNvPr id="188" name="Google Shape;188;p4"/>
          <p:cNvGrpSpPr/>
          <p:nvPr/>
        </p:nvGrpSpPr>
        <p:grpSpPr>
          <a:xfrm>
            <a:off x="1374889" y="497201"/>
            <a:ext cx="13991101" cy="1256147"/>
            <a:chOff x="0" y="-209550"/>
            <a:chExt cx="18654801" cy="1674862"/>
          </a:xfrm>
        </p:grpSpPr>
        <p:sp>
          <p:nvSpPr>
            <p:cNvPr id="189" name="Google Shape;189;p4"/>
            <p:cNvSpPr/>
            <p:nvPr/>
          </p:nvSpPr>
          <p:spPr>
            <a:xfrm>
              <a:off x="0" y="0"/>
              <a:ext cx="18654801" cy="1465312"/>
            </a:xfrm>
            <a:custGeom>
              <a:rect b="b" l="l" r="r" t="t"/>
              <a:pathLst>
                <a:path extrusionOk="0" h="1465312" w="18654801">
                  <a:moveTo>
                    <a:pt x="0" y="0"/>
                  </a:moveTo>
                  <a:lnTo>
                    <a:pt x="18654801" y="0"/>
                  </a:lnTo>
                  <a:lnTo>
                    <a:pt x="18654801" y="1465312"/>
                  </a:lnTo>
                  <a:lnTo>
                    <a:pt x="0" y="1465312"/>
                  </a:lnTo>
                  <a:close/>
                </a:path>
              </a:pathLst>
            </a:custGeom>
            <a:solidFill>
              <a:srgbClr val="000000">
                <a:alpha val="0"/>
              </a:srgbClr>
            </a:solidFill>
            <a:ln>
              <a:noFill/>
            </a:ln>
          </p:spPr>
        </p:sp>
        <p:sp>
          <p:nvSpPr>
            <p:cNvPr id="190" name="Google Shape;190;p4"/>
            <p:cNvSpPr txBox="1"/>
            <p:nvPr/>
          </p:nvSpPr>
          <p:spPr>
            <a:xfrm>
              <a:off x="0" y="-209550"/>
              <a:ext cx="186548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Fundamentos de Programación</a:t>
              </a:r>
              <a:endParaRPr/>
            </a:p>
          </p:txBody>
        </p:sp>
      </p:grpSp>
      <p:sp>
        <p:nvSpPr>
          <p:cNvPr id="191" name="Google Shape;191;p4"/>
          <p:cNvSpPr/>
          <p:nvPr/>
        </p:nvSpPr>
        <p:spPr>
          <a:xfrm>
            <a:off x="14623350" y="6841789"/>
            <a:ext cx="2946000" cy="2946000"/>
          </a:xfrm>
          <a:custGeom>
            <a:rect b="b" l="l" r="r" t="t"/>
            <a:pathLst>
              <a:path extrusionOk="0" h="2946000" w="2946000">
                <a:moveTo>
                  <a:pt x="0" y="0"/>
                </a:moveTo>
                <a:lnTo>
                  <a:pt x="2946000" y="0"/>
                </a:lnTo>
                <a:lnTo>
                  <a:pt x="2946000" y="2946000"/>
                </a:lnTo>
                <a:lnTo>
                  <a:pt x="0" y="2946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5"/>
          <p:cNvGrpSpPr/>
          <p:nvPr/>
        </p:nvGrpSpPr>
        <p:grpSpPr>
          <a:xfrm>
            <a:off x="1392603" y="1902538"/>
            <a:ext cx="15502800" cy="7698938"/>
            <a:chOff x="0" y="-95250"/>
            <a:chExt cx="20670400" cy="10265250"/>
          </a:xfrm>
        </p:grpSpPr>
        <p:sp>
          <p:nvSpPr>
            <p:cNvPr id="201" name="Google Shape;201;p5"/>
            <p:cNvSpPr/>
            <p:nvPr/>
          </p:nvSpPr>
          <p:spPr>
            <a:xfrm>
              <a:off x="0" y="0"/>
              <a:ext cx="20670400" cy="10170000"/>
            </a:xfrm>
            <a:custGeom>
              <a:rect b="b" l="l" r="r" t="t"/>
              <a:pathLst>
                <a:path extrusionOk="0" h="10170000" w="20670400">
                  <a:moveTo>
                    <a:pt x="0" y="0"/>
                  </a:moveTo>
                  <a:lnTo>
                    <a:pt x="20670400" y="0"/>
                  </a:lnTo>
                  <a:lnTo>
                    <a:pt x="20670400" y="10170000"/>
                  </a:lnTo>
                  <a:lnTo>
                    <a:pt x="0" y="10170000"/>
                  </a:lnTo>
                  <a:close/>
                </a:path>
              </a:pathLst>
            </a:custGeom>
            <a:solidFill>
              <a:srgbClr val="000000">
                <a:alpha val="0"/>
              </a:srgbClr>
            </a:solidFill>
            <a:ln>
              <a:noFill/>
            </a:ln>
          </p:spPr>
        </p:sp>
        <p:sp>
          <p:nvSpPr>
            <p:cNvPr id="202" name="Google Shape;202;p5"/>
            <p:cNvSpPr txBox="1"/>
            <p:nvPr/>
          </p:nvSpPr>
          <p:spPr>
            <a:xfrm>
              <a:off x="0" y="-95250"/>
              <a:ext cx="20670400" cy="10265250"/>
            </a:xfrm>
            <a:prstGeom prst="rect">
              <a:avLst/>
            </a:prstGeom>
            <a:noFill/>
            <a:ln>
              <a:noFill/>
            </a:ln>
          </p:spPr>
          <p:txBody>
            <a:bodyPr anchorCtr="0" anchor="t" bIns="0" lIns="0" spcFirstLastPara="1" rIns="0" wrap="square" tIns="0">
              <a:noAutofit/>
            </a:bodyPr>
            <a:lstStyle/>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Sintaxis: Reglas que definen cómo se debe escribir el código.</a:t>
              </a:r>
              <a:endParaRPr/>
            </a:p>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Semántica: Significado del código que se escribe.</a:t>
              </a:r>
              <a:endParaRPr/>
            </a:p>
            <a:p>
              <a:pPr indent="-269874" lvl="1" marL="539749" marR="0" rtl="0" algn="l">
                <a:lnSpc>
                  <a:spcPct val="138015"/>
                </a:lnSpc>
                <a:spcBef>
                  <a:spcPts val="0"/>
                </a:spcBef>
                <a:spcAft>
                  <a:spcPts val="0"/>
                </a:spcAft>
                <a:buClr>
                  <a:srgbClr val="131416"/>
                </a:buClr>
                <a:buSzPts val="2499"/>
                <a:buFont typeface="Arial"/>
                <a:buChar char="•"/>
              </a:pPr>
              <a:r>
                <a:rPr b="0" i="0" lang="en-US" sz="2499" u="none" cap="none" strike="noStrike">
                  <a:solidFill>
                    <a:srgbClr val="131416"/>
                  </a:solidFill>
                  <a:latin typeface="Arial"/>
                  <a:ea typeface="Arial"/>
                  <a:cs typeface="Arial"/>
                  <a:sym typeface="Arial"/>
                </a:rPr>
                <a:t>Compilación o Interpretación: Proceso mediante el cual el código fuente se traduce y ejecuta.</a:t>
              </a:r>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a:p>
              <a:pPr indent="0" lvl="0" marL="0" marR="0" rtl="0" algn="ctr">
                <a:lnSpc>
                  <a:spcPct val="138015"/>
                </a:lnSpc>
                <a:spcBef>
                  <a:spcPts val="0"/>
                </a:spcBef>
                <a:spcAft>
                  <a:spcPts val="0"/>
                </a:spcAft>
                <a:buNone/>
              </a:pPr>
              <a:r>
                <a:rPr b="0" i="0" lang="en-US" sz="2499" u="none" cap="none" strike="noStrike">
                  <a:solidFill>
                    <a:srgbClr val="131416"/>
                  </a:solidFill>
                  <a:latin typeface="Arial"/>
                  <a:ea typeface="Arial"/>
                  <a:cs typeface="Arial"/>
                  <a:sym typeface="Arial"/>
                </a:rPr>
                <a:t>Ejemplos de lenguajes: Java, Python, C++, JavaScript.</a:t>
              </a:r>
              <a:endParaRPr/>
            </a:p>
            <a:p>
              <a:pPr indent="0" lvl="0" marL="0" marR="0" rtl="0" algn="l">
                <a:lnSpc>
                  <a:spcPct val="138015"/>
                </a:lnSpc>
                <a:spcBef>
                  <a:spcPts val="0"/>
                </a:spcBef>
                <a:spcAft>
                  <a:spcPts val="0"/>
                </a:spcAft>
                <a:buNone/>
              </a:pPr>
              <a:r>
                <a:t/>
              </a:r>
              <a:endParaRPr b="0" i="0" sz="2499" u="none" cap="none" strike="noStrike">
                <a:solidFill>
                  <a:srgbClr val="131416"/>
                </a:solidFill>
                <a:latin typeface="Arial"/>
                <a:ea typeface="Arial"/>
                <a:cs typeface="Arial"/>
                <a:sym typeface="Arial"/>
              </a:endParaRPr>
            </a:p>
          </p:txBody>
        </p:sp>
      </p:grpSp>
      <p:grpSp>
        <p:nvGrpSpPr>
          <p:cNvPr id="203" name="Google Shape;203;p5"/>
          <p:cNvGrpSpPr/>
          <p:nvPr/>
        </p:nvGrpSpPr>
        <p:grpSpPr>
          <a:xfrm>
            <a:off x="1374901" y="497213"/>
            <a:ext cx="15288901" cy="1256147"/>
            <a:chOff x="0" y="-209550"/>
            <a:chExt cx="20385201" cy="1674862"/>
          </a:xfrm>
        </p:grpSpPr>
        <p:sp>
          <p:nvSpPr>
            <p:cNvPr id="204" name="Google Shape;204;p5"/>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05" name="Google Shape;205;p5"/>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Elementos de un Lenguaje de Programación</a:t>
              </a:r>
              <a:endParaRPr/>
            </a:p>
          </p:txBody>
        </p:sp>
      </p:grpSp>
      <p:sp>
        <p:nvSpPr>
          <p:cNvPr id="206" name="Google Shape;206;p5"/>
          <p:cNvSpPr/>
          <p:nvPr/>
        </p:nvSpPr>
        <p:spPr>
          <a:xfrm>
            <a:off x="6961951" y="51435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07" name="Google Shape;207;p5"/>
          <p:cNvSpPr/>
          <p:nvPr/>
        </p:nvSpPr>
        <p:spPr>
          <a:xfrm>
            <a:off x="11076751" y="5435596"/>
            <a:ext cx="3822704" cy="3822704"/>
          </a:xfrm>
          <a:custGeom>
            <a:rect b="b" l="l" r="r" t="t"/>
            <a:pathLst>
              <a:path extrusionOk="0" h="3822704" w="3822704">
                <a:moveTo>
                  <a:pt x="0" y="0"/>
                </a:moveTo>
                <a:lnTo>
                  <a:pt x="3822704" y="0"/>
                </a:lnTo>
                <a:lnTo>
                  <a:pt x="3822704" y="3822704"/>
                </a:lnTo>
                <a:lnTo>
                  <a:pt x="0" y="3822704"/>
                </a:lnTo>
                <a:lnTo>
                  <a:pt x="0" y="0"/>
                </a:lnTo>
                <a:close/>
              </a:path>
            </a:pathLst>
          </a:custGeom>
          <a:blipFill rotWithShape="1">
            <a:blip r:embed="rId4">
              <a:alphaModFix/>
            </a:blip>
            <a:stretch>
              <a:fillRect b="0" l="0" r="0" t="0"/>
            </a:stretch>
          </a:blipFill>
          <a:ln>
            <a:noFill/>
          </a:ln>
        </p:spPr>
      </p:sp>
      <p:sp>
        <p:nvSpPr>
          <p:cNvPr id="208" name="Google Shape;208;p5"/>
          <p:cNvSpPr/>
          <p:nvPr/>
        </p:nvSpPr>
        <p:spPr>
          <a:xfrm>
            <a:off x="3413245" y="5435596"/>
            <a:ext cx="3548706" cy="3998542"/>
          </a:xfrm>
          <a:custGeom>
            <a:rect b="b" l="l" r="r" t="t"/>
            <a:pathLst>
              <a:path extrusionOk="0" h="3998542" w="3548706">
                <a:moveTo>
                  <a:pt x="0" y="0"/>
                </a:moveTo>
                <a:lnTo>
                  <a:pt x="3548706" y="0"/>
                </a:lnTo>
                <a:lnTo>
                  <a:pt x="3548706" y="3998542"/>
                </a:lnTo>
                <a:lnTo>
                  <a:pt x="0" y="399854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grpSp>
        <p:nvGrpSpPr>
          <p:cNvPr id="217" name="Google Shape;217;p6"/>
          <p:cNvGrpSpPr/>
          <p:nvPr/>
        </p:nvGrpSpPr>
        <p:grpSpPr>
          <a:xfrm>
            <a:off x="1392603" y="1902538"/>
            <a:ext cx="15502800" cy="7113338"/>
            <a:chOff x="0" y="-95250"/>
            <a:chExt cx="20670400" cy="9484450"/>
          </a:xfrm>
        </p:grpSpPr>
        <p:sp>
          <p:nvSpPr>
            <p:cNvPr id="218" name="Google Shape;218;p6"/>
            <p:cNvSpPr/>
            <p:nvPr/>
          </p:nvSpPr>
          <p:spPr>
            <a:xfrm>
              <a:off x="0" y="0"/>
              <a:ext cx="20670400" cy="9389200"/>
            </a:xfrm>
            <a:custGeom>
              <a:rect b="b" l="l" r="r" t="t"/>
              <a:pathLst>
                <a:path extrusionOk="0" h="9389200" w="20670400">
                  <a:moveTo>
                    <a:pt x="0" y="0"/>
                  </a:moveTo>
                  <a:lnTo>
                    <a:pt x="20670400" y="0"/>
                  </a:lnTo>
                  <a:lnTo>
                    <a:pt x="20670400" y="9389200"/>
                  </a:lnTo>
                  <a:lnTo>
                    <a:pt x="0" y="9389200"/>
                  </a:lnTo>
                  <a:close/>
                </a:path>
              </a:pathLst>
            </a:custGeom>
            <a:solidFill>
              <a:srgbClr val="000000">
                <a:alpha val="0"/>
              </a:srgbClr>
            </a:solidFill>
            <a:ln>
              <a:noFill/>
            </a:ln>
          </p:spPr>
        </p:sp>
        <p:sp>
          <p:nvSpPr>
            <p:cNvPr id="219" name="Google Shape;219;p6"/>
            <p:cNvSpPr txBox="1"/>
            <p:nvPr/>
          </p:nvSpPr>
          <p:spPr>
            <a:xfrm>
              <a:off x="0" y="-95250"/>
              <a:ext cx="20670400" cy="9484450"/>
            </a:xfrm>
            <a:prstGeom prst="rect">
              <a:avLst/>
            </a:prstGeom>
            <a:noFill/>
            <a:ln>
              <a:noFill/>
            </a:ln>
          </p:spPr>
          <p:txBody>
            <a:bodyPr anchorCtr="0" anchor="t" bIns="0" lIns="0" spcFirstLastPara="1" rIns="0" wrap="square" tIns="0">
              <a:noAutofit/>
            </a:bodyPr>
            <a:lstStyle/>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Secuencia: Ejecución ordenada línea por línea.</a:t>
              </a:r>
              <a:endParaRPr/>
            </a:p>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Selección: Uso de condiciones (if, else) para ejecutar decisiones.</a:t>
              </a:r>
              <a:endParaRPr/>
            </a:p>
            <a:p>
              <a:pPr indent="-283367" lvl="1" marL="566736" marR="0" rtl="0" algn="l">
                <a:lnSpc>
                  <a:spcPct val="138033"/>
                </a:lnSpc>
                <a:spcBef>
                  <a:spcPts val="0"/>
                </a:spcBef>
                <a:spcAft>
                  <a:spcPts val="0"/>
                </a:spcAft>
                <a:buClr>
                  <a:srgbClr val="131416"/>
                </a:buClr>
                <a:buSzPts val="2624"/>
                <a:buFont typeface="Arial"/>
                <a:buChar char="•"/>
              </a:pPr>
              <a:r>
                <a:rPr b="0" i="0" lang="en-US" sz="2624" u="none" cap="none" strike="noStrike">
                  <a:solidFill>
                    <a:srgbClr val="131416"/>
                  </a:solidFill>
                  <a:latin typeface="Arial"/>
                  <a:ea typeface="Arial"/>
                  <a:cs typeface="Arial"/>
                  <a:sym typeface="Arial"/>
                </a:rPr>
                <a:t>Iteración: Repetición de bloques (for, while).</a:t>
              </a:r>
              <a:endParaRPr/>
            </a:p>
            <a:p>
              <a:pPr indent="0" lvl="0" marL="0" marR="0" rtl="0" algn="ctr">
                <a:lnSpc>
                  <a:spcPct val="138033"/>
                </a:lnSpc>
                <a:spcBef>
                  <a:spcPts val="0"/>
                </a:spcBef>
                <a:spcAft>
                  <a:spcPts val="0"/>
                </a:spcAft>
                <a:buNone/>
              </a:pPr>
              <a:r>
                <a:t/>
              </a:r>
              <a:endParaRPr b="0" i="0" sz="2624" u="none" cap="none" strike="noStrike">
                <a:solidFill>
                  <a:srgbClr val="131416"/>
                </a:solidFill>
                <a:latin typeface="Arial"/>
                <a:ea typeface="Arial"/>
                <a:cs typeface="Arial"/>
                <a:sym typeface="Arial"/>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Inicio</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Leer edad</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Si edad &gt;= 18 Entonces</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Escribir “Eres mayor de edad”</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  FinSi</a:t>
              </a:r>
              <a:endParaRPr/>
            </a:p>
            <a:p>
              <a:pPr indent="0" lvl="0" marL="0" marR="0" rtl="0" algn="ctr">
                <a:lnSpc>
                  <a:spcPct val="138033"/>
                </a:lnSpc>
                <a:spcBef>
                  <a:spcPts val="0"/>
                </a:spcBef>
                <a:spcAft>
                  <a:spcPts val="0"/>
                </a:spcAft>
                <a:buNone/>
              </a:pPr>
              <a:r>
                <a:rPr b="0" i="0" lang="en-US" sz="2624" u="none" cap="none" strike="noStrike">
                  <a:solidFill>
                    <a:srgbClr val="131416"/>
                  </a:solidFill>
                  <a:latin typeface="Arial"/>
                  <a:ea typeface="Arial"/>
                  <a:cs typeface="Arial"/>
                  <a:sym typeface="Arial"/>
                </a:rPr>
                <a:t>Fin</a:t>
              </a:r>
              <a:endParaRPr/>
            </a:p>
            <a:p>
              <a:pPr indent="0" lvl="0" marL="0" marR="0" rtl="0" algn="ctr">
                <a:lnSpc>
                  <a:spcPct val="116996"/>
                </a:lnSpc>
                <a:spcBef>
                  <a:spcPts val="0"/>
                </a:spcBef>
                <a:spcAft>
                  <a:spcPts val="0"/>
                </a:spcAft>
                <a:buNone/>
              </a:pPr>
              <a:r>
                <a:t/>
              </a:r>
              <a:endParaRPr b="0" i="0" sz="2624" u="none" cap="none" strike="noStrike">
                <a:solidFill>
                  <a:srgbClr val="131416"/>
                </a:solidFill>
                <a:latin typeface="Arial"/>
                <a:ea typeface="Arial"/>
                <a:cs typeface="Arial"/>
                <a:sym typeface="Arial"/>
              </a:endParaRPr>
            </a:p>
          </p:txBody>
        </p:sp>
      </p:grpSp>
      <p:grpSp>
        <p:nvGrpSpPr>
          <p:cNvPr id="220" name="Google Shape;220;p6"/>
          <p:cNvGrpSpPr/>
          <p:nvPr/>
        </p:nvGrpSpPr>
        <p:grpSpPr>
          <a:xfrm>
            <a:off x="1374901" y="497213"/>
            <a:ext cx="15288901" cy="1256147"/>
            <a:chOff x="0" y="-209550"/>
            <a:chExt cx="20385201" cy="1674862"/>
          </a:xfrm>
        </p:grpSpPr>
        <p:sp>
          <p:nvSpPr>
            <p:cNvPr id="221" name="Google Shape;221;p6"/>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22" name="Google Shape;222;p6"/>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Estructuras Básicas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grpSp>
        <p:nvGrpSpPr>
          <p:cNvPr id="231" name="Google Shape;231;p7"/>
          <p:cNvGrpSpPr/>
          <p:nvPr/>
        </p:nvGrpSpPr>
        <p:grpSpPr>
          <a:xfrm>
            <a:off x="1374826" y="764613"/>
            <a:ext cx="15288901" cy="1256147"/>
            <a:chOff x="0" y="-209550"/>
            <a:chExt cx="20385201" cy="1674862"/>
          </a:xfrm>
        </p:grpSpPr>
        <p:sp>
          <p:nvSpPr>
            <p:cNvPr id="232" name="Google Shape;232;p7"/>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33" name="Google Shape;233;p7"/>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¿Qué es el Pseudocódigo?</a:t>
              </a:r>
              <a:endParaRPr/>
            </a:p>
          </p:txBody>
        </p:sp>
      </p:grpSp>
      <p:grpSp>
        <p:nvGrpSpPr>
          <p:cNvPr id="234" name="Google Shape;234;p7"/>
          <p:cNvGrpSpPr/>
          <p:nvPr/>
        </p:nvGrpSpPr>
        <p:grpSpPr>
          <a:xfrm>
            <a:off x="5243100" y="5291550"/>
            <a:ext cx="7801800" cy="3966750"/>
            <a:chOff x="0" y="-76200"/>
            <a:chExt cx="10402400" cy="5289000"/>
          </a:xfrm>
        </p:grpSpPr>
        <p:sp>
          <p:nvSpPr>
            <p:cNvPr id="235" name="Google Shape;235;p7"/>
            <p:cNvSpPr/>
            <p:nvPr/>
          </p:nvSpPr>
          <p:spPr>
            <a:xfrm>
              <a:off x="0" y="0"/>
              <a:ext cx="10402400" cy="5212800"/>
            </a:xfrm>
            <a:custGeom>
              <a:rect b="b" l="l" r="r" t="t"/>
              <a:pathLst>
                <a:path extrusionOk="0" h="5212800" w="10402400">
                  <a:moveTo>
                    <a:pt x="0" y="0"/>
                  </a:moveTo>
                  <a:lnTo>
                    <a:pt x="10402400" y="0"/>
                  </a:lnTo>
                  <a:lnTo>
                    <a:pt x="10402400" y="5212800"/>
                  </a:lnTo>
                  <a:lnTo>
                    <a:pt x="0" y="5212800"/>
                  </a:lnTo>
                  <a:close/>
                </a:path>
              </a:pathLst>
            </a:custGeom>
            <a:solidFill>
              <a:srgbClr val="000000">
                <a:alpha val="0"/>
              </a:srgbClr>
            </a:solidFill>
            <a:ln>
              <a:noFill/>
            </a:ln>
          </p:spPr>
        </p:sp>
        <p:sp>
          <p:nvSpPr>
            <p:cNvPr id="236" name="Google Shape;236;p7"/>
            <p:cNvSpPr txBox="1"/>
            <p:nvPr/>
          </p:nvSpPr>
          <p:spPr>
            <a:xfrm>
              <a:off x="0" y="-76200"/>
              <a:ext cx="10402400" cy="5289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3500" u="none" cap="none" strike="noStrike">
                  <a:solidFill>
                    <a:srgbClr val="000000"/>
                  </a:solidFill>
                  <a:latin typeface="Calibri"/>
                  <a:ea typeface="Calibri"/>
                  <a:cs typeface="Calibri"/>
                  <a:sym typeface="Calibri"/>
                </a:rPr>
                <a:t>Simple</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Representación informal y estructurada de un algoritmo.</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Se utiliza para planificar la lógica de un programa sin enfocarse en la sintaxis de un lenguaje específico.</a:t>
              </a:r>
              <a:endParaRPr/>
            </a:p>
            <a:p>
              <a:pPr indent="-269874" lvl="1" marL="539749" marR="0" rtl="0" algn="l">
                <a:lnSpc>
                  <a:spcPct val="120008"/>
                </a:lnSpc>
                <a:spcBef>
                  <a:spcPts val="0"/>
                </a:spcBef>
                <a:spcAft>
                  <a:spcPts val="0"/>
                </a:spcAft>
                <a:buClr>
                  <a:srgbClr val="000000"/>
                </a:buClr>
                <a:buSzPts val="2499"/>
                <a:buFont typeface="Arial"/>
                <a:buChar char="•"/>
              </a:pPr>
              <a:r>
                <a:rPr b="0" i="0" lang="en-US" sz="2499" u="none" cap="none" strike="noStrike">
                  <a:solidFill>
                    <a:srgbClr val="000000"/>
                  </a:solidFill>
                  <a:latin typeface="Calibri"/>
                  <a:ea typeface="Calibri"/>
                  <a:cs typeface="Calibri"/>
                  <a:sym typeface="Calibri"/>
                </a:rPr>
                <a:t>Es útil para diseñar y comunicar ideas antes de codificar.</a:t>
              </a:r>
              <a:endParaRPr/>
            </a:p>
            <a:p>
              <a:pPr indent="0" lvl="0" marL="0" marR="0" rtl="0" algn="l">
                <a:lnSpc>
                  <a:spcPct val="138015"/>
                </a:lnSpc>
                <a:spcBef>
                  <a:spcPts val="0"/>
                </a:spcBef>
                <a:spcAft>
                  <a:spcPts val="0"/>
                </a:spcAft>
                <a:buNone/>
              </a:pPr>
              <a:r>
                <a:t/>
              </a:r>
              <a:endParaRPr b="0" i="0" sz="2499" u="none" cap="none" strike="noStrike">
                <a:solidFill>
                  <a:srgbClr val="000000"/>
                </a:solidFill>
                <a:latin typeface="Calibri"/>
                <a:ea typeface="Calibri"/>
                <a:cs typeface="Calibri"/>
                <a:sym typeface="Calibri"/>
              </a:endParaRPr>
            </a:p>
          </p:txBody>
        </p:sp>
      </p:grpSp>
      <p:sp>
        <p:nvSpPr>
          <p:cNvPr id="237" name="Google Shape;237;p7"/>
          <p:cNvSpPr/>
          <p:nvPr/>
        </p:nvSpPr>
        <p:spPr>
          <a:xfrm>
            <a:off x="4958443" y="2594117"/>
            <a:ext cx="2362200" cy="2181225"/>
          </a:xfrm>
          <a:custGeom>
            <a:rect b="b" l="l" r="r" t="t"/>
            <a:pathLst>
              <a:path extrusionOk="0" h="2181225" w="2362200">
                <a:moveTo>
                  <a:pt x="0" y="0"/>
                </a:moveTo>
                <a:lnTo>
                  <a:pt x="2362200" y="0"/>
                </a:lnTo>
                <a:lnTo>
                  <a:pt x="2362200" y="2181225"/>
                </a:lnTo>
                <a:lnTo>
                  <a:pt x="0" y="2181225"/>
                </a:lnTo>
                <a:lnTo>
                  <a:pt x="0" y="0"/>
                </a:lnTo>
                <a:close/>
              </a:path>
            </a:pathLst>
          </a:custGeom>
          <a:blipFill rotWithShape="1">
            <a:blip r:embed="rId3">
              <a:alphaModFix/>
            </a:blip>
            <a:stretch>
              <a:fillRect b="0" l="0" r="0" t="0"/>
            </a:stretch>
          </a:blipFill>
          <a:ln>
            <a:noFill/>
          </a:ln>
        </p:spPr>
      </p:sp>
      <p:sp>
        <p:nvSpPr>
          <p:cNvPr id="238" name="Google Shape;238;p7"/>
          <p:cNvSpPr/>
          <p:nvPr/>
        </p:nvSpPr>
        <p:spPr>
          <a:xfrm>
            <a:off x="11454582" y="2962275"/>
            <a:ext cx="2362200" cy="2181225"/>
          </a:xfrm>
          <a:custGeom>
            <a:rect b="b" l="l" r="r" t="t"/>
            <a:pathLst>
              <a:path extrusionOk="0" h="2181225" w="2362200">
                <a:moveTo>
                  <a:pt x="0" y="0"/>
                </a:moveTo>
                <a:lnTo>
                  <a:pt x="2362200" y="0"/>
                </a:lnTo>
                <a:lnTo>
                  <a:pt x="2362200" y="2181225"/>
                </a:lnTo>
                <a:lnTo>
                  <a:pt x="0" y="218122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pSp>
        <p:nvGrpSpPr>
          <p:cNvPr id="247" name="Google Shape;247;p8"/>
          <p:cNvGrpSpPr/>
          <p:nvPr/>
        </p:nvGrpSpPr>
        <p:grpSpPr>
          <a:xfrm>
            <a:off x="1374826" y="764613"/>
            <a:ext cx="15288901" cy="1256147"/>
            <a:chOff x="0" y="-209550"/>
            <a:chExt cx="20385201" cy="1674862"/>
          </a:xfrm>
        </p:grpSpPr>
        <p:sp>
          <p:nvSpPr>
            <p:cNvPr id="248" name="Google Shape;248;p8"/>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49" name="Google Shape;249;p8"/>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Reglas para Escribir Pseudocódigo</a:t>
              </a:r>
              <a:endParaRPr/>
            </a:p>
          </p:txBody>
        </p:sp>
      </p:grpSp>
      <p:grpSp>
        <p:nvGrpSpPr>
          <p:cNvPr id="250" name="Google Shape;250;p8"/>
          <p:cNvGrpSpPr/>
          <p:nvPr/>
        </p:nvGrpSpPr>
        <p:grpSpPr>
          <a:xfrm>
            <a:off x="1374903" y="2398856"/>
            <a:ext cx="15864600" cy="4742220"/>
            <a:chOff x="0" y="-314325"/>
            <a:chExt cx="21152800" cy="6322959"/>
          </a:xfrm>
        </p:grpSpPr>
        <p:sp>
          <p:nvSpPr>
            <p:cNvPr id="251" name="Google Shape;251;p8"/>
            <p:cNvSpPr/>
            <p:nvPr/>
          </p:nvSpPr>
          <p:spPr>
            <a:xfrm>
              <a:off x="0" y="0"/>
              <a:ext cx="21152800" cy="6008634"/>
            </a:xfrm>
            <a:custGeom>
              <a:rect b="b" l="l" r="r" t="t"/>
              <a:pathLst>
                <a:path extrusionOk="0" h="6008634" w="21152800">
                  <a:moveTo>
                    <a:pt x="0" y="0"/>
                  </a:moveTo>
                  <a:lnTo>
                    <a:pt x="21152800" y="0"/>
                  </a:lnTo>
                  <a:lnTo>
                    <a:pt x="21152800" y="6008634"/>
                  </a:lnTo>
                  <a:lnTo>
                    <a:pt x="0" y="6008634"/>
                  </a:lnTo>
                  <a:close/>
                </a:path>
              </a:pathLst>
            </a:custGeom>
            <a:solidFill>
              <a:srgbClr val="000000">
                <a:alpha val="0"/>
              </a:srgbClr>
            </a:solidFill>
            <a:ln>
              <a:noFill/>
            </a:ln>
          </p:spPr>
        </p:sp>
        <p:sp>
          <p:nvSpPr>
            <p:cNvPr id="252" name="Google Shape;252;p8"/>
            <p:cNvSpPr txBox="1"/>
            <p:nvPr/>
          </p:nvSpPr>
          <p:spPr>
            <a:xfrm>
              <a:off x="0" y="-314325"/>
              <a:ext cx="21152800" cy="6322959"/>
            </a:xfrm>
            <a:prstGeom prst="rect">
              <a:avLst/>
            </a:prstGeom>
            <a:noFill/>
            <a:ln>
              <a:noFill/>
            </a:ln>
          </p:spPr>
          <p:txBody>
            <a:bodyPr anchorCtr="0" anchor="t" bIns="0" lIns="0" spcFirstLastPara="1" rIns="0" wrap="square" tIns="0">
              <a:noAutofit/>
            </a:bodyPr>
            <a:lstStyle/>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Utilizar palabras clave comunes: Inicio, Fin, Leer, Escribir, Si, Entonces, Mientras, Repetir, Hasta que.</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Claridad y sencillez en cada paso.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No emplear estructuras de código específicas de lenguajes de programación.</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Usar indentación para representar la jerarquía y el flujo.</a:t>
              </a:r>
              <a:endParaRPr/>
            </a:p>
            <a:p>
              <a:pPr indent="0" lvl="0" marL="0" marR="0" rtl="0" algn="l">
                <a:lnSpc>
                  <a:spcPct val="2077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pSp>
        <p:nvGrpSpPr>
          <p:cNvPr id="261" name="Google Shape;261;p9"/>
          <p:cNvGrpSpPr/>
          <p:nvPr/>
        </p:nvGrpSpPr>
        <p:grpSpPr>
          <a:xfrm>
            <a:off x="1374903" y="2398856"/>
            <a:ext cx="5980371" cy="5656782"/>
            <a:chOff x="0" y="-314325"/>
            <a:chExt cx="7973829" cy="7542375"/>
          </a:xfrm>
        </p:grpSpPr>
        <p:sp>
          <p:nvSpPr>
            <p:cNvPr id="262" name="Google Shape;262;p9"/>
            <p:cNvSpPr/>
            <p:nvPr/>
          </p:nvSpPr>
          <p:spPr>
            <a:xfrm>
              <a:off x="0" y="0"/>
              <a:ext cx="7973829" cy="7228050"/>
            </a:xfrm>
            <a:custGeom>
              <a:rect b="b" l="l" r="r" t="t"/>
              <a:pathLst>
                <a:path extrusionOk="0" h="7228050" w="7973829">
                  <a:moveTo>
                    <a:pt x="0" y="0"/>
                  </a:moveTo>
                  <a:lnTo>
                    <a:pt x="7973829" y="0"/>
                  </a:lnTo>
                  <a:lnTo>
                    <a:pt x="7973829" y="7228050"/>
                  </a:lnTo>
                  <a:lnTo>
                    <a:pt x="0" y="7228050"/>
                  </a:lnTo>
                  <a:close/>
                </a:path>
              </a:pathLst>
            </a:custGeom>
            <a:solidFill>
              <a:srgbClr val="000000">
                <a:alpha val="0"/>
              </a:srgbClr>
            </a:solidFill>
            <a:ln>
              <a:noFill/>
            </a:ln>
          </p:spPr>
        </p:sp>
        <p:sp>
          <p:nvSpPr>
            <p:cNvPr id="263" name="Google Shape;263;p9"/>
            <p:cNvSpPr txBox="1"/>
            <p:nvPr/>
          </p:nvSpPr>
          <p:spPr>
            <a:xfrm>
              <a:off x="0" y="-314325"/>
              <a:ext cx="7973829" cy="7542374"/>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Declarar variables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Entrada de datos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Procesamiento de datos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Salida de resultados</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p:txBody>
        </p:sp>
      </p:grpSp>
      <p:grpSp>
        <p:nvGrpSpPr>
          <p:cNvPr id="264" name="Google Shape;264;p9"/>
          <p:cNvGrpSpPr/>
          <p:nvPr/>
        </p:nvGrpSpPr>
        <p:grpSpPr>
          <a:xfrm>
            <a:off x="1374901" y="497213"/>
            <a:ext cx="15288901" cy="1256147"/>
            <a:chOff x="0" y="-209550"/>
            <a:chExt cx="20385201" cy="1674862"/>
          </a:xfrm>
        </p:grpSpPr>
        <p:sp>
          <p:nvSpPr>
            <p:cNvPr id="265" name="Google Shape;265;p9"/>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66" name="Google Shape;266;p9"/>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Estructura General de un Pseudocódigo</a:t>
              </a:r>
              <a:endParaRPr/>
            </a:p>
          </p:txBody>
        </p:sp>
      </p:grpSp>
      <p:grpSp>
        <p:nvGrpSpPr>
          <p:cNvPr id="267" name="Google Shape;267;p9"/>
          <p:cNvGrpSpPr/>
          <p:nvPr/>
        </p:nvGrpSpPr>
        <p:grpSpPr>
          <a:xfrm>
            <a:off x="10683430" y="2197238"/>
            <a:ext cx="5980371" cy="6244610"/>
            <a:chOff x="0" y="-314325"/>
            <a:chExt cx="7973829" cy="8326146"/>
          </a:xfrm>
        </p:grpSpPr>
        <p:sp>
          <p:nvSpPr>
            <p:cNvPr id="268" name="Google Shape;268;p9"/>
            <p:cNvSpPr/>
            <p:nvPr/>
          </p:nvSpPr>
          <p:spPr>
            <a:xfrm>
              <a:off x="0" y="0"/>
              <a:ext cx="7973829" cy="8011821"/>
            </a:xfrm>
            <a:custGeom>
              <a:rect b="b" l="l" r="r" t="t"/>
              <a:pathLst>
                <a:path extrusionOk="0" h="8011821" w="7973829">
                  <a:moveTo>
                    <a:pt x="0" y="0"/>
                  </a:moveTo>
                  <a:lnTo>
                    <a:pt x="7973829" y="0"/>
                  </a:lnTo>
                  <a:lnTo>
                    <a:pt x="7973829" y="8011821"/>
                  </a:lnTo>
                  <a:lnTo>
                    <a:pt x="0" y="8011821"/>
                  </a:lnTo>
                  <a:close/>
                </a:path>
              </a:pathLst>
            </a:custGeom>
            <a:solidFill>
              <a:srgbClr val="000000">
                <a:alpha val="0"/>
              </a:srgbClr>
            </a:solidFill>
            <a:ln>
              <a:noFill/>
            </a:ln>
          </p:spPr>
        </p:sp>
        <p:sp>
          <p:nvSpPr>
            <p:cNvPr id="269" name="Google Shape;269;p9"/>
            <p:cNvSpPr txBox="1"/>
            <p:nvPr/>
          </p:nvSpPr>
          <p:spPr>
            <a:xfrm>
              <a:off x="0" y="-314325"/>
              <a:ext cx="7973829" cy="8326146"/>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base</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altura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área ← base * altura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área es: ", área</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pSp>
        <p:nvGrpSpPr>
          <p:cNvPr id="278" name="Google Shape;278;p10"/>
          <p:cNvGrpSpPr/>
          <p:nvPr/>
        </p:nvGrpSpPr>
        <p:grpSpPr>
          <a:xfrm>
            <a:off x="1374901" y="497213"/>
            <a:ext cx="15288901" cy="1256147"/>
            <a:chOff x="0" y="-209550"/>
            <a:chExt cx="20385201" cy="1674862"/>
          </a:xfrm>
        </p:grpSpPr>
        <p:sp>
          <p:nvSpPr>
            <p:cNvPr id="279" name="Google Shape;279;p10"/>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80" name="Google Shape;280;p10"/>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Ejemplos</a:t>
              </a:r>
              <a:endParaRPr/>
            </a:p>
          </p:txBody>
        </p:sp>
      </p:grpSp>
      <p:sp>
        <p:nvSpPr>
          <p:cNvPr id="281" name="Google Shape;281;p10"/>
          <p:cNvSpPr txBox="1"/>
          <p:nvPr/>
        </p:nvSpPr>
        <p:spPr>
          <a:xfrm>
            <a:off x="1866000" y="1903325"/>
            <a:ext cx="6768450" cy="7114274"/>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número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Si número MOD 2 = 0 Entonces</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número es par"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Sino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"El número es impar"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FinSi</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sp>
        <p:nvSpPr>
          <p:cNvPr id="282" name="Google Shape;282;p10"/>
          <p:cNvSpPr txBox="1"/>
          <p:nvPr/>
        </p:nvSpPr>
        <p:spPr>
          <a:xfrm>
            <a:off x="10688950" y="1903325"/>
            <a:ext cx="6852150" cy="7114274"/>
          </a:xfrm>
          <a:prstGeom prst="rect">
            <a:avLst/>
          </a:prstGeom>
          <a:noFill/>
          <a:ln>
            <a:noFill/>
          </a:ln>
        </p:spPr>
        <p:txBody>
          <a:bodyPr anchorCtr="0" anchor="t" bIns="0" lIns="0" spcFirstLastPara="1" rIns="0" wrap="square" tIns="0">
            <a:noAutofit/>
          </a:bodyPr>
          <a:lstStyle/>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Inicio</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Leer N</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suma ← 0</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Para i ← 1 Hasta N Hacer</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suma ← suma + i</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FinPara</a:t>
            </a:r>
            <a:endParaRPr/>
          </a:p>
          <a:p>
            <a:pPr indent="-326548" lvl="1" marL="653097" marR="0" rtl="0" algn="l">
              <a:lnSpc>
                <a:spcPct val="2076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  Escribir "La suma es: ", suma</a:t>
            </a:r>
            <a:endParaRPr/>
          </a:p>
          <a:p>
            <a:pPr indent="-326548" lvl="1" marL="653097" marR="0" rtl="0" algn="l">
              <a:lnSpc>
                <a:spcPct val="207738"/>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Fin</a:t>
            </a:r>
            <a:endParaRPr/>
          </a:p>
          <a:p>
            <a:pPr indent="0" lvl="0" marL="0" marR="0" rtl="0" algn="l">
              <a:lnSpc>
                <a:spcPct val="207638"/>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pSp>
        <p:nvGrpSpPr>
          <p:cNvPr id="291" name="Google Shape;291;p11"/>
          <p:cNvGrpSpPr/>
          <p:nvPr/>
        </p:nvGrpSpPr>
        <p:grpSpPr>
          <a:xfrm>
            <a:off x="1374901" y="497213"/>
            <a:ext cx="15288901" cy="1256147"/>
            <a:chOff x="0" y="-209550"/>
            <a:chExt cx="20385201" cy="1674862"/>
          </a:xfrm>
        </p:grpSpPr>
        <p:sp>
          <p:nvSpPr>
            <p:cNvPr id="292" name="Google Shape;292;p11"/>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293" name="Google Shape;293;p11"/>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Ventajas del Uso de Pseudocódigo</a:t>
              </a:r>
              <a:endParaRPr/>
            </a:p>
          </p:txBody>
        </p:sp>
      </p:grpSp>
      <p:grpSp>
        <p:nvGrpSpPr>
          <p:cNvPr id="294" name="Google Shape;294;p11"/>
          <p:cNvGrpSpPr/>
          <p:nvPr/>
        </p:nvGrpSpPr>
        <p:grpSpPr>
          <a:xfrm>
            <a:off x="1723950" y="2214356"/>
            <a:ext cx="14840100" cy="3476975"/>
            <a:chOff x="0" y="-238125"/>
            <a:chExt cx="19786800" cy="4635966"/>
          </a:xfrm>
        </p:grpSpPr>
        <p:sp>
          <p:nvSpPr>
            <p:cNvPr id="295" name="Google Shape;295;p11"/>
            <p:cNvSpPr/>
            <p:nvPr/>
          </p:nvSpPr>
          <p:spPr>
            <a:xfrm>
              <a:off x="0" y="0"/>
              <a:ext cx="19786800" cy="4397841"/>
            </a:xfrm>
            <a:custGeom>
              <a:rect b="b" l="l" r="r" t="t"/>
              <a:pathLst>
                <a:path extrusionOk="0" h="4397841" w="19786800">
                  <a:moveTo>
                    <a:pt x="0" y="0"/>
                  </a:moveTo>
                  <a:lnTo>
                    <a:pt x="19786800" y="0"/>
                  </a:lnTo>
                  <a:lnTo>
                    <a:pt x="19786800" y="4397841"/>
                  </a:lnTo>
                  <a:lnTo>
                    <a:pt x="0" y="4397841"/>
                  </a:lnTo>
                  <a:close/>
                </a:path>
              </a:pathLst>
            </a:custGeom>
            <a:solidFill>
              <a:srgbClr val="000000">
                <a:alpha val="0"/>
              </a:srgbClr>
            </a:solidFill>
            <a:ln>
              <a:noFill/>
            </a:ln>
          </p:spPr>
        </p:sp>
        <p:sp>
          <p:nvSpPr>
            <p:cNvPr id="296" name="Google Shape;296;p11"/>
            <p:cNvSpPr txBox="1"/>
            <p:nvPr/>
          </p:nvSpPr>
          <p:spPr>
            <a:xfrm>
              <a:off x="0" y="-238125"/>
              <a:ext cx="19786800" cy="4635966"/>
            </a:xfrm>
            <a:prstGeom prst="rect">
              <a:avLst/>
            </a:prstGeom>
            <a:noFill/>
            <a:ln>
              <a:noFill/>
            </a:ln>
          </p:spPr>
          <p:txBody>
            <a:bodyPr anchorCtr="0" anchor="t" bIns="0" lIns="0" spcFirstLastPara="1" rIns="0" wrap="square" tIns="0">
              <a:noAutofit/>
            </a:bodyPr>
            <a:lstStyle/>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Facilita el diseño y planificación de algoritmos.</a:t>
              </a:r>
              <a:endParaRPr/>
            </a:p>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Permite concentrarse en la lógica sin preocuparse por la sintaxis del lenguaje.</a:t>
              </a:r>
              <a:endParaRPr/>
            </a:p>
            <a:p>
              <a:pPr indent="-326548" lvl="1" marL="653097" marR="0" rtl="0" algn="just">
                <a:lnSpc>
                  <a:spcPct val="180026"/>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Facilita la comunicación entre personas sin conocimientos técnicos profundos.</a:t>
              </a:r>
              <a:endParaRPr/>
            </a:p>
            <a:p>
              <a:pPr indent="-326549" lvl="1" marL="653097" marR="0" rtl="0" algn="just">
                <a:lnSpc>
                  <a:spcPct val="180059"/>
                </a:lnSpc>
                <a:spcBef>
                  <a:spcPts val="0"/>
                </a:spcBef>
                <a:spcAft>
                  <a:spcPts val="0"/>
                </a:spcAft>
                <a:buClr>
                  <a:srgbClr val="131416"/>
                </a:buClr>
                <a:buSzPts val="3024"/>
                <a:buFont typeface="Arial"/>
                <a:buChar char="•"/>
              </a:pPr>
              <a:r>
                <a:rPr b="0" i="0" lang="en-US" sz="3024" u="none" cap="none" strike="noStrike">
                  <a:solidFill>
                    <a:srgbClr val="131416"/>
                  </a:solidFill>
                  <a:latin typeface="Arial"/>
                  <a:ea typeface="Arial"/>
                  <a:cs typeface="Arial"/>
                  <a:sym typeface="Arial"/>
                </a:rPr>
                <a:t>Útil como paso previo antes de la programación real.</a:t>
              </a:r>
              <a:endParaRPr/>
            </a:p>
            <a:p>
              <a:pPr indent="0" lvl="0" marL="0" marR="0" rtl="0" algn="just">
                <a:lnSpc>
                  <a:spcPct val="180026"/>
                </a:lnSpc>
                <a:spcBef>
                  <a:spcPts val="0"/>
                </a:spcBef>
                <a:spcAft>
                  <a:spcPts val="0"/>
                </a:spcAft>
                <a:buNone/>
              </a:pPr>
              <a:r>
                <a:t/>
              </a:r>
              <a:endParaRPr b="0" i="0" sz="3024" u="none" cap="none" strike="noStrike">
                <a:solidFill>
                  <a:srgbClr val="131416"/>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p12"/>
          <p:cNvGrpSpPr/>
          <p:nvPr/>
        </p:nvGrpSpPr>
        <p:grpSpPr>
          <a:xfrm>
            <a:off x="1455525" y="2858006"/>
            <a:ext cx="5292300" cy="5533294"/>
            <a:chOff x="0" y="-238125"/>
            <a:chExt cx="7056400" cy="7377725"/>
          </a:xfrm>
        </p:grpSpPr>
        <p:sp>
          <p:nvSpPr>
            <p:cNvPr id="306" name="Google Shape;306;p12"/>
            <p:cNvSpPr/>
            <p:nvPr/>
          </p:nvSpPr>
          <p:spPr>
            <a:xfrm>
              <a:off x="0" y="0"/>
              <a:ext cx="7056400" cy="7139600"/>
            </a:xfrm>
            <a:custGeom>
              <a:rect b="b" l="l" r="r" t="t"/>
              <a:pathLst>
                <a:path extrusionOk="0" h="7139600" w="7056400">
                  <a:moveTo>
                    <a:pt x="0" y="0"/>
                  </a:moveTo>
                  <a:lnTo>
                    <a:pt x="7056400" y="0"/>
                  </a:lnTo>
                  <a:lnTo>
                    <a:pt x="7056400" y="7139600"/>
                  </a:lnTo>
                  <a:lnTo>
                    <a:pt x="0" y="7139600"/>
                  </a:lnTo>
                  <a:close/>
                </a:path>
              </a:pathLst>
            </a:custGeom>
            <a:solidFill>
              <a:srgbClr val="000000">
                <a:alpha val="0"/>
              </a:srgbClr>
            </a:solidFill>
            <a:ln>
              <a:noFill/>
            </a:ln>
          </p:spPr>
        </p:sp>
        <p:sp>
          <p:nvSpPr>
            <p:cNvPr id="307" name="Google Shape;307;p12"/>
            <p:cNvSpPr txBox="1"/>
            <p:nvPr/>
          </p:nvSpPr>
          <p:spPr>
            <a:xfrm>
              <a:off x="0" y="-238125"/>
              <a:ext cx="7056400" cy="7377725"/>
            </a:xfrm>
            <a:prstGeom prst="rect">
              <a:avLst/>
            </a:prstGeom>
            <a:noFill/>
            <a:ln>
              <a:noFill/>
            </a:ln>
          </p:spPr>
          <p:txBody>
            <a:bodyPr anchorCtr="0" anchor="t" bIns="0" lIns="0" spcFirstLastPara="1" rIns="0" wrap="square" tIns="0">
              <a:noAutofit/>
            </a:bodyPr>
            <a:lstStyle/>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Inicio</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Leer número1, número2</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suma ← número1 + número2</a:t>
              </a:r>
              <a:endParaRPr/>
            </a:p>
            <a:p>
              <a:pPr indent="0" lvl="0" marL="0" marR="0" rtl="0" algn="just">
                <a:lnSpc>
                  <a:spcPct val="180026"/>
                </a:lnSpc>
                <a:spcBef>
                  <a:spcPts val="0"/>
                </a:spcBef>
                <a:spcAft>
                  <a:spcPts val="0"/>
                </a:spcAft>
                <a:buNone/>
              </a:pPr>
              <a:r>
                <a:rPr b="0" i="0" lang="en-US" sz="3024" u="none" cap="none" strike="noStrike">
                  <a:solidFill>
                    <a:srgbClr val="131416"/>
                  </a:solidFill>
                  <a:latin typeface="Arial"/>
                  <a:ea typeface="Arial"/>
                  <a:cs typeface="Arial"/>
                  <a:sym typeface="Arial"/>
                </a:rPr>
                <a:t>  Escribir suma</a:t>
              </a:r>
              <a:endParaRPr/>
            </a:p>
            <a:p>
              <a:pPr indent="0" lvl="0" marL="0" marR="0" rtl="0" algn="just">
                <a:lnSpc>
                  <a:spcPct val="180059"/>
                </a:lnSpc>
                <a:spcBef>
                  <a:spcPts val="0"/>
                </a:spcBef>
                <a:spcAft>
                  <a:spcPts val="0"/>
                </a:spcAft>
                <a:buNone/>
              </a:pPr>
              <a:r>
                <a:rPr b="0" i="0" lang="en-US" sz="3024" u="none" cap="none" strike="noStrike">
                  <a:solidFill>
                    <a:srgbClr val="131416"/>
                  </a:solidFill>
                  <a:latin typeface="Arial"/>
                  <a:ea typeface="Arial"/>
                  <a:cs typeface="Arial"/>
                  <a:sym typeface="Arial"/>
                </a:rPr>
                <a:t>Fin</a:t>
              </a:r>
              <a:endParaRPr/>
            </a:p>
          </p:txBody>
        </p:sp>
      </p:grpSp>
      <p:grpSp>
        <p:nvGrpSpPr>
          <p:cNvPr id="308" name="Google Shape;308;p12"/>
          <p:cNvGrpSpPr/>
          <p:nvPr/>
        </p:nvGrpSpPr>
        <p:grpSpPr>
          <a:xfrm>
            <a:off x="1374901" y="497213"/>
            <a:ext cx="15288901" cy="1256147"/>
            <a:chOff x="0" y="-209550"/>
            <a:chExt cx="20385201" cy="1674862"/>
          </a:xfrm>
        </p:grpSpPr>
        <p:sp>
          <p:nvSpPr>
            <p:cNvPr id="309" name="Google Shape;309;p12"/>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10" name="Google Shape;310;p12"/>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Comparación: Pseudocódigo vs Código Real</a:t>
              </a:r>
              <a:endParaRPr/>
            </a:p>
          </p:txBody>
        </p:sp>
      </p:grpSp>
      <p:sp>
        <p:nvSpPr>
          <p:cNvPr id="311" name="Google Shape;311;p12"/>
          <p:cNvSpPr/>
          <p:nvPr/>
        </p:nvSpPr>
        <p:spPr>
          <a:xfrm>
            <a:off x="9019351" y="2627347"/>
            <a:ext cx="7348059" cy="5032307"/>
          </a:xfrm>
          <a:custGeom>
            <a:rect b="b" l="l" r="r" t="t"/>
            <a:pathLst>
              <a:path extrusionOk="0" h="5032307" w="7348059">
                <a:moveTo>
                  <a:pt x="0" y="0"/>
                </a:moveTo>
                <a:lnTo>
                  <a:pt x="7348059" y="0"/>
                </a:lnTo>
                <a:lnTo>
                  <a:pt x="7348059" y="5032306"/>
                </a:lnTo>
                <a:lnTo>
                  <a:pt x="0" y="503230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13"/>
          <p:cNvGrpSpPr/>
          <p:nvPr/>
        </p:nvGrpSpPr>
        <p:grpSpPr>
          <a:xfrm>
            <a:off x="1723950" y="2972816"/>
            <a:ext cx="14840100" cy="4162775"/>
            <a:chOff x="0" y="-238125"/>
            <a:chExt cx="19786800" cy="5550366"/>
          </a:xfrm>
        </p:grpSpPr>
        <p:sp>
          <p:nvSpPr>
            <p:cNvPr id="321" name="Google Shape;321;p13"/>
            <p:cNvSpPr/>
            <p:nvPr/>
          </p:nvSpPr>
          <p:spPr>
            <a:xfrm>
              <a:off x="0" y="0"/>
              <a:ext cx="19786800" cy="5312241"/>
            </a:xfrm>
            <a:custGeom>
              <a:rect b="b" l="l" r="r" t="t"/>
              <a:pathLst>
                <a:path extrusionOk="0" h="5312241" w="19786800">
                  <a:moveTo>
                    <a:pt x="0" y="0"/>
                  </a:moveTo>
                  <a:lnTo>
                    <a:pt x="19786800" y="0"/>
                  </a:lnTo>
                  <a:lnTo>
                    <a:pt x="19786800" y="5312241"/>
                  </a:lnTo>
                  <a:lnTo>
                    <a:pt x="0" y="5312241"/>
                  </a:lnTo>
                  <a:close/>
                </a:path>
              </a:pathLst>
            </a:custGeom>
            <a:solidFill>
              <a:srgbClr val="000000">
                <a:alpha val="0"/>
              </a:srgbClr>
            </a:solidFill>
            <a:ln>
              <a:noFill/>
            </a:ln>
          </p:spPr>
        </p:sp>
        <p:sp>
          <p:nvSpPr>
            <p:cNvPr id="322" name="Google Shape;322;p13"/>
            <p:cNvSpPr txBox="1"/>
            <p:nvPr/>
          </p:nvSpPr>
          <p:spPr>
            <a:xfrm>
              <a:off x="0" y="-238125"/>
              <a:ext cx="19786800" cy="5550366"/>
            </a:xfrm>
            <a:prstGeom prst="rect">
              <a:avLst/>
            </a:prstGeom>
            <a:noFill/>
            <a:ln>
              <a:noFill/>
            </a:ln>
          </p:spPr>
          <p:txBody>
            <a:bodyPr anchorCtr="0" anchor="t" bIns="0" lIns="0" spcFirstLastPara="1" rIns="0" wrap="square" tIns="0">
              <a:noAutofit/>
            </a:bodyPr>
            <a:lstStyle/>
            <a:p>
              <a:pPr indent="0" lvl="0" marL="0" marR="0" rtl="0" algn="just">
                <a:lnSpc>
                  <a:spcPct val="180059"/>
                </a:lnSpc>
                <a:spcBef>
                  <a:spcPts val="0"/>
                </a:spcBef>
                <a:spcAft>
                  <a:spcPts val="0"/>
                </a:spcAft>
                <a:buNone/>
              </a:pPr>
              <a:r>
                <a:rPr b="0" i="0" lang="en-US" sz="3024" u="none" cap="none" strike="noStrike">
                  <a:solidFill>
                    <a:srgbClr val="131416"/>
                  </a:solidFill>
                  <a:latin typeface="Arial"/>
                  <a:ea typeface="Arial"/>
                  <a:cs typeface="Arial"/>
                  <a:sym typeface="Arial"/>
                </a:rPr>
                <a:t>El pseudocódigo actúa como una herramienta intermedia entre el pensamiento lógico y la implementación en un lenguaje de programación. Cuando un estudiante escribe un pseudocódigo, no está limitado por reglas estrictas de sintaxis, lo cual permite que se enfoque en el proceso de resolución de problemas. Esto es especialmente valioso en etapas tempranas del aprendizaje, cuando el principal objetivo no es aprender un lenguaje específico, sino aprender a pensar como programador.</a:t>
              </a:r>
              <a:endParaRPr/>
            </a:p>
          </p:txBody>
        </p:sp>
      </p:grpSp>
      <p:grpSp>
        <p:nvGrpSpPr>
          <p:cNvPr id="323" name="Google Shape;323;p13"/>
          <p:cNvGrpSpPr/>
          <p:nvPr/>
        </p:nvGrpSpPr>
        <p:grpSpPr>
          <a:xfrm>
            <a:off x="1148847" y="497213"/>
            <a:ext cx="16464558" cy="1256147"/>
            <a:chOff x="0" y="-209550"/>
            <a:chExt cx="21952744" cy="1674862"/>
          </a:xfrm>
        </p:grpSpPr>
        <p:sp>
          <p:nvSpPr>
            <p:cNvPr id="324" name="Google Shape;324;p13"/>
            <p:cNvSpPr/>
            <p:nvPr/>
          </p:nvSpPr>
          <p:spPr>
            <a:xfrm>
              <a:off x="0" y="0"/>
              <a:ext cx="21952744" cy="1465312"/>
            </a:xfrm>
            <a:custGeom>
              <a:rect b="b" l="l" r="r" t="t"/>
              <a:pathLst>
                <a:path extrusionOk="0" h="1465312" w="21952744">
                  <a:moveTo>
                    <a:pt x="0" y="0"/>
                  </a:moveTo>
                  <a:lnTo>
                    <a:pt x="21952744" y="0"/>
                  </a:lnTo>
                  <a:lnTo>
                    <a:pt x="21952744" y="1465312"/>
                  </a:lnTo>
                  <a:lnTo>
                    <a:pt x="0" y="1465312"/>
                  </a:lnTo>
                  <a:close/>
                </a:path>
              </a:pathLst>
            </a:custGeom>
            <a:solidFill>
              <a:srgbClr val="000000">
                <a:alpha val="0"/>
              </a:srgbClr>
            </a:solidFill>
            <a:ln>
              <a:noFill/>
            </a:ln>
          </p:spPr>
        </p:sp>
        <p:sp>
          <p:nvSpPr>
            <p:cNvPr id="325" name="Google Shape;325;p13"/>
            <p:cNvSpPr txBox="1"/>
            <p:nvPr/>
          </p:nvSpPr>
          <p:spPr>
            <a:xfrm>
              <a:off x="0" y="-209550"/>
              <a:ext cx="21952743" cy="1674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El Pseudocódigo como Puente entre la Lógica y el Código</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grpSp>
        <p:nvGrpSpPr>
          <p:cNvPr id="334" name="Google Shape;334;p14"/>
          <p:cNvGrpSpPr/>
          <p:nvPr/>
        </p:nvGrpSpPr>
        <p:grpSpPr>
          <a:xfrm>
            <a:off x="1723950" y="3248869"/>
            <a:ext cx="14840100" cy="3710681"/>
            <a:chOff x="0" y="-104775"/>
            <a:chExt cx="19786800" cy="4947575"/>
          </a:xfrm>
        </p:grpSpPr>
        <p:sp>
          <p:nvSpPr>
            <p:cNvPr id="335" name="Google Shape;335;p14"/>
            <p:cNvSpPr/>
            <p:nvPr/>
          </p:nvSpPr>
          <p:spPr>
            <a:xfrm>
              <a:off x="0" y="0"/>
              <a:ext cx="19786800" cy="4842800"/>
            </a:xfrm>
            <a:custGeom>
              <a:rect b="b" l="l" r="r" t="t"/>
              <a:pathLst>
                <a:path extrusionOk="0" h="4842800" w="19786800">
                  <a:moveTo>
                    <a:pt x="0" y="0"/>
                  </a:moveTo>
                  <a:lnTo>
                    <a:pt x="19786800" y="0"/>
                  </a:lnTo>
                  <a:lnTo>
                    <a:pt x="19786800" y="4842800"/>
                  </a:lnTo>
                  <a:lnTo>
                    <a:pt x="0" y="4842800"/>
                  </a:lnTo>
                  <a:close/>
                </a:path>
              </a:pathLst>
            </a:custGeom>
            <a:solidFill>
              <a:srgbClr val="000000">
                <a:alpha val="0"/>
              </a:srgbClr>
            </a:solidFill>
            <a:ln>
              <a:noFill/>
            </a:ln>
          </p:spPr>
        </p:sp>
        <p:sp>
          <p:nvSpPr>
            <p:cNvPr id="336" name="Google Shape;336;p14"/>
            <p:cNvSpPr txBox="1"/>
            <p:nvPr/>
          </p:nvSpPr>
          <p:spPr>
            <a:xfrm>
              <a:off x="0" y="-104775"/>
              <a:ext cx="19786800" cy="4947575"/>
            </a:xfrm>
            <a:prstGeom prst="rect">
              <a:avLst/>
            </a:prstGeom>
            <a:noFill/>
            <a:ln>
              <a:noFill/>
            </a:ln>
          </p:spPr>
          <p:txBody>
            <a:bodyPr anchorCtr="0" anchor="t" bIns="0" lIns="0" spcFirstLastPara="1" rIns="0" wrap="square" tIns="0">
              <a:noAutofit/>
            </a:bodyPr>
            <a:lstStyle/>
            <a:p>
              <a:pPr indent="-221449" lvl="1" marL="442898" marR="0" rtl="0" algn="just">
                <a:lnSpc>
                  <a:spcPct val="137982"/>
                </a:lnSpc>
                <a:spcBef>
                  <a:spcPts val="0"/>
                </a:spcBef>
                <a:spcAft>
                  <a:spcPts val="0"/>
                </a:spcAft>
                <a:buNone/>
              </a:pPr>
              <a:r>
                <a:rPr b="0" i="0" lang="en-US" sz="2925" u="none" cap="none" strike="noStrike">
                  <a:solidFill>
                    <a:srgbClr val="131416"/>
                  </a:solidFill>
                  <a:latin typeface="Arial"/>
                  <a:ea typeface="Arial"/>
                  <a:cs typeface="Arial"/>
                  <a:sym typeface="Arial"/>
                </a:rPr>
                <a:t>En ambientes educativos, el pseudocódigo ha demostrado ser una excelente herramienta para introducir a los estudiantes a los algoritmos sin sobrecargarlos con detalles técnicos. Muchas veces, los errores en los programas no son por mala sintaxis, sino por errores lógicos o de diseño. El pseudocódigo ayuda a aislar ese problema, permitiendo que los estudiantes se concentren en la lógica antes de pasar a la codificación. Por esta razón, los docentes suelen enseñar primero lógica de programación con pseudocódigo antes de introducir lenguajes como Java o Python.</a:t>
              </a:r>
              <a:endParaRPr/>
            </a:p>
          </p:txBody>
        </p:sp>
      </p:grpSp>
      <p:grpSp>
        <p:nvGrpSpPr>
          <p:cNvPr id="337" name="Google Shape;337;p14"/>
          <p:cNvGrpSpPr/>
          <p:nvPr/>
        </p:nvGrpSpPr>
        <p:grpSpPr>
          <a:xfrm>
            <a:off x="1374901" y="497213"/>
            <a:ext cx="15288901" cy="2303897"/>
            <a:chOff x="0" y="-209550"/>
            <a:chExt cx="20385201" cy="3071862"/>
          </a:xfrm>
        </p:grpSpPr>
        <p:sp>
          <p:nvSpPr>
            <p:cNvPr id="338" name="Google Shape;338;p14"/>
            <p:cNvSpPr/>
            <p:nvPr/>
          </p:nvSpPr>
          <p:spPr>
            <a:xfrm>
              <a:off x="0" y="0"/>
              <a:ext cx="20385201" cy="2862312"/>
            </a:xfrm>
            <a:custGeom>
              <a:rect b="b" l="l" r="r" t="t"/>
              <a:pathLst>
                <a:path extrusionOk="0" h="2862312" w="20385201">
                  <a:moveTo>
                    <a:pt x="0" y="0"/>
                  </a:moveTo>
                  <a:lnTo>
                    <a:pt x="20385201" y="0"/>
                  </a:lnTo>
                  <a:lnTo>
                    <a:pt x="20385201" y="2862312"/>
                  </a:lnTo>
                  <a:lnTo>
                    <a:pt x="0" y="2862312"/>
                  </a:lnTo>
                  <a:close/>
                </a:path>
              </a:pathLst>
            </a:custGeom>
            <a:solidFill>
              <a:srgbClr val="000000">
                <a:alpha val="0"/>
              </a:srgbClr>
            </a:solidFill>
            <a:ln>
              <a:noFill/>
            </a:ln>
          </p:spPr>
        </p:sp>
        <p:sp>
          <p:nvSpPr>
            <p:cNvPr id="339" name="Google Shape;339;p14"/>
            <p:cNvSpPr txBox="1"/>
            <p:nvPr/>
          </p:nvSpPr>
          <p:spPr>
            <a:xfrm>
              <a:off x="0" y="-209550"/>
              <a:ext cx="20385200" cy="3071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Pseudocódigo en el Aula: Una Herramienta Didáctica Fundamental</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grpSp>
        <p:nvGrpSpPr>
          <p:cNvPr id="348" name="Google Shape;348;p15"/>
          <p:cNvGrpSpPr/>
          <p:nvPr/>
        </p:nvGrpSpPr>
        <p:grpSpPr>
          <a:xfrm>
            <a:off x="1499550" y="1589053"/>
            <a:ext cx="15288901" cy="4380515"/>
            <a:chOff x="0" y="-219075"/>
            <a:chExt cx="20385201" cy="5840687"/>
          </a:xfrm>
        </p:grpSpPr>
        <p:sp>
          <p:nvSpPr>
            <p:cNvPr id="349" name="Google Shape;349;p15"/>
            <p:cNvSpPr/>
            <p:nvPr/>
          </p:nvSpPr>
          <p:spPr>
            <a:xfrm>
              <a:off x="0" y="0"/>
              <a:ext cx="20385201" cy="5621612"/>
            </a:xfrm>
            <a:custGeom>
              <a:rect b="b" l="l" r="r" t="t"/>
              <a:pathLst>
                <a:path extrusionOk="0" h="5621612" w="20385201">
                  <a:moveTo>
                    <a:pt x="0" y="0"/>
                  </a:moveTo>
                  <a:lnTo>
                    <a:pt x="20385201" y="0"/>
                  </a:lnTo>
                  <a:lnTo>
                    <a:pt x="20385201" y="5621612"/>
                  </a:lnTo>
                  <a:lnTo>
                    <a:pt x="0" y="5621612"/>
                  </a:lnTo>
                  <a:close/>
                </a:path>
              </a:pathLst>
            </a:custGeom>
            <a:solidFill>
              <a:srgbClr val="000000">
                <a:alpha val="0"/>
              </a:srgbClr>
            </a:solidFill>
            <a:ln>
              <a:noFill/>
            </a:ln>
          </p:spPr>
        </p:sp>
        <p:sp>
          <p:nvSpPr>
            <p:cNvPr id="350" name="Google Shape;350;p15"/>
            <p:cNvSpPr txBox="1"/>
            <p:nvPr/>
          </p:nvSpPr>
          <p:spPr>
            <a:xfrm>
              <a:off x="0" y="-219075"/>
              <a:ext cx="20385200" cy="5840687"/>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725" u="none" cap="none" strike="noStrike">
                  <a:solidFill>
                    <a:srgbClr val="131416"/>
                  </a:solidFill>
                  <a:latin typeface="Arial"/>
                  <a:ea typeface="Arial"/>
                  <a:cs typeface="Arial"/>
                  <a:sym typeface="Arial"/>
                </a:rPr>
                <a:t>El pseudocódigo y el diagrama de flujo son dos herramientas que cumplen propósitos similares: representar la lógica de un algoritmo. Sin embargo, mientras que el diagrama de flujo se basa en elementos visuales (formas, flechas, símbolos), el pseudocódigo se basa en estructura textual secuencial, más cercana al código real. Muchos estudiantes prefieren el pseudocódigo porque pueden transcribirlo fácilmente a un lenguaje de programación. Otros encuentran en los diagramas una ayuda visual para comprender flujos complejos. Ambas herramientas se complementan entre sí.</a:t>
              </a:r>
              <a:endParaRPr/>
            </a:p>
          </p:txBody>
        </p:sp>
      </p:grpSp>
      <p:sp>
        <p:nvSpPr>
          <p:cNvPr id="351" name="Google Shape;351;p15"/>
          <p:cNvSpPr/>
          <p:nvPr/>
        </p:nvSpPr>
        <p:spPr>
          <a:xfrm>
            <a:off x="7384801" y="5876879"/>
            <a:ext cx="3518399" cy="3650513"/>
          </a:xfrm>
          <a:custGeom>
            <a:rect b="b" l="l" r="r" t="t"/>
            <a:pathLst>
              <a:path extrusionOk="0" h="3650513" w="3518399">
                <a:moveTo>
                  <a:pt x="0" y="0"/>
                </a:moveTo>
                <a:lnTo>
                  <a:pt x="3518398" y="0"/>
                </a:lnTo>
                <a:lnTo>
                  <a:pt x="3518398" y="3650512"/>
                </a:lnTo>
                <a:lnTo>
                  <a:pt x="0" y="3650512"/>
                </a:lnTo>
                <a:lnTo>
                  <a:pt x="0" y="0"/>
                </a:lnTo>
                <a:close/>
              </a:path>
            </a:pathLst>
          </a:custGeom>
          <a:blipFill rotWithShape="1">
            <a:blip r:embed="rId3">
              <a:alphaModFix/>
            </a:blip>
            <a:stretch>
              <a:fillRect b="0" l="0" r="0" t="0"/>
            </a:stretch>
          </a:blipFill>
          <a:ln>
            <a:noFill/>
          </a:ln>
        </p:spPr>
      </p:sp>
      <p:grpSp>
        <p:nvGrpSpPr>
          <p:cNvPr id="352" name="Google Shape;352;p15"/>
          <p:cNvGrpSpPr/>
          <p:nvPr/>
        </p:nvGrpSpPr>
        <p:grpSpPr>
          <a:xfrm>
            <a:off x="923375" y="332895"/>
            <a:ext cx="16817175" cy="1256087"/>
            <a:chOff x="-602018" y="-428667"/>
            <a:chExt cx="22422900" cy="1893979"/>
          </a:xfrm>
        </p:grpSpPr>
        <p:sp>
          <p:nvSpPr>
            <p:cNvPr id="353" name="Google Shape;353;p15"/>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54" name="Google Shape;354;p15"/>
            <p:cNvSpPr txBox="1"/>
            <p:nvPr/>
          </p:nvSpPr>
          <p:spPr>
            <a:xfrm>
              <a:off x="-602018" y="-428667"/>
              <a:ext cx="22422900" cy="1674900"/>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Relación entre Pseudocódigo y Diagrama de Flujo</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grpSp>
        <p:nvGrpSpPr>
          <p:cNvPr id="363" name="Google Shape;363;p16"/>
          <p:cNvGrpSpPr/>
          <p:nvPr/>
        </p:nvGrpSpPr>
        <p:grpSpPr>
          <a:xfrm>
            <a:off x="1823701" y="4024588"/>
            <a:ext cx="14840100" cy="3785976"/>
            <a:chOff x="0" y="-200025"/>
            <a:chExt cx="19786800" cy="5047968"/>
          </a:xfrm>
        </p:grpSpPr>
        <p:sp>
          <p:nvSpPr>
            <p:cNvPr id="364" name="Google Shape;364;p16"/>
            <p:cNvSpPr/>
            <p:nvPr/>
          </p:nvSpPr>
          <p:spPr>
            <a:xfrm>
              <a:off x="0" y="0"/>
              <a:ext cx="19786800" cy="4847943"/>
            </a:xfrm>
            <a:custGeom>
              <a:rect b="b" l="l" r="r" t="t"/>
              <a:pathLst>
                <a:path extrusionOk="0" h="4847943" w="19786800">
                  <a:moveTo>
                    <a:pt x="0" y="0"/>
                  </a:moveTo>
                  <a:lnTo>
                    <a:pt x="19786800" y="0"/>
                  </a:lnTo>
                  <a:lnTo>
                    <a:pt x="19786800" y="4847943"/>
                  </a:lnTo>
                  <a:lnTo>
                    <a:pt x="0" y="4847943"/>
                  </a:lnTo>
                  <a:close/>
                </a:path>
              </a:pathLst>
            </a:custGeom>
            <a:solidFill>
              <a:srgbClr val="000000">
                <a:alpha val="0"/>
              </a:srgbClr>
            </a:solidFill>
            <a:ln>
              <a:noFill/>
            </a:ln>
          </p:spPr>
        </p:sp>
        <p:sp>
          <p:nvSpPr>
            <p:cNvPr id="365" name="Google Shape;365;p16"/>
            <p:cNvSpPr txBox="1"/>
            <p:nvPr/>
          </p:nvSpPr>
          <p:spPr>
            <a:xfrm>
              <a:off x="0" y="-200025"/>
              <a:ext cx="19786800" cy="5047968"/>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525" u="none" cap="none" strike="noStrike">
                  <a:solidFill>
                    <a:srgbClr val="131416"/>
                  </a:solidFill>
                  <a:latin typeface="Arial"/>
                  <a:ea typeface="Arial"/>
                  <a:cs typeface="Arial"/>
                  <a:sym typeface="Arial"/>
                </a:rPr>
                <a:t>Al igual que en la programación real, escribir pseudocódigo de manera ordenada, clara y consistente es esencial para su efectividad. Se recomienda usar nombres de variables significativos, emplear comentarios que aclaren decisiones importantes, y estructurar el código con indentación adecuada. Estas prácticas, aunque parezcan simples, fomentan desde el inicio una mentalidad disciplinada y profesional, que será de gran utilidad cuando el estudiante avance hacia lenguajes más formales.</a:t>
              </a:r>
              <a:endParaRPr/>
            </a:p>
          </p:txBody>
        </p:sp>
      </p:grpSp>
      <p:grpSp>
        <p:nvGrpSpPr>
          <p:cNvPr id="366" name="Google Shape;366;p16"/>
          <p:cNvGrpSpPr/>
          <p:nvPr/>
        </p:nvGrpSpPr>
        <p:grpSpPr>
          <a:xfrm>
            <a:off x="1599301" y="1868813"/>
            <a:ext cx="15288901" cy="1256147"/>
            <a:chOff x="0" y="-209550"/>
            <a:chExt cx="20385201" cy="1674862"/>
          </a:xfrm>
        </p:grpSpPr>
        <p:sp>
          <p:nvSpPr>
            <p:cNvPr id="367" name="Google Shape;367;p16"/>
            <p:cNvSpPr/>
            <p:nvPr/>
          </p:nvSpPr>
          <p:spPr>
            <a:xfrm>
              <a:off x="0" y="0"/>
              <a:ext cx="20385201" cy="1465312"/>
            </a:xfrm>
            <a:custGeom>
              <a:rect b="b" l="l" r="r" t="t"/>
              <a:pathLst>
                <a:path extrusionOk="0" h="1465312" w="20385201">
                  <a:moveTo>
                    <a:pt x="0" y="0"/>
                  </a:moveTo>
                  <a:lnTo>
                    <a:pt x="20385201" y="0"/>
                  </a:lnTo>
                  <a:lnTo>
                    <a:pt x="20385201" y="1465312"/>
                  </a:lnTo>
                  <a:lnTo>
                    <a:pt x="0" y="1465312"/>
                  </a:lnTo>
                  <a:close/>
                </a:path>
              </a:pathLst>
            </a:custGeom>
            <a:solidFill>
              <a:srgbClr val="000000">
                <a:alpha val="0"/>
              </a:srgbClr>
            </a:solidFill>
            <a:ln>
              <a:noFill/>
            </a:ln>
          </p:spPr>
        </p:sp>
        <p:sp>
          <p:nvSpPr>
            <p:cNvPr id="368" name="Google Shape;368;p16"/>
            <p:cNvSpPr txBox="1"/>
            <p:nvPr/>
          </p:nvSpPr>
          <p:spPr>
            <a:xfrm>
              <a:off x="0" y="-209550"/>
              <a:ext cx="20385200" cy="1674862"/>
            </a:xfrm>
            <a:prstGeom prst="rect">
              <a:avLst/>
            </a:prstGeom>
            <a:noFill/>
            <a:ln>
              <a:noFill/>
            </a:ln>
          </p:spPr>
          <p:txBody>
            <a:bodyPr anchorCtr="0" anchor="t" bIns="0" lIns="0" spcFirstLastPara="1" rIns="0" wrap="square" tIns="0">
              <a:noAutofit/>
            </a:bodyPr>
            <a:lstStyle/>
            <a:p>
              <a:pPr indent="0" lvl="0" marL="0" marR="0" rtl="0" algn="ctr">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Buenas Prácticas al Escribir Pseudocódigo</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17"/>
          <p:cNvGrpSpPr/>
          <p:nvPr/>
        </p:nvGrpSpPr>
        <p:grpSpPr>
          <a:xfrm>
            <a:off x="1374901" y="497213"/>
            <a:ext cx="15288901" cy="2303897"/>
            <a:chOff x="0" y="-209550"/>
            <a:chExt cx="20385201" cy="3071862"/>
          </a:xfrm>
        </p:grpSpPr>
        <p:sp>
          <p:nvSpPr>
            <p:cNvPr id="378" name="Google Shape;378;p17"/>
            <p:cNvSpPr/>
            <p:nvPr/>
          </p:nvSpPr>
          <p:spPr>
            <a:xfrm>
              <a:off x="0" y="0"/>
              <a:ext cx="20385201" cy="2862312"/>
            </a:xfrm>
            <a:custGeom>
              <a:rect b="b" l="l" r="r" t="t"/>
              <a:pathLst>
                <a:path extrusionOk="0" h="2862312" w="20385201">
                  <a:moveTo>
                    <a:pt x="0" y="0"/>
                  </a:moveTo>
                  <a:lnTo>
                    <a:pt x="20385201" y="0"/>
                  </a:lnTo>
                  <a:lnTo>
                    <a:pt x="20385201" y="2862312"/>
                  </a:lnTo>
                  <a:lnTo>
                    <a:pt x="0" y="2862312"/>
                  </a:lnTo>
                  <a:close/>
                </a:path>
              </a:pathLst>
            </a:custGeom>
            <a:solidFill>
              <a:srgbClr val="000000">
                <a:alpha val="0"/>
              </a:srgbClr>
            </a:solidFill>
            <a:ln>
              <a:noFill/>
            </a:ln>
          </p:spPr>
        </p:sp>
        <p:sp>
          <p:nvSpPr>
            <p:cNvPr id="379" name="Google Shape;379;p17"/>
            <p:cNvSpPr txBox="1"/>
            <p:nvPr/>
          </p:nvSpPr>
          <p:spPr>
            <a:xfrm>
              <a:off x="0" y="-209550"/>
              <a:ext cx="20385200" cy="3071862"/>
            </a:xfrm>
            <a:prstGeom prst="rect">
              <a:avLst/>
            </a:prstGeom>
            <a:noFill/>
            <a:ln>
              <a:noFill/>
            </a:ln>
          </p:spPr>
          <p:txBody>
            <a:bodyPr anchorCtr="0" anchor="t" bIns="0" lIns="0" spcFirstLastPara="1" rIns="0" wrap="square" tIns="0">
              <a:noAutofit/>
            </a:bodyPr>
            <a:lstStyle/>
            <a:p>
              <a:pPr indent="0" lvl="0" marL="0" marR="0" rtl="0" algn="just">
                <a:lnSpc>
                  <a:spcPct val="135569"/>
                </a:lnSpc>
                <a:spcBef>
                  <a:spcPts val="0"/>
                </a:spcBef>
                <a:spcAft>
                  <a:spcPts val="0"/>
                </a:spcAft>
                <a:buNone/>
              </a:pPr>
              <a:r>
                <a:rPr b="0" i="0" lang="en-US" sz="6098" u="none" cap="none" strike="noStrike">
                  <a:solidFill>
                    <a:srgbClr val="131416"/>
                  </a:solidFill>
                  <a:latin typeface="Impact"/>
                  <a:ea typeface="Impact"/>
                  <a:cs typeface="Impact"/>
                  <a:sym typeface="Impact"/>
                </a:rPr>
                <a:t>Recomendaciones Finales para Iniciarse en Programación</a:t>
              </a:r>
              <a:endParaRPr/>
            </a:p>
          </p:txBody>
        </p:sp>
      </p:grpSp>
      <p:grpSp>
        <p:nvGrpSpPr>
          <p:cNvPr id="380" name="Google Shape;380;p17"/>
          <p:cNvGrpSpPr/>
          <p:nvPr/>
        </p:nvGrpSpPr>
        <p:grpSpPr>
          <a:xfrm>
            <a:off x="1823701" y="4024588"/>
            <a:ext cx="14840100" cy="3785976"/>
            <a:chOff x="0" y="-200025"/>
            <a:chExt cx="19786800" cy="5047968"/>
          </a:xfrm>
        </p:grpSpPr>
        <p:sp>
          <p:nvSpPr>
            <p:cNvPr id="381" name="Google Shape;381;p17"/>
            <p:cNvSpPr/>
            <p:nvPr/>
          </p:nvSpPr>
          <p:spPr>
            <a:xfrm>
              <a:off x="0" y="0"/>
              <a:ext cx="19786800" cy="4847943"/>
            </a:xfrm>
            <a:custGeom>
              <a:rect b="b" l="l" r="r" t="t"/>
              <a:pathLst>
                <a:path extrusionOk="0" h="4847943" w="19786800">
                  <a:moveTo>
                    <a:pt x="0" y="0"/>
                  </a:moveTo>
                  <a:lnTo>
                    <a:pt x="19786800" y="0"/>
                  </a:lnTo>
                  <a:lnTo>
                    <a:pt x="19786800" y="4847943"/>
                  </a:lnTo>
                  <a:lnTo>
                    <a:pt x="0" y="4847943"/>
                  </a:lnTo>
                  <a:close/>
                </a:path>
              </a:pathLst>
            </a:custGeom>
            <a:solidFill>
              <a:srgbClr val="000000">
                <a:alpha val="0"/>
              </a:srgbClr>
            </a:solidFill>
            <a:ln>
              <a:noFill/>
            </a:ln>
          </p:spPr>
        </p:sp>
        <p:sp>
          <p:nvSpPr>
            <p:cNvPr id="382" name="Google Shape;382;p17"/>
            <p:cNvSpPr txBox="1"/>
            <p:nvPr/>
          </p:nvSpPr>
          <p:spPr>
            <a:xfrm>
              <a:off x="0" y="-200025"/>
              <a:ext cx="19786800" cy="5047968"/>
            </a:xfrm>
            <a:prstGeom prst="rect">
              <a:avLst/>
            </a:prstGeom>
            <a:noFill/>
            <a:ln>
              <a:noFill/>
            </a:ln>
          </p:spPr>
          <p:txBody>
            <a:bodyPr anchorCtr="0" anchor="t" bIns="0" lIns="0" spcFirstLastPara="1" rIns="0" wrap="square" tIns="0">
              <a:noAutofit/>
            </a:bodyPr>
            <a:lstStyle/>
            <a:p>
              <a:pPr indent="0" lvl="0" marL="0" marR="0" rtl="0" algn="just">
                <a:lnSpc>
                  <a:spcPct val="180000"/>
                </a:lnSpc>
                <a:spcBef>
                  <a:spcPts val="0"/>
                </a:spcBef>
                <a:spcAft>
                  <a:spcPts val="0"/>
                </a:spcAft>
                <a:buNone/>
              </a:pPr>
              <a:r>
                <a:rPr b="0" i="0" lang="en-US" sz="2525" u="none" cap="none" strike="noStrike">
                  <a:solidFill>
                    <a:srgbClr val="131416"/>
                  </a:solidFill>
                  <a:latin typeface="Arial"/>
                  <a:ea typeface="Arial"/>
                  <a:cs typeface="Arial"/>
                  <a:sym typeface="Arial"/>
                </a:rPr>
                <a:t>Antes de aprender un lenguaje de programación, es recomendable dominar primero los principios fundamentales de lógica computacional. Comprender qué es un algoritmo, cómo se estructura una decisión, cómo se representa una repetición, y cómo se recibe y entrega información, es el verdadero núcleo de la programación. El pseudocódigo es el primer paso hacia ese entendimiento. Una vez interiorizados estos principios, el aprendizaje de cualquier lenguaje será mucho más natural.</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pSp>
        <p:nvGrpSpPr>
          <p:cNvPr id="391" name="Google Shape;391;p18"/>
          <p:cNvGrpSpPr/>
          <p:nvPr/>
        </p:nvGrpSpPr>
        <p:grpSpPr>
          <a:xfrm>
            <a:off x="4437795" y="3274804"/>
            <a:ext cx="8658900" cy="2029500"/>
            <a:chOff x="0" y="-152400"/>
            <a:chExt cx="11545200" cy="2706000"/>
          </a:xfrm>
        </p:grpSpPr>
        <p:sp>
          <p:nvSpPr>
            <p:cNvPr id="392" name="Google Shape;392;p18"/>
            <p:cNvSpPr/>
            <p:nvPr/>
          </p:nvSpPr>
          <p:spPr>
            <a:xfrm>
              <a:off x="0" y="0"/>
              <a:ext cx="11545200" cy="2553600"/>
            </a:xfrm>
            <a:custGeom>
              <a:rect b="b" l="l" r="r" t="t"/>
              <a:pathLst>
                <a:path extrusionOk="0" h="2553600" w="11545200">
                  <a:moveTo>
                    <a:pt x="0" y="0"/>
                  </a:moveTo>
                  <a:lnTo>
                    <a:pt x="11545200" y="0"/>
                  </a:lnTo>
                  <a:lnTo>
                    <a:pt x="11545200" y="2553600"/>
                  </a:lnTo>
                  <a:lnTo>
                    <a:pt x="0" y="2553600"/>
                  </a:lnTo>
                  <a:close/>
                </a:path>
              </a:pathLst>
            </a:custGeom>
            <a:solidFill>
              <a:srgbClr val="000000">
                <a:alpha val="0"/>
              </a:srgbClr>
            </a:solidFill>
            <a:ln>
              <a:noFill/>
            </a:ln>
          </p:spPr>
        </p:sp>
        <p:sp>
          <p:nvSpPr>
            <p:cNvPr id="393" name="Google Shape;393;p18"/>
            <p:cNvSpPr txBox="1"/>
            <p:nvPr/>
          </p:nvSpPr>
          <p:spPr>
            <a:xfrm>
              <a:off x="0" y="-152400"/>
              <a:ext cx="11545200" cy="2706000"/>
            </a:xfrm>
            <a:prstGeom prst="rect">
              <a:avLst/>
            </a:prstGeom>
            <a:noFill/>
            <a:ln>
              <a:noFill/>
            </a:ln>
          </p:spPr>
          <p:txBody>
            <a:bodyPr anchorCtr="0" anchor="t" bIns="0" lIns="0" spcFirstLastPara="1" rIns="0" wrap="square" tIns="0">
              <a:noAutofit/>
            </a:bodyPr>
            <a:lstStyle/>
            <a:p>
              <a:pPr indent="0" lvl="0" marL="0" marR="0" rtl="0" algn="just">
                <a:lnSpc>
                  <a:spcPct val="124811"/>
                </a:lnSpc>
                <a:spcBef>
                  <a:spcPts val="0"/>
                </a:spcBef>
                <a:spcAft>
                  <a:spcPts val="0"/>
                </a:spcAft>
                <a:buNone/>
              </a:pPr>
              <a:r>
                <a:rPr b="0" i="0" lang="en-US" sz="6098" u="none" cap="none" strike="noStrike">
                  <a:solidFill>
                    <a:srgbClr val="131416"/>
                  </a:solidFill>
                  <a:latin typeface="Impact"/>
                  <a:ea typeface="Impact"/>
                  <a:cs typeface="Impact"/>
                  <a:sym typeface="Impact"/>
                </a:rPr>
                <a:t>¡GRACIAS POR SU  ATENCIÓN!</a:t>
              </a:r>
              <a:endParaRPr/>
            </a:p>
            <a:p>
              <a:pPr indent="0" lvl="0" marL="0" marR="0" rtl="0" algn="just">
                <a:lnSpc>
                  <a:spcPct val="28648"/>
                </a:lnSpc>
                <a:spcBef>
                  <a:spcPts val="0"/>
                </a:spcBef>
                <a:spcAft>
                  <a:spcPts val="0"/>
                </a:spcAft>
                <a:buNone/>
              </a:pPr>
              <a:r>
                <a:t/>
              </a:r>
              <a:endParaRPr b="0" i="0" sz="6098" u="none" cap="none" strike="noStrike">
                <a:solidFill>
                  <a:srgbClr val="131416"/>
                </a:solidFill>
                <a:latin typeface="Impact"/>
                <a:ea typeface="Impact"/>
                <a:cs typeface="Impact"/>
                <a:sym typeface="Impact"/>
              </a:endParaRPr>
            </a:p>
          </p:txBody>
        </p:sp>
      </p:grpSp>
      <p:grpSp>
        <p:nvGrpSpPr>
          <p:cNvPr id="394" name="Google Shape;394;p18"/>
          <p:cNvGrpSpPr/>
          <p:nvPr/>
        </p:nvGrpSpPr>
        <p:grpSpPr>
          <a:xfrm>
            <a:off x="5414714" y="5679497"/>
            <a:ext cx="6704991" cy="1177131"/>
            <a:chOff x="0" y="-371475"/>
            <a:chExt cx="8939988" cy="1569508"/>
          </a:xfrm>
        </p:grpSpPr>
        <p:sp>
          <p:nvSpPr>
            <p:cNvPr id="395" name="Google Shape;395;p18"/>
            <p:cNvSpPr/>
            <p:nvPr/>
          </p:nvSpPr>
          <p:spPr>
            <a:xfrm>
              <a:off x="0" y="0"/>
              <a:ext cx="8939988" cy="1198033"/>
            </a:xfrm>
            <a:custGeom>
              <a:rect b="b" l="l" r="r" t="t"/>
              <a:pathLst>
                <a:path extrusionOk="0" h="1198033" w="8939988">
                  <a:moveTo>
                    <a:pt x="0" y="0"/>
                  </a:moveTo>
                  <a:lnTo>
                    <a:pt x="8939988" y="0"/>
                  </a:lnTo>
                  <a:lnTo>
                    <a:pt x="8939988" y="1198033"/>
                  </a:lnTo>
                  <a:lnTo>
                    <a:pt x="0" y="1198033"/>
                  </a:lnTo>
                  <a:close/>
                </a:path>
              </a:pathLst>
            </a:custGeom>
            <a:solidFill>
              <a:srgbClr val="000000">
                <a:alpha val="0"/>
              </a:srgbClr>
            </a:solidFill>
            <a:ln>
              <a:noFill/>
            </a:ln>
          </p:spPr>
        </p:sp>
        <p:sp>
          <p:nvSpPr>
            <p:cNvPr id="396" name="Google Shape;396;p18"/>
            <p:cNvSpPr txBox="1"/>
            <p:nvPr/>
          </p:nvSpPr>
          <p:spPr>
            <a:xfrm>
              <a:off x="0" y="-371475"/>
              <a:ext cx="8939988" cy="1569508"/>
            </a:xfrm>
            <a:prstGeom prst="rect">
              <a:avLst/>
            </a:prstGeom>
            <a:noFill/>
            <a:ln>
              <a:noFill/>
            </a:ln>
          </p:spPr>
          <p:txBody>
            <a:bodyPr anchorCtr="0" anchor="t" bIns="0" lIns="0" spcFirstLastPara="1" rIns="0" wrap="square" tIns="0">
              <a:noAutofit/>
            </a:bodyPr>
            <a:lstStyle/>
            <a:p>
              <a:pPr indent="0" lvl="0" marL="0" marR="0" rtl="0" algn="ctr">
                <a:lnSpc>
                  <a:spcPct val="177615"/>
                </a:lnSpc>
                <a:spcBef>
                  <a:spcPts val="0"/>
                </a:spcBef>
                <a:spcAft>
                  <a:spcPts val="0"/>
                </a:spcAft>
                <a:buNone/>
              </a:pPr>
              <a:r>
                <a:rPr b="0" i="0" lang="en-US" sz="4999" u="none" cap="none" strike="noStrike">
                  <a:solidFill>
                    <a:srgbClr val="131416"/>
                  </a:solidFill>
                  <a:latin typeface="Arial"/>
                  <a:ea typeface="Arial"/>
                  <a:cs typeface="Arial"/>
                  <a:sym typeface="Arial"/>
                </a:rPr>
                <a:t>DUDAS</a:t>
              </a:r>
              <a:endParaRPr/>
            </a:p>
          </p:txBody>
        </p:sp>
      </p:grpSp>
      <p:sp>
        <p:nvSpPr>
          <p:cNvPr id="397" name="Google Shape;397;p18"/>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3">
              <a:alphaModFix/>
            </a:blip>
            <a:stretch>
              <a:fillRect b="0" l="-6" r="-5" t="0"/>
            </a:stretch>
          </a:blipFill>
          <a:ln>
            <a:noFill/>
          </a:ln>
        </p:spPr>
      </p:sp>
      <p:grpSp>
        <p:nvGrpSpPr>
          <p:cNvPr id="398" name="Google Shape;398;p18"/>
          <p:cNvGrpSpPr/>
          <p:nvPr/>
        </p:nvGrpSpPr>
        <p:grpSpPr>
          <a:xfrm>
            <a:off x="2411098" y="7785435"/>
            <a:ext cx="13465804" cy="833755"/>
            <a:chOff x="0" y="-152400"/>
            <a:chExt cx="17954405" cy="1111673"/>
          </a:xfrm>
        </p:grpSpPr>
        <p:sp>
          <p:nvSpPr>
            <p:cNvPr id="399" name="Google Shape;399;p18"/>
            <p:cNvSpPr/>
            <p:nvPr/>
          </p:nvSpPr>
          <p:spPr>
            <a:xfrm>
              <a:off x="0" y="0"/>
              <a:ext cx="17954405" cy="959273"/>
            </a:xfrm>
            <a:custGeom>
              <a:rect b="b" l="l" r="r" t="t"/>
              <a:pathLst>
                <a:path extrusionOk="0" h="959273" w="17954405">
                  <a:moveTo>
                    <a:pt x="0" y="0"/>
                  </a:moveTo>
                  <a:lnTo>
                    <a:pt x="17954405" y="0"/>
                  </a:lnTo>
                  <a:lnTo>
                    <a:pt x="17954405" y="959273"/>
                  </a:lnTo>
                  <a:lnTo>
                    <a:pt x="0" y="959273"/>
                  </a:lnTo>
                  <a:close/>
                </a:path>
              </a:pathLst>
            </a:custGeom>
            <a:solidFill>
              <a:srgbClr val="000000">
                <a:alpha val="0"/>
              </a:srgbClr>
            </a:solidFill>
            <a:ln>
              <a:noFill/>
            </a:ln>
          </p:spPr>
        </p:sp>
        <p:sp>
          <p:nvSpPr>
            <p:cNvPr id="400" name="Google Shape;400;p18"/>
            <p:cNvSpPr txBox="1"/>
            <p:nvPr/>
          </p:nvSpPr>
          <p:spPr>
            <a:xfrm>
              <a:off x="0" y="-152400"/>
              <a:ext cx="17954405" cy="1111673"/>
            </a:xfrm>
            <a:prstGeom prst="rect">
              <a:avLst/>
            </a:prstGeom>
            <a:noFill/>
            <a:ln>
              <a:noFill/>
            </a:ln>
          </p:spPr>
          <p:txBody>
            <a:bodyPr anchorCtr="0" anchor="t" bIns="0" lIns="0" spcFirstLastPara="1" rIns="0" wrap="square" tIns="0">
              <a:noAutofit/>
            </a:bodyPr>
            <a:lstStyle/>
            <a:p>
              <a:pPr indent="0" lvl="0" marL="0" marR="0" rtl="0" algn="ctr">
                <a:lnSpc>
                  <a:spcPct val="1776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