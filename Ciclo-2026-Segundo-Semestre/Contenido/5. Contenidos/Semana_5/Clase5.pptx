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12"/>
    <p:sldId id="281" r:id="rId31"/>
  </p:sldIdLst>
  <p:sldSz cy="10287000" cx="18288000"/>
  <p:notesSz cx="6858000" cy="9144000"/>
  <p:embeddedFontLst>
    <p:embeddedFont>
      <p:font typeface="Pacifico"/>
      <p:regular r:id="rId32"/>
    </p:embeddedFont>
    <p:embeddedFont>
      <p:font typeface="Open Sans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fDAikaUJEbXJkzQpxjHlQktNB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2" Type="http://schemas.openxmlformats.org/officeDocument/2006/relationships/slide" Target="slides/slide22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6.xml"/><Relationship Id="rId32" Type="http://schemas.openxmlformats.org/officeDocument/2006/relationships/font" Target="fonts/Pacifico-regular.fntdata"/><Relationship Id="rId33" Type="http://schemas.openxmlformats.org/officeDocument/2006/relationships/font" Target="fonts/OpenSans-bold.fntdata"/><Relationship Id="rId34" Type="http://schemas.openxmlformats.org/officeDocument/2006/relationships/font" Target="fonts/OpenSans-boldItalic.fntdata"/><Relationship Id="rId3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" name="Google Shape;105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frase introductoria y relacionar cada competencia con lo que harán en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minutos. Preguntar: ¿alguna vez han cambiado un dato para que el programa 'funcione'?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el diagrama siguiendo las flechas. Enfatizar que la actualización es la que hace que el ciclo termine.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Ejecutar en vivo. Luego quitar contador++ y mostrar el ciclo infinito (detenerlo con el botón Stop).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Ideal para menús: el menú siempre se muestra al menos una vez. Esta estructura se usa en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Señalar cada parte del encabezado. Preguntar: ¿qué imprime si cambio i -= 2 por i -= 3?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Ejecutar los tres fragmentos y pedir que predigan la salida antes de correrlos.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Tabla de síntesis. Pedir un ejemplo propio para cada fila.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Dibujar en la pizarra si es necesario. Insistir en que el primer índice es 0 y el último es length - 1.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que al crear con new se llenan con valores por defecto.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Hacer prueba de escritorio con la tabla de valores de suma y mayor.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con la Práctica 1 (búsqueda en matrices de objetos).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Provocar cada error en vivo y leer juntos el mensaje de la consola.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Análisis y síntesis: pedir a los estudiantes que expliquen cada concepto con sus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Ejercicio demostrativo (20 min). Escribirlo en vivo desde cero, explicando cada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 actividad con la plantilla DTT. Resolver dudas antes de iniciar.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Compartir los enlaces en el foro semanal.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4" name="Google Shape;494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oracle.com/javase/tutorial/java/nutsandbolts/arrays.html" TargetMode="External"/><Relationship Id="rId4" Type="http://schemas.openxmlformats.org/officeDocument/2006/relationships/hyperlink" Target="https://docs.oracle.com/javase/tutorial/essential/exceptions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cs.oracle.com/javase/tutorial/java/nutsandbolts/arrays.html" TargetMode="External"/><Relationship Id="rId3" Type="http://schemas.openxmlformats.org/officeDocument/2006/relationships/hyperlink" Target="https://docs.oracle.com/javase/tutorial/java/nutsandbolts/while.html" TargetMode="External"/><Relationship Id="rId4" Type="http://schemas.openxmlformats.org/officeDocument/2006/relationships/hyperlink" Target="https://docs.oracle.com/javase/tutorial/java/nutsandbolts/for.html" TargetMode="External"/><Relationship Id="rId5" Type="http://schemas.openxmlformats.org/officeDocument/2006/relationships/hyperlink" Target="https://docs.oracle.com/javase/tutorial/essential/exceptions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2541309" y="0"/>
            <a:ext cx="5746718" cy="1711738"/>
          </a:xfrm>
          <a:custGeom>
            <a:rect b="b" l="l" r="r" t="t"/>
            <a:pathLst>
              <a:path extrusionOk="0" h="2282317" w="7662291">
                <a:moveTo>
                  <a:pt x="0" y="0"/>
                </a:moveTo>
                <a:lnTo>
                  <a:pt x="7662291" y="0"/>
                </a:lnTo>
                <a:lnTo>
                  <a:pt x="7662291" y="2282317"/>
                </a:lnTo>
                <a:lnTo>
                  <a:pt x="0" y="228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081353" y="284324"/>
            <a:ext cx="11459956" cy="2018550"/>
            <a:chOff x="0" y="-228600"/>
            <a:chExt cx="17457600" cy="26914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7457600" cy="2462800"/>
            </a:xfrm>
            <a:custGeom>
              <a:rect b="b" l="l" r="r" t="t"/>
              <a:pathLst>
                <a:path extrusionOk="0" h="2462800" w="17457600">
                  <a:moveTo>
                    <a:pt x="0" y="0"/>
                  </a:moveTo>
                  <a:lnTo>
                    <a:pt x="17457600" y="0"/>
                  </a:lnTo>
                  <a:lnTo>
                    <a:pt x="17457600" y="2462800"/>
                  </a:lnTo>
                  <a:lnTo>
                    <a:pt x="0" y="246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228600"/>
              <a:ext cx="17457600" cy="26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9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Introducción a la Programación y Computación 1</a:t>
              </a:r>
              <a:endParaRPr/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2687399" y="3701337"/>
            <a:ext cx="13860001" cy="2813209"/>
            <a:chOff x="0" y="-285750"/>
            <a:chExt cx="18480001" cy="3750944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8480001" cy="3465194"/>
            </a:xfrm>
            <a:custGeom>
              <a:rect b="b" l="l" r="r" t="t"/>
              <a:pathLst>
                <a:path extrusionOk="0" h="3465194" w="18480001">
                  <a:moveTo>
                    <a:pt x="0" y="0"/>
                  </a:moveTo>
                  <a:lnTo>
                    <a:pt x="18480001" y="0"/>
                  </a:lnTo>
                  <a:lnTo>
                    <a:pt x="18480001" y="3465194"/>
                  </a:lnTo>
                  <a:lnTo>
                    <a:pt x="0" y="34651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285750"/>
              <a:ext cx="18480000" cy="3750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1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Ciclos y Arreglos en Java</a:t>
              </a:r>
              <a:endParaRPr b="1" sz="6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1081353" y="8455051"/>
            <a:ext cx="6981300" cy="1547625"/>
            <a:chOff x="0" y="-114300"/>
            <a:chExt cx="9308400" cy="20635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9308400" cy="1949200"/>
            </a:xfrm>
            <a:custGeom>
              <a:rect b="b" l="l" r="r" t="t"/>
              <a:pathLst>
                <a:path extrusionOk="0" h="1949200" w="9308400">
                  <a:moveTo>
                    <a:pt x="0" y="0"/>
                  </a:moveTo>
                  <a:lnTo>
                    <a:pt x="9308400" y="0"/>
                  </a:lnTo>
                  <a:lnTo>
                    <a:pt x="9308400" y="1949200"/>
                  </a:lnTo>
                  <a:lnTo>
                    <a:pt x="0" y="194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-114300"/>
              <a:ext cx="9308400" cy="20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/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Ingeniería</a:t>
              </a:r>
              <a:endParaRPr/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Ciencias Y Sistemas</a:t>
              </a:r>
              <a:endParaRPr/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2688336" y="6400800"/>
            <a:ext cx="13862304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E8772E"/>
                </a:solidFill>
                <a:latin typeface="Open Sans"/>
              </a:rPr>
              <a:t>Semana 5  ·  Unidad 2: Java Básico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1600200" y="4383037"/>
            <a:ext cx="9827590" cy="1002729"/>
            <a:chOff x="0" y="-209550"/>
            <a:chExt cx="13103453" cy="1336971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3103453" cy="1127421"/>
            </a:xfrm>
            <a:custGeom>
              <a:rect b="b" l="l" r="r" t="t"/>
              <a:pathLst>
                <a:path extrusionOk="0" h="1127421" w="13103453">
                  <a:moveTo>
                    <a:pt x="0" y="0"/>
                  </a:moveTo>
                  <a:lnTo>
                    <a:pt x="13103453" y="0"/>
                  </a:lnTo>
                  <a:lnTo>
                    <a:pt x="13103453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209550"/>
              <a:ext cx="13103453" cy="1336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¿Qué es un ciclo?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866989" y="2856821"/>
            <a:ext cx="3681207" cy="1713646"/>
            <a:chOff x="0" y="-209550"/>
            <a:chExt cx="4908276" cy="2284862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9" l="0" r="0" t="-3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380356" y="99554"/>
            <a:ext cx="7894893" cy="5241017"/>
            <a:chOff x="-246123" y="-257175"/>
            <a:chExt cx="10526524" cy="6988023"/>
          </a:xfrm>
        </p:grpSpPr>
        <p:sp>
          <p:nvSpPr>
            <p:cNvPr id="121" name="Google Shape;121;p2"/>
            <p:cNvSpPr/>
            <p:nvPr/>
          </p:nvSpPr>
          <p:spPr>
            <a:xfrm>
              <a:off x="-246123" y="1307948"/>
              <a:ext cx="10280401" cy="5422900"/>
            </a:xfrm>
            <a:custGeom>
              <a:rect b="b" l="l" r="r" t="t"/>
              <a:pathLst>
                <a:path extrusionOk="0" h="5422900" w="10280401">
                  <a:moveTo>
                    <a:pt x="0" y="0"/>
                  </a:moveTo>
                  <a:lnTo>
                    <a:pt x="10280401" y="0"/>
                  </a:lnTo>
                  <a:lnTo>
                    <a:pt x="10280401" y="5422900"/>
                  </a:lnTo>
                  <a:lnTo>
                    <a:pt x="0" y="542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257175"/>
              <a:ext cx="10280401" cy="568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7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0">
                  <a:solidFill>
                    <a:srgbClr val="131416"/>
                  </a:solidFill>
                  <a:latin typeface="Pacifico"/>
                  <a:ea typeface="Pacifico"/>
                  <a:cs typeface="Pacifico"/>
                  <a:sym typeface="Pacifico"/>
                </a:rPr>
                <a:t>Agenda</a:t>
              </a:r>
              <a:endParaRPr/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600200" y="5170645"/>
            <a:ext cx="7072456" cy="1002729"/>
            <a:chOff x="0" y="-209550"/>
            <a:chExt cx="9429941" cy="1336971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9429941" cy="1127421"/>
            </a:xfrm>
            <a:custGeom>
              <a:rect b="b" l="l" r="r" t="t"/>
              <a:pathLst>
                <a:path extrusionOk="0" h="1127421" w="9429941">
                  <a:moveTo>
                    <a:pt x="0" y="0"/>
                  </a:moveTo>
                  <a:lnTo>
                    <a:pt x="9429941" y="0"/>
                  </a:lnTo>
                  <a:lnTo>
                    <a:pt x="9429941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0" y="-209550"/>
              <a:ext cx="9429940" cy="1336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Ciclos while y do-while</a:t>
              </a:r>
              <a:endParaRPr/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176625" y="6604851"/>
            <a:ext cx="5805583" cy="666369"/>
          </a:xfrm>
          <a:custGeom>
            <a:rect b="b" l="l" r="r" t="t"/>
            <a:pathLst>
              <a:path extrusionOk="0" h="888492" w="7740777">
                <a:moveTo>
                  <a:pt x="6940042" y="0"/>
                </a:moveTo>
                <a:lnTo>
                  <a:pt x="0" y="0"/>
                </a:lnTo>
                <a:lnTo>
                  <a:pt x="0" y="888492"/>
                </a:lnTo>
                <a:lnTo>
                  <a:pt x="6940042" y="888492"/>
                </a:lnTo>
                <a:lnTo>
                  <a:pt x="7740777" y="444246"/>
                </a:lnTo>
                <a:lnTo>
                  <a:pt x="69400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1600200" y="6066273"/>
            <a:ext cx="5805290" cy="1002731"/>
            <a:chOff x="0" y="-209550"/>
            <a:chExt cx="7740387" cy="1336974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7740387" cy="1127424"/>
            </a:xfrm>
            <a:custGeom>
              <a:rect b="b" l="l" r="r" t="t"/>
              <a:pathLst>
                <a:path extrusionOk="0" h="1127424" w="7740387">
                  <a:moveTo>
                    <a:pt x="0" y="0"/>
                  </a:moveTo>
                  <a:lnTo>
                    <a:pt x="7740387" y="0"/>
                  </a:lnTo>
                  <a:lnTo>
                    <a:pt x="7740387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209550"/>
              <a:ext cx="7740387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Ciclo for y for-each</a:t>
              </a:r>
              <a:endParaRPr/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48712" y="7528433"/>
            <a:ext cx="8213408" cy="666369"/>
          </a:xfrm>
          <a:custGeom>
            <a:rect b="b" l="l" r="r" t="t"/>
            <a:pathLst>
              <a:path extrusionOk="0" h="888492" w="10951210">
                <a:moveTo>
                  <a:pt x="9818243" y="0"/>
                </a:moveTo>
                <a:lnTo>
                  <a:pt x="0" y="0"/>
                </a:lnTo>
                <a:lnTo>
                  <a:pt x="0" y="888492"/>
                </a:lnTo>
                <a:lnTo>
                  <a:pt x="9818243" y="888492"/>
                </a:lnTo>
                <a:lnTo>
                  <a:pt x="10951210" y="444246"/>
                </a:lnTo>
                <a:lnTo>
                  <a:pt x="981824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1600200" y="7192111"/>
            <a:ext cx="8058586" cy="1002731"/>
            <a:chOff x="0" y="-209550"/>
            <a:chExt cx="10744782" cy="1336974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0744782" cy="1127424"/>
            </a:xfrm>
            <a:custGeom>
              <a:rect b="b" l="l" r="r" t="t"/>
              <a:pathLst>
                <a:path extrusionOk="0" h="1127424" w="10744782">
                  <a:moveTo>
                    <a:pt x="0" y="0"/>
                  </a:moveTo>
                  <a:lnTo>
                    <a:pt x="10744782" y="0"/>
                  </a:lnTo>
                  <a:lnTo>
                    <a:pt x="10744782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209550"/>
              <a:ext cx="10744782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break y continue</a:t>
              </a: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453114" y="8591895"/>
            <a:ext cx="12167330" cy="666369"/>
          </a:xfrm>
          <a:custGeom>
            <a:rect b="b" l="l" r="r" t="t"/>
            <a:pathLst>
              <a:path extrusionOk="0" h="888492" w="16223107">
                <a:moveTo>
                  <a:pt x="14544802" y="0"/>
                </a:moveTo>
                <a:lnTo>
                  <a:pt x="0" y="0"/>
                </a:lnTo>
                <a:lnTo>
                  <a:pt x="0" y="888492"/>
                </a:lnTo>
                <a:lnTo>
                  <a:pt x="14544802" y="888492"/>
                </a:lnTo>
                <a:lnTo>
                  <a:pt x="16223107" y="444246"/>
                </a:lnTo>
                <a:lnTo>
                  <a:pt x="14544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2"/>
          <p:cNvGrpSpPr/>
          <p:nvPr/>
        </p:nvGrpSpPr>
        <p:grpSpPr>
          <a:xfrm>
            <a:off x="1600200" y="8255762"/>
            <a:ext cx="11458587" cy="1002694"/>
            <a:chOff x="0" y="-209550"/>
            <a:chExt cx="15278116" cy="1336926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5278116" cy="1127376"/>
            </a:xfrm>
            <a:custGeom>
              <a:rect b="b" l="l" r="r" t="t"/>
              <a:pathLst>
                <a:path extrusionOk="0" h="1127376" w="15278116">
                  <a:moveTo>
                    <a:pt x="0" y="0"/>
                  </a:moveTo>
                  <a:lnTo>
                    <a:pt x="15278116" y="0"/>
                  </a:lnTo>
                  <a:lnTo>
                    <a:pt x="15278116" y="1127376"/>
                  </a:lnTo>
                  <a:lnTo>
                    <a:pt x="0" y="1127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0" y="-209550"/>
              <a:ext cx="15278115" cy="1336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¿Cuál ciclo usar?</a:t>
              </a:r>
              <a:endParaRPr/>
            </a:p>
          </p:txBody>
        </p:sp>
      </p:grpSp>
      <p:sp>
        <p:nvSpPr>
          <p:cNvPr id="139" name="Google Shape;139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78654" y="860554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177169" y="4699461"/>
            <a:ext cx="4613625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"/>
          <p:cNvGrpSpPr/>
          <p:nvPr/>
        </p:nvGrpSpPr>
        <p:grpSpPr>
          <a:xfrm>
            <a:off x="11430000" y="4383013"/>
            <a:ext cx="4613278" cy="1002731"/>
            <a:chOff x="0" y="-209550"/>
            <a:chExt cx="6151038" cy="1336974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6151038" cy="1127424"/>
            </a:xfrm>
            <a:custGeom>
              <a:rect b="b" l="l" r="r" t="t"/>
              <a:pathLst>
                <a:path extrusionOk="0" h="1127424" w="6151038">
                  <a:moveTo>
                    <a:pt x="0" y="0"/>
                  </a:moveTo>
                  <a:lnTo>
                    <a:pt x="6151038" y="0"/>
                  </a:lnTo>
                  <a:lnTo>
                    <a:pt x="6151038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0" y="-209550"/>
              <a:ext cx="6151038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¿Qué es un arreglo?</a:t>
              </a:r>
              <a:endParaRPr/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1072190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0019869" y="5632375"/>
            <a:ext cx="4613624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11430000" y="5228604"/>
            <a:ext cx="5095252" cy="1002731"/>
            <a:chOff x="0" y="-209550"/>
            <a:chExt cx="6793669" cy="1336974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0" y="-209550"/>
              <a:ext cx="6793669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Declarar y recorrer arreglos</a:t>
              </a:r>
              <a:endParaRPr/>
            </a:p>
          </p:txBody>
        </p:sp>
      </p:grpSp>
      <p:sp>
        <p:nvSpPr>
          <p:cNvPr id="152" name="Google Shape;152;p2"/>
          <p:cNvSpPr/>
          <p:nvPr/>
        </p:nvSpPr>
        <p:spPr>
          <a:xfrm>
            <a:off x="10721904" y="56733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2"/>
          <p:cNvGrpSpPr/>
          <p:nvPr/>
        </p:nvGrpSpPr>
        <p:grpSpPr>
          <a:xfrm>
            <a:off x="11430000" y="6268529"/>
            <a:ext cx="5095252" cy="1002731"/>
            <a:chOff x="0" y="-209550"/>
            <a:chExt cx="6793669" cy="1336974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0" y="-209550"/>
              <a:ext cx="6793669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Arreglos bidimensionales</a:t>
              </a:r>
              <a:endParaRPr/>
            </a:p>
          </p:txBody>
        </p:sp>
      </p:grpSp>
      <p:sp>
        <p:nvSpPr>
          <p:cNvPr id="156" name="Google Shape;156;p2"/>
          <p:cNvSpPr/>
          <p:nvPr/>
        </p:nvSpPr>
        <p:spPr>
          <a:xfrm>
            <a:off x="10721904" y="6713267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2"/>
          <p:cNvGrpSpPr/>
          <p:nvPr/>
        </p:nvGrpSpPr>
        <p:grpSpPr>
          <a:xfrm>
            <a:off x="11430000" y="7133148"/>
            <a:ext cx="5095252" cy="1002730"/>
            <a:chOff x="0" y="-209550"/>
            <a:chExt cx="6793669" cy="1336974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0" y="-209550"/>
              <a:ext cx="6793669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Errores y excepciones</a:t>
              </a:r>
              <a:endParaRPr/>
            </a:p>
          </p:txBody>
        </p:sp>
      </p:grpSp>
      <p:sp>
        <p:nvSpPr>
          <p:cNvPr id="160" name="Google Shape;160;p2"/>
          <p:cNvSpPr/>
          <p:nvPr/>
        </p:nvSpPr>
        <p:spPr>
          <a:xfrm>
            <a:off x="10721904" y="757788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2"/>
          <p:cNvGrpSpPr/>
          <p:nvPr/>
        </p:nvGrpSpPr>
        <p:grpSpPr>
          <a:xfrm>
            <a:off x="11430000" y="8433181"/>
            <a:ext cx="6739153" cy="1002730"/>
            <a:chOff x="0" y="-209550"/>
            <a:chExt cx="8985538" cy="1336974"/>
          </a:xfrm>
        </p:grpSpPr>
        <p:sp>
          <p:nvSpPr>
            <p:cNvPr id="162" name="Google Shape;162;p2"/>
            <p:cNvSpPr/>
            <p:nvPr/>
          </p:nvSpPr>
          <p:spPr>
            <a:xfrm>
              <a:off x="0" y="0"/>
              <a:ext cx="8985538" cy="1127424"/>
            </a:xfrm>
            <a:custGeom>
              <a:rect b="b" l="l" r="r" t="t"/>
              <a:pathLst>
                <a:path extrusionOk="0" h="1127424" w="8985538">
                  <a:moveTo>
                    <a:pt x="0" y="0"/>
                  </a:moveTo>
                  <a:lnTo>
                    <a:pt x="8985538" y="0"/>
                  </a:lnTo>
                  <a:lnTo>
                    <a:pt x="8985538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"/>
            <p:cNvSpPr txBox="1"/>
            <p:nvPr/>
          </p:nvSpPr>
          <p:spPr>
            <a:xfrm>
              <a:off x="0" y="-209550"/>
              <a:ext cx="8985538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none" tIns="0">
              <a:noAutofit/>
            </a:bodyPr>
            <a:lstStyle/>
            <a:p>
              <a:pPr indent="0" lvl="0" marL="0" marR="0" rtl="0" algn="l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Ejemplo y actividad práctica</a:t>
              </a:r>
              <a:endParaRPr/>
            </a:p>
          </p:txBody>
        </p:sp>
      </p:grpSp>
      <p:sp>
        <p:nvSpPr>
          <p:cNvPr id="164" name="Google Shape;164;p2"/>
          <p:cNvSpPr/>
          <p:nvPr/>
        </p:nvSpPr>
        <p:spPr>
          <a:xfrm>
            <a:off x="10721904" y="87282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" l="0" r="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Competencias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596070"/>
                </a:solidFill>
                <a:latin typeface="Calibri"/>
              </a:rPr>
              <a:t>Al finalizar esta sesión, el estudiante será capaz de: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108960"/>
            <a:ext cx="4937760" cy="5760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3474720"/>
            <a:ext cx="914400" cy="9144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57200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Implementa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53949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Sistemas de software en Java que usan ciclos y arreglos para procesar colecciones de datos, cuidando la integridad y seguridad de la información.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108960"/>
            <a:ext cx="4937760" cy="5760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0" y="3474720"/>
            <a:ext cx="914400" cy="9144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57200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Evalúa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3949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La robustez y mantenibilidad de su código, anticipando errores como índices fuera de rango o entradas inválidas con manejo de excepciones.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978640" y="3108960"/>
            <a:ext cx="4937760" cy="576072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400" y="3474720"/>
            <a:ext cx="914400" cy="91440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0" y="4572000"/>
            <a:ext cx="4206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 i="0">
                <a:solidFill>
                  <a:srgbClr val="E8772E"/>
                </a:solidFill>
                <a:latin typeface="Calibri"/>
              </a:rPr>
              <a:t>Selecciona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0" y="5394960"/>
            <a:ext cx="420624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El ciclo adecuado (while, do-while, for o for-each) según el problema y la cantidad de repeticiones necesarias.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Valor de la semana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6035040" cy="7132320"/>
          </a:xfrm>
          <a:prstGeom prst="roundRect">
            <a:avLst>
              <a:gd name="adj" fmla="val 5000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651760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VALOR DE LA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Impact"/>
              </a:rPr>
              <a:t>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512064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900" b="0" i="0">
                <a:solidFill>
                  <a:srgbClr val="FFFFFF"/>
                </a:solidFill>
                <a:latin typeface="Calibri"/>
              </a:rPr>
              <a:t>Actuar con transparencia: reconocer los errores, no ocultarlos ni falsear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94560"/>
            <a:ext cx="8869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¿Cómo se relaciona con el tema?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926080"/>
            <a:ext cx="88696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Los arreglos y los ciclos manejan la información de un sistema. La honestidad se refleja en la integridad de esos datos: lo que el programa guarda y muestra debe ser lo que realmente ocurrió.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394960"/>
            <a:ext cx="8869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En la práctica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126480"/>
            <a:ext cx="88696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lnSpc>
                <a:spcPct val="105000"/>
              </a:lnSpc>
              <a:spcAft>
                <a:spcPts val="800"/>
              </a:spcAft>
              <a:buClr>
                <a:srgbClr val="E8772E"/>
              </a:buClr>
              <a:buFont typeface="Arial"/>
              <a:buChar char="•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No alterar ni “maquillar” los datos de un arreglo para forzar una salida correcta.</a:t>
            </a:r>
          </a:p>
          <a:p>
            <a:pPr algn="l" marL="365760" indent="-365760">
              <a:lnSpc>
                <a:spcPct val="105000"/>
              </a:lnSpc>
              <a:spcAft>
                <a:spcPts val="800"/>
              </a:spcAft>
              <a:buClr>
                <a:srgbClr val="E8772E"/>
              </a:buClr>
              <a:buFont typeface="Arial"/>
              <a:buChar char="•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Reconocer y corregir errores lógicos (índices incorrectos, ciclos infinitos) en lugar de ignorarlos.</a:t>
            </a:r>
          </a:p>
          <a:p>
            <a:pPr algn="l" marL="365760" indent="-365760">
              <a:lnSpc>
                <a:spcPct val="105000"/>
              </a:lnSpc>
              <a:spcAft>
                <a:spcPts val="800"/>
              </a:spcAft>
              <a:buClr>
                <a:srgbClr val="E8772E"/>
              </a:buClr>
              <a:buFont typeface="Arial"/>
              <a:buChar char="•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Entregar código propio y citar la ayuda recibida (compañeros, foros o IA).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¿Qué es un ciclo?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8229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0" i="0">
                <a:solidFill>
                  <a:srgbClr val="131416"/>
                </a:solidFill>
                <a:latin typeface="Calibri"/>
              </a:rPr>
              <a:t>Un ciclo (o bucle) repite un bloque de instrucciones mientras se cumpla una condición. Evita duplicar código y permite procesar datos cuyo tamaño no conocemos de antemano.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82296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Partes de todo ciclo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5120640"/>
            <a:ext cx="731520" cy="73152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5166359"/>
            <a:ext cx="7315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Inicialización: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valor inicial de la variable de control.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6172200"/>
            <a:ext cx="731520" cy="73152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6217920"/>
            <a:ext cx="7315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Condición: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se evalúa para decidir si se repite.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223759"/>
            <a:ext cx="731520" cy="73152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7269479"/>
            <a:ext cx="7315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Cuerpo: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instrucciones que se repiten.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8275319"/>
            <a:ext cx="731520" cy="731520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8321040"/>
            <a:ext cx="7315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Actualización: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cambia la variable para acercarse al fin.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58600" y="2103120"/>
            <a:ext cx="3200400" cy="82296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Inicio</a:t>
            </a:r>
          </a:p>
        </p:txBody>
      </p:sp>
      <p:sp>
        <p:nvSpPr>
          <p:cNvPr id="14" name="Diamond 13"/>
          <p:cNvSpPr/>
          <p:nvPr/>
        </p:nvSpPr>
        <p:spPr>
          <a:xfrm>
            <a:off x="11201400" y="3520440"/>
            <a:ext cx="4114800" cy="1737360"/>
          </a:xfrm>
          <a:prstGeom prst="diamond">
            <a:avLst/>
          </a:prstGeom>
          <a:solidFill>
            <a:srgbClr val="FDEBDD"/>
          </a:solidFill>
          <a:ln w="1905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¿Condición?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58600" y="58978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90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Cuerpo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8600" y="74523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90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Actualización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910559" y="3977639"/>
            <a:ext cx="1737360" cy="82296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0" y="2926080"/>
            <a:ext cx="0" cy="594360"/>
          </a:xfrm>
          <a:prstGeom prst="line">
            <a:avLst/>
          </a:prstGeom>
          <a:ln w="28575">
            <a:solidFill>
              <a:srgbClr val="1314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258800" y="5257800"/>
            <a:ext cx="0" cy="640080"/>
          </a:xfrm>
          <a:prstGeom prst="line">
            <a:avLst/>
          </a:prstGeom>
          <a:ln w="28575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95960" y="530352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E8B57"/>
                </a:solidFill>
                <a:latin typeface="Calibri"/>
              </a:rPr>
              <a:t>verdadero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258800" y="6812280"/>
            <a:ext cx="0" cy="640080"/>
          </a:xfrm>
          <a:prstGeom prst="line">
            <a:avLst/>
          </a:prstGeom>
          <a:ln w="28575">
            <a:solidFill>
              <a:srgbClr val="1314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607040" y="7909560"/>
            <a:ext cx="1051560" cy="0"/>
          </a:xfrm>
          <a:prstGeom prst="line">
            <a:avLst/>
          </a:prstGeom>
          <a:ln w="28575">
            <a:solidFill>
              <a:srgbClr val="13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07040" y="4389120"/>
            <a:ext cx="0" cy="3520440"/>
          </a:xfrm>
          <a:prstGeom prst="line">
            <a:avLst/>
          </a:prstGeom>
          <a:ln w="28575">
            <a:solidFill>
              <a:srgbClr val="1314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07040" y="4389120"/>
            <a:ext cx="594360" cy="0"/>
          </a:xfrm>
          <a:prstGeom prst="line">
            <a:avLst/>
          </a:prstGeom>
          <a:ln w="28575">
            <a:solidFill>
              <a:srgbClr val="13141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316200" y="4389120"/>
            <a:ext cx="594359" cy="0"/>
          </a:xfrm>
          <a:prstGeom prst="line">
            <a:avLst/>
          </a:prstGeom>
          <a:ln w="28575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5224759" y="4572000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falso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Ciclo 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131416"/>
                </a:solidFill>
                <a:latin typeface="Calibri"/>
              </a:rPr>
              <a:t>Evalúa la condición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antes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 de ejecutar el cuerpo: puede repetirse cero veces.</a:t>
            </a:r>
          </a:p>
        </p:txBody>
      </p:sp>
      <p:sp>
        <p:nvSpPr>
          <p:cNvPr id="4" name="Codigo"/>
          <p:cNvSpPr/>
          <p:nvPr/>
        </p:nvSpPr>
        <p:spPr>
          <a:xfrm>
            <a:off x="1371600" y="3200400"/>
            <a:ext cx="8595360" cy="329184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contador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A657"/>
                </a:solidFill>
                <a:latin typeface="Courier New"/>
              </a:rPr>
              <a:t>while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contador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79C0FF"/>
                </a:solidFill>
                <a:latin typeface="Courier New"/>
              </a:rPr>
              <a:t>5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A5D6A7"/>
                </a:solidFill>
                <a:latin typeface="Courier New"/>
              </a:rPr>
              <a:t>"Iteración "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contador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contador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2100" b="0" i="1">
                <a:solidFill>
                  <a:srgbClr val="8B95A7"/>
                </a:solidFill>
                <a:latin typeface="Courier New"/>
              </a:rPr>
              <a:t>// actualización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6858000"/>
            <a:ext cx="8595360" cy="24688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596070"/>
                </a:solidFill>
                <a:latin typeface="Calibri"/>
              </a:rPr>
              <a:t>Salida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31416"/>
                </a:solidFill>
                <a:latin typeface="Courier New"/>
              </a:rPr>
              <a:t>Iteración 1   Iteración 2   …   Iteración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3200400"/>
            <a:ext cx="6400800" cy="2743200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E8B57"/>
                </a:solidFill>
                <a:latin typeface="Calibri"/>
              </a:rPr>
              <a:t>Úsalo cuando…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No sabes cuántas veces se repetirá. Ej.: leer números hasta que el usuario escriba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0" y="6400800"/>
            <a:ext cx="6400800" cy="2926080"/>
          </a:xfrm>
          <a:prstGeom prst="roundRect">
            <a:avLst>
              <a:gd name="adj" fmla="val 8000"/>
            </a:avLst>
          </a:prstGeom>
          <a:solidFill>
            <a:srgbClr val="FB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Cuidado: ciclo infinito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Si la condición nunca se vuelve falsa (por ejemplo, olvidas contador++), el programa no termina.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Ciclo do-while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131416"/>
                </a:solidFill>
                <a:latin typeface="Calibri"/>
              </a:rPr>
              <a:t>Ejecuta el cuerpo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al menos una vez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 y después evalúa la condición.</a:t>
            </a:r>
          </a:p>
        </p:txBody>
      </p:sp>
      <p:sp>
        <p:nvSpPr>
          <p:cNvPr id="4" name="Codigo"/>
          <p:cNvSpPr/>
          <p:nvPr/>
        </p:nvSpPr>
        <p:spPr>
          <a:xfrm>
            <a:off x="1371600" y="3200400"/>
            <a:ext cx="9326880" cy="45720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D2A8FF"/>
                </a:solidFill>
                <a:latin typeface="Courier New"/>
              </a:rPr>
              <a:t>Scanner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sc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D2A8FF"/>
                </a:solidFill>
                <a:latin typeface="Courier New"/>
              </a:rPr>
              <a:t>Scanner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in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opcion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A657"/>
                </a:solidFill>
                <a:latin typeface="Courier New"/>
              </a:rPr>
              <a:t>do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0" i="0">
                <a:solidFill>
                  <a:srgbClr val="A5D6A7"/>
                </a:solidFill>
                <a:latin typeface="Courier New"/>
              </a:rPr>
              <a:t>"1.Sumar 2.Restar 0.Salir"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opcion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sc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nextInt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200" b="0" i="1">
                <a:solidFill>
                  <a:srgbClr val="8B95A7"/>
                </a:solidFill>
                <a:latin typeface="Courier New"/>
              </a:rPr>
              <a:t>// procesar la opción...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1" i="0">
                <a:solidFill>
                  <a:srgbClr val="FFA657"/>
                </a:solidFill>
                <a:latin typeface="Courier New"/>
              </a:rPr>
              <a:t>while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opcion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!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2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200" b="0" i="0">
                <a:solidFill>
                  <a:srgbClr val="E6E6E6"/>
                </a:solidFill>
                <a:latin typeface="Courier New"/>
              </a:rPr>
              <a:t xml:space="preserve">  </a:t>
            </a:r>
            <a:r>
              <a:rPr sz="2200" b="0" i="1">
                <a:solidFill>
                  <a:srgbClr val="8B95A7"/>
                </a:solidFill>
                <a:latin typeface="Courier New"/>
              </a:rPr>
              <a:t>// lleva 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0"/>
            <a:ext cx="5669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while  vs  do-while</a:t>
            </a:r>
          </a:p>
        </p:txBody>
      </p:sp>
      <p:graphicFrame>
        <p:nvGraphicFramePr>
          <p:cNvPr id="6" name="Tabla"/>
          <p:cNvGraphicFramePr>
            <a:graphicFrameLocks noGrp="1"/>
          </p:cNvGraphicFramePr>
          <p:nvPr/>
        </p:nvGraphicFramePr>
        <p:xfrm>
          <a:off x="11247120" y="4023360"/>
          <a:ext cx="5669280" cy="29260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1828800"/>
                <a:gridCol w="21945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while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do-while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Evalúa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Después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Mínimo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0 veces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1 vez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Leer datos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0" i="0">
                          <a:solidFill>
                            <a:srgbClr val="131416"/>
                          </a:solidFill>
                          <a:latin typeface="Calibri"/>
                        </a:rPr>
                        <a:t>Menús y validar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371600" y="8138160"/>
            <a:ext cx="15544800" cy="11887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8772E"/>
                </a:solidFill>
                <a:latin typeface="Calibri"/>
              </a:rPr>
              <a:t>Tip: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combina do-while con una condición de validación para repetir la lectura hasta que el dato sea correcto.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Ciclo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131416"/>
                </a:solidFill>
                <a:latin typeface="Calibri"/>
              </a:rPr>
              <a:t>Agrupa inicialización, condición y actualización en una sola línea. Ideal cuando conoces el número de repeticiones.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3383280"/>
            <a:ext cx="13716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for (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3383280"/>
            <a:ext cx="3108960" cy="1005840"/>
          </a:xfrm>
          <a:prstGeom prst="roundRect">
            <a:avLst>
              <a:gd name="adj" fmla="val 15000"/>
            </a:avLst>
          </a:prstGeom>
          <a:solidFill>
            <a:srgbClr val="FDEBDD"/>
          </a:solidFill>
          <a:ln w="1905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int i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00"/>
            <a:ext cx="43891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Inicialización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070"/>
                </a:solidFill>
                <a:latin typeface="Calibri"/>
              </a:rPr>
              <a:t>(una sola vez)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383280"/>
            <a:ext cx="4572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383280"/>
            <a:ext cx="2194560" cy="1005840"/>
          </a:xfrm>
          <a:prstGeom prst="roundRect">
            <a:avLst>
              <a:gd name="adj" fmla="val 15000"/>
            </a:avLst>
          </a:prstGeom>
          <a:solidFill>
            <a:srgbClr val="FDEBDD"/>
          </a:solidFill>
          <a:ln w="1905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i &lt;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572000"/>
            <a:ext cx="34747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Condición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070"/>
                </a:solidFill>
                <a:latin typeface="Calibri"/>
              </a:rPr>
              <a:t>(antes de cada vuelta)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383280"/>
            <a:ext cx="4572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3383280"/>
            <a:ext cx="1737360" cy="1005840"/>
          </a:xfrm>
          <a:prstGeom prst="roundRect">
            <a:avLst>
              <a:gd name="adj" fmla="val 15000"/>
            </a:avLst>
          </a:prstGeom>
          <a:solidFill>
            <a:srgbClr val="FDEBDD"/>
          </a:solidFill>
          <a:ln w="1905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i++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4572000"/>
            <a:ext cx="30175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Actualización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6070"/>
                </a:solidFill>
                <a:latin typeface="Calibri"/>
              </a:rPr>
              <a:t>(al final de cada vuelta)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0" y="3383280"/>
            <a:ext cx="4572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)</a:t>
            </a:r>
          </a:p>
        </p:txBody>
      </p:sp>
      <p:sp>
        <p:nvSpPr>
          <p:cNvPr id="14" name="Codigo"/>
          <p:cNvSpPr/>
          <p:nvPr/>
        </p:nvSpPr>
        <p:spPr>
          <a:xfrm>
            <a:off x="1371600" y="6217920"/>
            <a:ext cx="9144000" cy="310896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&gt;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-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print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A5D6A7"/>
                </a:solidFill>
                <a:latin typeface="Courier New"/>
              </a:rPr>
              <a:t>" "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600" b="0" i="1">
                <a:solidFill>
                  <a:srgbClr val="8B95A7"/>
                </a:solidFill>
                <a:latin typeface="Courier New"/>
              </a:rPr>
              <a:t>// Salida: 10 8 6 4 2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64240" y="6217920"/>
            <a:ext cx="5852160" cy="31089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Recuerda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La variable i solo existe dentro del for. Puedes contar hacia atrás o en saltos distintos de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for-each, break y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8772E"/>
                </a:solidFill>
                <a:latin typeface="Courier New"/>
              </a:rPr>
              <a:t>for-each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4937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Recorre todos los elementos, sin usar índice.</a:t>
            </a:r>
          </a:p>
        </p:txBody>
      </p:sp>
      <p:sp>
        <p:nvSpPr>
          <p:cNvPr id="5" name="Codigo"/>
          <p:cNvSpPr/>
          <p:nvPr/>
        </p:nvSpPr>
        <p:spPr>
          <a:xfrm>
            <a:off x="1371600" y="3931920"/>
            <a:ext cx="4937760" cy="36576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{</a:t>
            </a:r>
            <a:r>
              <a:rPr sz="2100" b="0" i="0">
                <a:solidFill>
                  <a:srgbClr val="79C0FF"/>
                </a:solidFill>
                <a:latin typeface="Courier New"/>
              </a:rPr>
              <a:t>85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79C0FF"/>
                </a:solidFill>
                <a:latin typeface="Courier New"/>
              </a:rPr>
              <a:t>70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79C0FF"/>
                </a:solidFill>
                <a:latin typeface="Courier New"/>
              </a:rPr>
              <a:t>92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: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1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1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100" b="0" i="1">
                <a:solidFill>
                  <a:srgbClr val="8B95A7"/>
                </a:solidFill>
                <a:latin typeface="Courier New"/>
              </a:rPr>
              <a:t>// 85  70  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9456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8772E"/>
                </a:solidFill>
                <a:latin typeface="Courier New"/>
              </a:rPr>
              <a:t>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880360"/>
            <a:ext cx="4937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Sale del ciclo inmediatamente.</a:t>
            </a:r>
          </a:p>
        </p:txBody>
      </p:sp>
      <p:sp>
        <p:nvSpPr>
          <p:cNvPr id="8" name="Codigo"/>
          <p:cNvSpPr/>
          <p:nvPr/>
        </p:nvSpPr>
        <p:spPr>
          <a:xfrm>
            <a:off x="6675120" y="3931920"/>
            <a:ext cx="4937760" cy="36576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79C0FF"/>
                </a:solidFill>
                <a:latin typeface="Courier New"/>
              </a:rPr>
              <a:t>100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79C0FF"/>
                </a:solidFill>
                <a:latin typeface="Courier New"/>
              </a:rPr>
              <a:t>5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break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8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print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8B95A7"/>
                </a:solidFill>
                <a:latin typeface="Courier New"/>
              </a:rPr>
              <a:t>// 01234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0" y="219456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E8772E"/>
                </a:solidFill>
                <a:latin typeface="Courier New"/>
              </a:rPr>
              <a:t>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0" y="2880360"/>
            <a:ext cx="4937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Salta al siguiente ciclo.</a:t>
            </a:r>
          </a:p>
        </p:txBody>
      </p:sp>
      <p:sp>
        <p:nvSpPr>
          <p:cNvPr id="11" name="Codigo"/>
          <p:cNvSpPr/>
          <p:nvPr/>
        </p:nvSpPr>
        <p:spPr>
          <a:xfrm>
            <a:off x="11978640" y="3931920"/>
            <a:ext cx="4937760" cy="36576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9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79C0FF"/>
                </a:solidFill>
                <a:latin typeface="Courier New"/>
              </a:rPr>
              <a:t>6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9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%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900" b="1" i="0">
                <a:solidFill>
                  <a:srgbClr val="FFA657"/>
                </a:solidFill>
                <a:latin typeface="Courier New"/>
              </a:rPr>
              <a:t>continue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9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print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9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900" b="0" i="1">
                <a:solidFill>
                  <a:srgbClr val="8B95A7"/>
                </a:solidFill>
                <a:latin typeface="Courier New"/>
              </a:rPr>
              <a:t>// 135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8046720"/>
            <a:ext cx="15544800" cy="11887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8772E"/>
                </a:solidFill>
                <a:latin typeface="Calibri"/>
              </a:rPr>
              <a:t>Úsalos con moderación: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demasiados break y continue hacen el código difícil de leer.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¿Cuál ciclo usar?</a:t>
            </a:r>
          </a:p>
        </p:txBody>
      </p:sp>
      <p:graphicFrame>
        <p:nvGraphicFramePr>
          <p:cNvPr id="3" name="Tabla"/>
          <p:cNvGraphicFramePr>
            <a:graphicFrameLocks noGrp="1"/>
          </p:cNvGraphicFramePr>
          <p:nvPr/>
        </p:nvGraphicFramePr>
        <p:xfrm>
          <a:off x="1371600" y="2286000"/>
          <a:ext cx="15544800" cy="5029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60320"/>
                <a:gridCol w="3108960"/>
                <a:gridCol w="3291840"/>
                <a:gridCol w="6583680"/>
              </a:tblGrid>
              <a:tr h="1005840">
                <a:tc>
                  <a:txBody>
                    <a:bodyPr wrap="square"/>
                    <a:lstStyle/>
                    <a:p>
                      <a:r>
                        <a:rPr sz="2400" b="1" i="0">
                          <a:solidFill>
                            <a:srgbClr val="FFFFFF"/>
                          </a:solidFill>
                          <a:latin typeface="Calibri"/>
                        </a:rPr>
                        <a:t>Ciclo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 i="0">
                          <a:solidFill>
                            <a:srgbClr val="FFFFFF"/>
                          </a:solidFill>
                          <a:latin typeface="Calibri"/>
                        </a:rPr>
                        <a:t>Evalúa la condición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 i="0">
                          <a:solidFill>
                            <a:srgbClr val="FFFFFF"/>
                          </a:solidFill>
                          <a:latin typeface="Calibri"/>
                        </a:rPr>
                        <a:t>Mínimo de ejecuciones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 i="0">
                          <a:solidFill>
                            <a:srgbClr val="FFFFFF"/>
                          </a:solidFill>
                          <a:latin typeface="Calibri"/>
                        </a:rPr>
                        <a:t>Úsalo cuando…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131416"/>
                          </a:solidFill>
                          <a:latin typeface="Courier New"/>
                        </a:rPr>
                        <a:t>while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No conoces cuántas repeticiones habrá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131416"/>
                          </a:solidFill>
                          <a:latin typeface="Courier New"/>
                        </a:rPr>
                        <a:t>do-while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Después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Debe ejecutarse al menos una vez (menús, validar)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131416"/>
                          </a:solidFill>
                          <a:latin typeface="Courier New"/>
                        </a:rPr>
                        <a:t>for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Conoces el número de repeticiones o usas un índice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131416"/>
                          </a:solidFill>
                          <a:latin typeface="Courier New"/>
                        </a:rPr>
                        <a:t>for-each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Recorre todo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0" i="0">
                          <a:solidFill>
                            <a:srgbClr val="131416"/>
                          </a:solidFill>
                          <a:latin typeface="Calibri"/>
                        </a:rPr>
                        <a:t>Solo lees cada elemento y no necesitas el índice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371600" y="7863840"/>
            <a:ext cx="15544800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Regla práctica: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cualquier ciclo puede escribirse con otro; elige el que haga el código más claro.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¿Qué es un arreglo?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900" b="0" i="0">
                <a:solidFill>
                  <a:srgbClr val="131416"/>
                </a:solidFill>
                <a:latin typeface="Calibri"/>
              </a:rPr>
              <a:t>Estructura que almacena una cantidad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fija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 de elementos del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mismo tipo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, a los que se accede con un </a:t>
            </a:r>
            <a:r>
              <a:rPr sz="2900" b="1" i="0">
                <a:solidFill>
                  <a:srgbClr val="E8772E"/>
                </a:solidFill>
                <a:latin typeface="Calibri"/>
              </a:rPr>
              <a:t>índice que inicia en 0</a:t>
            </a:r>
            <a:r>
              <a:rPr sz="2900" b="0" i="0">
                <a:solidFill>
                  <a:srgbClr val="131416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92040"/>
            <a:ext cx="2377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800"/>
              </a:spcAft>
            </a:pPr>
            <a:r>
              <a:rPr sz="3000" b="1" i="0">
                <a:solidFill>
                  <a:srgbClr val="131416"/>
                </a:solidFill>
                <a:latin typeface="Courier New"/>
              </a:rPr>
              <a:t>notas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3886200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596070"/>
                </a:solidFill>
                <a:latin typeface="Courier New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457200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31416"/>
                </a:solidFill>
                <a:latin typeface="Courier New"/>
              </a:rPr>
              <a:t>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886200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596070"/>
                </a:solidFill>
                <a:latin typeface="Courier New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457200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31416"/>
                </a:solidFill>
                <a:latin typeface="Courier New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886200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E8772E"/>
                </a:solidFill>
                <a:latin typeface="Courier New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4572000"/>
            <a:ext cx="1554480" cy="1463040"/>
          </a:xfrm>
          <a:prstGeom prst="rect">
            <a:avLst/>
          </a:prstGeom>
          <a:solidFill>
            <a:srgbClr val="E8772E"/>
          </a:solidFill>
          <a:ln w="254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ourier New"/>
              </a:rPr>
              <a:t>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86200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596070"/>
                </a:solidFill>
                <a:latin typeface="Courier New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457200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31416"/>
                </a:solidFill>
                <a:latin typeface="Courier New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886200"/>
            <a:ext cx="15544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596070"/>
                </a:solidFill>
                <a:latin typeface="Courier New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457200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131416"/>
                </a:solidFill>
                <a:latin typeface="Courier New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6126480"/>
            <a:ext cx="7772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596070"/>
                </a:solidFill>
                <a:latin typeface="Calibri"/>
              </a:rPr>
              <a:t>índices  0 … length - 1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35840" y="3931920"/>
            <a:ext cx="4480560" cy="100584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notas[2]  →  92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35840" y="5212080"/>
            <a:ext cx="4480560" cy="10058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notas.length  → 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7498079"/>
            <a:ext cx="15544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31416"/>
                </a:solidFill>
                <a:latin typeface="Calibri"/>
              </a:rPr>
              <a:t>Características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8229600"/>
            <a:ext cx="2172157" cy="8229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Tamaño fijo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8077" y="8229600"/>
            <a:ext cx="3575304" cy="8229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Un solo tipo de dato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7701" y="8229600"/>
            <a:ext cx="2639872" cy="8229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Índice desde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81894" y="8229600"/>
            <a:ext cx="4666640" cy="8229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Acceso directo por posición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Declarar, crear y usar arreglos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9509760" cy="71323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600" b="0" i="1">
                <a:solidFill>
                  <a:srgbClr val="8B95A7"/>
                </a:solidFill>
                <a:latin typeface="Courier New"/>
              </a:rPr>
              <a:t>// 1. Declarar y crear (se llena con 0)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edades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5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600" b="0" i="1">
                <a:solidFill>
                  <a:srgbClr val="8B95A7"/>
                </a:solidFill>
                <a:latin typeface="Courier New"/>
              </a:rPr>
              <a:t>// 2. Declarar e inicializar con valores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D2A8FF"/>
                </a:solidFill>
                <a:latin typeface="Courier New"/>
              </a:rPr>
              <a:t>String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dias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  <a:r>
              <a:rPr sz="2600" b="0" i="0">
                <a:solidFill>
                  <a:srgbClr val="A5D6A7"/>
                </a:solidFill>
                <a:latin typeface="Courier New"/>
              </a:rPr>
              <a:t>"Lun"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A5D6A7"/>
                </a:solidFill>
                <a:latin typeface="Courier New"/>
              </a:rPr>
              <a:t>"Mar"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A5D6A7"/>
                </a:solidFill>
                <a:latin typeface="Courier New"/>
              </a:rPr>
              <a:t>"Mié"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600" b="0" i="1">
                <a:solidFill>
                  <a:srgbClr val="8B95A7"/>
                </a:solidFill>
                <a:latin typeface="Courier New"/>
              </a:rPr>
              <a:t>// 3. Asignar y leer por índice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>edades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19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primera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edades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600" b="0" i="1">
                <a:solidFill>
                  <a:srgbClr val="8B95A7"/>
                </a:solidFill>
                <a:latin typeface="Courier New"/>
              </a:rPr>
              <a:t>// 4. Conocer el tamaño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dias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2600" b="0" i="1">
                <a:solidFill>
                  <a:srgbClr val="8B95A7"/>
                </a:solidFill>
                <a:latin typeface="Courier New"/>
              </a:rPr>
              <a:t>//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194560"/>
            <a:ext cx="5486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Valores por defecto</a:t>
            </a:r>
          </a:p>
        </p:txBody>
      </p:sp>
      <p:graphicFrame>
        <p:nvGraphicFramePr>
          <p:cNvPr id="5" name="Tabla"/>
          <p:cNvGraphicFramePr>
            <a:graphicFrameLocks noGrp="1"/>
          </p:cNvGraphicFramePr>
          <p:nvPr/>
        </p:nvGraphicFramePr>
        <p:xfrm>
          <a:off x="11430000" y="3017520"/>
          <a:ext cx="5486400" cy="4114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23774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Valor inicial</a:t>
                      </a:r>
                    </a:p>
                  </a:txBody>
                  <a:tcPr marL="137160" marR="137160" marT="54864" marB="54864" anchor="ctr">
                    <a:solidFill>
                      <a:srgbClr val="13141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int, long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double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0.0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boolean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false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char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'\u0000'</a:t>
                      </a:r>
                    </a:p>
                  </a:txBody>
                  <a:tcPr marL="137160" marR="137160" marT="54864" marB="54864" anchor="ctr">
                    <a:solidFill>
                      <a:srgbClr val="F2F3F5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String / objetos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 i="0">
                          <a:solidFill>
                            <a:srgbClr val="131416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137160" marR="13716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430000" y="7498079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8772E"/>
                </a:solidFill>
                <a:latin typeface="Calibri"/>
              </a:rPr>
              <a:t>El tamaño no cambia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después de crear el arreglo.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Recorrer y procesar un arreglo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94560"/>
            <a:ext cx="9509760" cy="713232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double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85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70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92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64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100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double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suma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double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mayor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suma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      </a:t>
            </a:r>
            <a:r>
              <a:rPr sz="2600" b="0" i="1">
                <a:solidFill>
                  <a:srgbClr val="8B95A7"/>
                </a:solidFill>
                <a:latin typeface="Courier New"/>
              </a:rPr>
              <a:t>// acumulador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&gt;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mayor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{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0" i="1">
                <a:solidFill>
                  <a:srgbClr val="8B95A7"/>
                </a:solidFill>
                <a:latin typeface="Courier New"/>
              </a:rPr>
              <a:t>// máximo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mayor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A657"/>
                </a:solidFill>
                <a:latin typeface="Courier New"/>
              </a:rPr>
              <a:t>double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promedio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suma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/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600" b="0" i="0">
                <a:solidFill>
                  <a:srgbClr val="E6E6E6"/>
                </a:solidFill>
                <a:latin typeface="Courier New"/>
              </a:rPr>
              <a:t>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219456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Patrón acumulador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Inicia en 0 y suma cada elemento.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461772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alibri"/>
              </a:rPr>
              <a:t>Patrón máximo / mínimo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Inicia con el primer elemento y compara.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7040879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B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Condición segura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Usa  i &lt; notas.length ; nunca  &lt;= 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Arreglos bidimensionales (matrices)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0" i="0">
                <a:solidFill>
                  <a:srgbClr val="131416"/>
                </a:solidFill>
                <a:latin typeface="Calibri"/>
              </a:rPr>
              <a:t>Un arreglo de arreglos: se accede con dos índices, [fila][columna].</a:t>
            </a:r>
          </a:p>
        </p:txBody>
      </p:sp>
      <p:sp>
        <p:nvSpPr>
          <p:cNvPr id="4" name="Codigo"/>
          <p:cNvSpPr/>
          <p:nvPr/>
        </p:nvSpPr>
        <p:spPr>
          <a:xfrm>
            <a:off x="1371600" y="3200400"/>
            <a:ext cx="9144000" cy="612648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matriz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3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4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>matriz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2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7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matriz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matriz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3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print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matriz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f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c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300" b="0" i="0">
                <a:solidFill>
                  <a:srgbClr val="A5D6A7"/>
                </a:solidFill>
                <a:latin typeface="Courier New"/>
              </a:rPr>
              <a:t>" "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3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3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3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0" y="3520440"/>
            <a:ext cx="1051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0" y="3520440"/>
            <a:ext cx="1051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0" y="3520440"/>
            <a:ext cx="1051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16200" y="3520440"/>
            <a:ext cx="1051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438912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61520" y="411480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13080" y="411480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64640" y="411480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316200" y="411480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544068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61520" y="516636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13080" y="516636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64640" y="5166360"/>
            <a:ext cx="1051560" cy="1051560"/>
          </a:xfrm>
          <a:prstGeom prst="rect">
            <a:avLst/>
          </a:prstGeom>
          <a:solidFill>
            <a:srgbClr val="E8772E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ourier New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316200" y="516636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922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596070"/>
                </a:solidFill>
                <a:latin typeface="Courier New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61520" y="621792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13080" y="621792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64640" y="621792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16200" y="6217920"/>
            <a:ext cx="10515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31416"/>
                </a:solidFill>
                <a:latin typeface="Courier New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301752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596070"/>
                </a:solidFill>
                <a:latin typeface="Calibri"/>
              </a:rPr>
              <a:t>columnas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7498079"/>
            <a:ext cx="60350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matriz.length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 → 3 filas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31416"/>
                </a:solidFill>
                <a:latin typeface="Courier New"/>
              </a:rPr>
              <a:t>matriz[f].length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 → 4 columnas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Errores comunes y excepciones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7863840" cy="1600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C0392B"/>
                </a:solidFill>
                <a:latin typeface="Courier New"/>
              </a:rPr>
              <a:t>ArrayIndexOutOfBoundsException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Acceder a un índice negativo o ≥ length. Típico: i &lt;= length.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77639"/>
            <a:ext cx="7863840" cy="1600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C0392B"/>
                </a:solidFill>
                <a:latin typeface="Courier New"/>
              </a:rPr>
              <a:t>InputMismatchException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Scanner esperaba un número y el usuario escribió texto.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760720"/>
            <a:ext cx="7863840" cy="1600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C0392B"/>
                </a:solidFill>
                <a:latin typeface="Courier New"/>
              </a:rPr>
              <a:t>ArithmeticException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División entera entre cero.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7543800"/>
            <a:ext cx="7863840" cy="1600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C0392B"/>
                </a:solidFill>
                <a:latin typeface="Courier New"/>
              </a:rPr>
              <a:t>NullPointerException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31416"/>
                </a:solidFill>
                <a:latin typeface="Calibri"/>
              </a:rPr>
              <a:t>Usar un arreglo declarado pero no creado con new.</a:t>
            </a:r>
          </a:p>
        </p:txBody>
      </p:sp>
      <p:sp>
        <p:nvSpPr>
          <p:cNvPr id="7" name="Codigo"/>
          <p:cNvSpPr/>
          <p:nvPr/>
        </p:nvSpPr>
        <p:spPr>
          <a:xfrm>
            <a:off x="9692640" y="2194560"/>
            <a:ext cx="7223760" cy="694944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B95A7"/>
                </a:solidFill>
                <a:latin typeface="Calibri"/>
              </a:rPr>
              <a:t>try-catch: el programa no se detiene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A657"/>
                </a:solidFill>
                <a:latin typeface="Courier New"/>
              </a:rPr>
              <a:t>try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datos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1800" b="0" i="0">
                <a:solidFill>
                  <a:srgbClr val="79C0FF"/>
                </a:solidFill>
                <a:latin typeface="Courier New"/>
              </a:rPr>
              <a:t>3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datos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1800" b="0" i="0">
                <a:solidFill>
                  <a:srgbClr val="79C0FF"/>
                </a:solidFill>
                <a:latin typeface="Courier New"/>
              </a:rPr>
              <a:t>3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79C0FF"/>
                </a:solidFill>
                <a:latin typeface="Courier New"/>
              </a:rPr>
              <a:t>10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</a:t>
            </a:r>
            <a:r>
              <a:rPr sz="1800" b="0" i="1">
                <a:solidFill>
                  <a:srgbClr val="8B95A7"/>
                </a:solidFill>
                <a:latin typeface="Courier New"/>
              </a:rPr>
              <a:t>// índice inválido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catch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800" b="0" i="0">
                <a:solidFill>
                  <a:srgbClr val="D2A8FF"/>
                </a:solidFill>
                <a:latin typeface="Courier New"/>
              </a:rPr>
              <a:t>ArrayIndexOutOfBoundsException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e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8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800" b="0" i="0">
                <a:solidFill>
                  <a:srgbClr val="A5D6A7"/>
                </a:solidFill>
                <a:latin typeface="Courier New"/>
              </a:rPr>
              <a:t>"Índice fuera de rango"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1" i="0">
                <a:solidFill>
                  <a:srgbClr val="FFA657"/>
                </a:solidFill>
                <a:latin typeface="Courier New"/>
              </a:rPr>
              <a:t>finally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18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1800" b="0" i="0">
                <a:solidFill>
                  <a:srgbClr val="A5D6A7"/>
                </a:solidFill>
                <a:latin typeface="Courier New"/>
              </a:rPr>
              <a:t>"Fin de la validación"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18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6E6E6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Conceptos clave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Iteración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Cada repetición del cuerpo de un ciclo.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Condición de paro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Expresión que, al ser falsa, termina el ciclo.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7864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Ciclo infinito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Ciclo cuya condición nunca llega a ser falsa.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212079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Índice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Posición de un elemento; va de 0 a length - 1.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5212079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length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Atributo con el tamaño fijo del arreglo.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978640" y="5212079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Excepción</a:t>
            </a:r>
          </a:p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31416"/>
                </a:solidFill>
                <a:latin typeface="Calibri"/>
              </a:rPr>
              <a:t>Evento de error que se puede capturar con try-catch.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8412480"/>
            <a:ext cx="15544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E8772E"/>
                </a:solidFill>
                <a:latin typeface="Calibri"/>
              </a:rPr>
              <a:t>Síntesis: </a:t>
            </a:r>
            <a:r>
              <a:rPr sz="2600" b="0" i="0">
                <a:solidFill>
                  <a:srgbClr val="131416"/>
                </a:solidFill>
                <a:latin typeface="Calibri"/>
              </a:rPr>
              <a:t>ciclos + arreglos = procesar muchos datos con poco código; las excepciones lo hacen robusto.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Ejemplo práctico: registro de notas</a:t>
            </a:r>
          </a:p>
        </p:txBody>
      </p:sp>
      <p:sp>
        <p:nvSpPr>
          <p:cNvPr id="3" name="Codigo"/>
          <p:cNvSpPr/>
          <p:nvPr/>
        </p:nvSpPr>
        <p:spPr>
          <a:xfrm>
            <a:off x="1371600" y="2103120"/>
            <a:ext cx="10058400" cy="7315200"/>
          </a:xfrm>
          <a:prstGeom prst="roundRect">
            <a:avLst>
              <a:gd name="adj" fmla="val 4000"/>
            </a:avLst>
          </a:prstGeom>
          <a:solidFill>
            <a:srgbClr val="1F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74320" rIns="274320" tIns="274320" bIns="274320"/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D2A8FF"/>
                </a:solidFill>
                <a:latin typeface="Courier New"/>
              </a:rPr>
              <a:t>Scanner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sc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D2A8FF"/>
                </a:solidFill>
                <a:latin typeface="Courier New"/>
              </a:rPr>
              <a:t>Scanner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in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new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5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do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4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print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A5D6A7"/>
                </a:solidFill>
                <a:latin typeface="Courier New"/>
              </a:rPr>
              <a:t>"Nota "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1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A5D6A7"/>
                </a:solidFill>
                <a:latin typeface="Courier New"/>
              </a:rPr>
              <a:t>": "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      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sc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nextInt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}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while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&lt;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|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|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[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i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]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&gt;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100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suma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,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aprobados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0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A657"/>
                </a:solidFill>
                <a:latin typeface="Courier New"/>
              </a:rPr>
              <a:t>for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int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: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suma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   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if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&gt;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79C0FF"/>
                </a:solidFill>
                <a:latin typeface="Courier New"/>
              </a:rPr>
              <a:t>61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aprobados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E6E6E6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A657"/>
                </a:solidFill>
                <a:latin typeface="Courier New"/>
              </a:rPr>
              <a:t>double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prom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=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suma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/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1" i="0">
                <a:solidFill>
                  <a:srgbClr val="FFA657"/>
                </a:solidFill>
                <a:latin typeface="Courier New"/>
              </a:rPr>
              <a:t>double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notas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length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A5D6A7"/>
                </a:solidFill>
                <a:latin typeface="Courier New"/>
              </a:rPr>
              <a:t>"Promedio: "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prom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D2A8FF"/>
                </a:solidFill>
                <a:latin typeface="Courier New"/>
              </a:rPr>
              <a:t>System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out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.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println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(</a:t>
            </a:r>
            <a:r>
              <a:rPr sz="2400" b="0" i="0">
                <a:solidFill>
                  <a:srgbClr val="A5D6A7"/>
                </a:solidFill>
                <a:latin typeface="Courier New"/>
              </a:rPr>
              <a:t>"Aprobados: "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+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 xml:space="preserve"> 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aprobados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)</a:t>
            </a:r>
            <a:r>
              <a:rPr sz="2400" b="0" i="0">
                <a:solidFill>
                  <a:srgbClr val="E6E6E6"/>
                </a:solidFill>
                <a:latin typeface="Courier New"/>
              </a:rPr>
              <a:t>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0" y="210312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100" b="1" i="0">
                <a:solidFill>
                  <a:srgbClr val="131416"/>
                </a:solidFill>
                <a:latin typeface="Calibri"/>
              </a:rPr>
              <a:t>Qué observar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978640" y="292608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72E"/>
                </a:solidFill>
                <a:latin typeface="Courier New"/>
              </a:rPr>
              <a:t>for </a:t>
            </a:r>
            <a:r>
              <a:rPr sz="2200" b="0" i="0">
                <a:solidFill>
                  <a:srgbClr val="131416"/>
                </a:solidFill>
                <a:latin typeface="Calibri"/>
              </a:rPr>
              <a:t>llena el arreglo posición por posición.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78640" y="452628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72E"/>
                </a:solidFill>
                <a:latin typeface="Courier New"/>
              </a:rPr>
              <a:t>do-while </a:t>
            </a:r>
            <a:r>
              <a:rPr sz="2200" b="0" i="0">
                <a:solidFill>
                  <a:srgbClr val="131416"/>
                </a:solidFill>
                <a:latin typeface="Calibri"/>
              </a:rPr>
              <a:t>repite la lectura hasta que la nota sea válida.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612648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72E"/>
                </a:solidFill>
                <a:latin typeface="Courier New"/>
              </a:rPr>
              <a:t>for-each </a:t>
            </a:r>
            <a:r>
              <a:rPr sz="2200" b="0" i="0">
                <a:solidFill>
                  <a:srgbClr val="131416"/>
                </a:solidFill>
                <a:latin typeface="Calibri"/>
              </a:rPr>
              <a:t>recorre para sumar y contar.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978640" y="7726679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E8772E"/>
                </a:solidFill>
                <a:latin typeface="Courier New"/>
              </a:rPr>
              <a:t>(double) </a:t>
            </a:r>
            <a:r>
              <a:rPr sz="2200" b="0" i="0">
                <a:solidFill>
                  <a:srgbClr val="131416"/>
                </a:solidFill>
                <a:latin typeface="Calibri"/>
              </a:rPr>
              <a:t>evita la división entera en el promedio.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Actividad: calculadora científica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03120"/>
            <a:ext cx="5120640" cy="7223760"/>
          </a:xfrm>
          <a:prstGeom prst="roundRect">
            <a:avLst>
              <a:gd name="adj" fmla="val 5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246888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TIPO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Ejercicio práctico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79476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TIEMPO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12064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PONDERACIÓN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 pts (formativa)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644652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MODALIDAD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7772400"/>
            <a:ext cx="4480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E8772E"/>
                </a:solidFill>
                <a:latin typeface="Calibri"/>
              </a:rPr>
              <a:t>COMPETENCIA</a:t>
            </a:r>
          </a:p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Implementa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Desarrolla una calculadora en consola que nunca se detenga por un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108960"/>
            <a:ext cx="987552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Menú repetitivo con </a:t>
            </a:r>
            <a:r>
              <a:rPr sz="2200" b="1" i="0">
                <a:solidFill>
                  <a:srgbClr val="131416"/>
                </a:solidFill>
                <a:latin typeface="Courier New"/>
              </a:rPr>
              <a:t>do-while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: suma, resta, multiplicación, división, potencia, raíz cuadrada, historial y salir.</a:t>
            </a:r>
          </a:p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Guarda los últimos 10 resultados en un </a:t>
            </a:r>
            <a:r>
              <a:rPr sz="2200" b="1" i="0">
                <a:solidFill>
                  <a:srgbClr val="131416"/>
                </a:solidFill>
                <a:latin typeface="Courier New"/>
              </a:rPr>
              <a:t>double[]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y muéstralos con un </a:t>
            </a:r>
            <a:r>
              <a:rPr sz="2200" b="1" i="0">
                <a:solidFill>
                  <a:srgbClr val="131416"/>
                </a:solidFill>
                <a:latin typeface="Courier New"/>
              </a:rPr>
              <a:t>for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.</a:t>
            </a:r>
          </a:p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Captura con </a:t>
            </a:r>
            <a:r>
              <a:rPr sz="2200" b="1" i="0">
                <a:solidFill>
                  <a:srgbClr val="131416"/>
                </a:solidFill>
                <a:latin typeface="Courier New"/>
              </a:rPr>
              <a:t>try-catch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: entrada no numérica, división entre cero y raíz de un negativo.</a:t>
            </a:r>
          </a:p>
          <a:p>
            <a:pPr algn="l" marL="365760" indent="-365760">
              <a:lnSpc>
                <a:spcPct val="105000"/>
              </a:lnSpc>
              <a:spcAft>
                <a:spcPts val="1200"/>
              </a:spcAft>
              <a:buClr>
                <a:srgbClr val="E8772E"/>
              </a:buClr>
              <a:buFont typeface="+mj-lt"/>
              <a:buAutoNum type="arabicPeriod"/>
            </a:pPr>
            <a:r>
              <a:rPr sz="2400" b="0" i="0">
                <a:solidFill>
                  <a:srgbClr val="131416"/>
                </a:solidFill>
                <a:latin typeface="Calibri"/>
              </a:rPr>
              <a:t>Ante cualquier error: muestra un mensaje claro y regresa al menú.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8138160"/>
            <a:ext cx="9875520" cy="11887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8772E"/>
                </a:solidFill>
                <a:latin typeface="Calibri"/>
              </a:rPr>
              <a:t>Pista: </a:t>
            </a:r>
            <a:r>
              <a:rPr sz="2200" b="0" i="0">
                <a:solidFill>
                  <a:srgbClr val="131416"/>
                </a:solidFill>
                <a:latin typeface="Calibri"/>
              </a:rPr>
              <a:t>con double, 5 / 0.0 da Infinity; valida el divisor y lanza la excepción tú mismo.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Recursos de la sesión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Esta presentación: teoría de ciclos y arreglos.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6080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Obligatorio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59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4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Video corto sobre ciclos y arreglos en Java (enlace en la plataforma del curso).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59" y="6080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Obligatorio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4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Oracle Java Tutorials: Arrays.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31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31416"/>
                </a:solidFill>
                <a:latin typeface="Calibri"/>
              </a:rPr>
              <a:t>Optativo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04519" y="219456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78840" y="246888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E8772E"/>
                </a:solidFill>
                <a:latin typeface="Impact"/>
              </a:rPr>
              <a:t>20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884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Ejercicio demostrativo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8840" y="4114800"/>
            <a:ext cx="32004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131416"/>
                </a:solidFill>
                <a:latin typeface="Calibri"/>
              </a:rPr>
              <a:t>Registro de notas, desarrollado en vivo.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578840" y="6080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1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Obligatorio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7223760"/>
            <a:ext cx="15544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131416"/>
                </a:solidFill>
                <a:latin typeface="Calibri"/>
              </a:rPr>
              <a:t>Enlaces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7772400"/>
            <a:ext cx="155448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200" b="1" i="0">
                <a:solidFill>
                  <a:srgbClr val="131416"/>
                </a:solidFill>
                <a:latin typeface="Calibri"/>
              </a:rPr>
              <a:t>Arreglos: </a:t>
            </a:r>
            <a:r>
              <a:rPr sz="2200" b="0" i="0">
                <a:solidFill>
                  <a:srgbClr val="1A5FB4"/>
                </a:solidFill>
                <a:latin typeface="Calibri"/>
                <a:hlinkClick r:id="rId3"/>
              </a:rPr>
              <a:t>docs.oracle.com/javase/tutorial/java/nutsandbolts/arrays.html</a:t>
            </a:r>
          </a:p>
          <a:p>
            <a:pPr algn="l" marL="365760" indent="-365760">
              <a:spcAft>
                <a:spcPts val="400"/>
              </a:spcAft>
              <a:buClr>
                <a:srgbClr val="E8772E"/>
              </a:buClr>
              <a:buFont typeface="Arial"/>
              <a:buChar char="•"/>
            </a:pPr>
            <a:r>
              <a:rPr sz="2200" b="1" i="0">
                <a:solidFill>
                  <a:srgbClr val="131416"/>
                </a:solidFill>
                <a:latin typeface="Calibri"/>
              </a:rPr>
              <a:t>Excepciones: </a:t>
            </a:r>
            <a:r>
              <a:rPr sz="2200" b="0" i="0">
                <a:solidFill>
                  <a:srgbClr val="1A5FB4"/>
                </a:solidFill>
                <a:latin typeface="Calibri"/>
                <a:hlinkClick r:id="rId4"/>
              </a:rPr>
              <a:t>docs.oracle.com/javase/tutorial/essential/exceptions/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33172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Los ciclos automatizan tareas repetitivas; toda repetición necesita una condición que eventualmente sea falsa.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2600" y="219456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233172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while y do-while sirven cuando no conocemos las repeticiones; for cuando sí; for-each para solo leer.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589788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Un arreglo guarda un número fijo de datos del mismo tipo, con índices de 0 a length - 1.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5760720"/>
            <a:ext cx="12801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0" i="0">
                <a:solidFill>
                  <a:srgbClr val="E8772E"/>
                </a:solidFill>
                <a:latin typeface="Impact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5897880"/>
            <a:ext cx="6126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0" i="0">
                <a:solidFill>
                  <a:srgbClr val="131416"/>
                </a:solidFill>
                <a:latin typeface="Calibri"/>
              </a:rPr>
              <a:t>Validar entradas y capturar excepciones hace que el programa sea robusto y que los datos sean confiables.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1371600" y="640080"/>
            <a:ext cx="15544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0" i="0">
                <a:solidFill>
                  <a:srgbClr val="131416"/>
                </a:solidFill>
                <a:latin typeface="Impact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15544800" cy="7132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Oracle. (s.f.). </a:t>
            </a:r>
            <a:r>
              <a:rPr sz="2400" b="0" i="1">
                <a:solidFill>
                  <a:srgbClr val="131416"/>
                </a:solidFill>
                <a:latin typeface="Calibri"/>
              </a:rPr>
              <a:t>The Java Tutorials: Arrays.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2"/>
              </a:rPr>
              <a:t>docs.oracle.com/javase/tutorial/java/nutsandbolts/arrays.html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Oracle. (s.f.).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The while and do-while Statements.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3"/>
              </a:rPr>
              <a:t>docs.oracle.com/javase/tutorial/java/nutsandbolts/while.html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Oracle. (s.f.).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The for Statement.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4"/>
              </a:rPr>
              <a:t>docs.oracle.com/javase/tutorial/java/nutsandbolts/for.html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Oracle. (s.f.). 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Lesson: Exceptions. </a:t>
            </a:r>
            <a:r>
              <a:rPr sz="2400" b="0" i="0">
                <a:solidFill>
                  <a:srgbClr val="1A5FB4"/>
                </a:solidFill>
                <a:latin typeface="Calibri"/>
                <a:hlinkClick r:id="rId5"/>
              </a:rPr>
              <a:t>docs.oracle.com/javase/tutorial/essential/exceptions/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Deitel, P. y Deitel, H. (2016). </a:t>
            </a:r>
            <a:r>
              <a:rPr sz="2400" b="0" i="1">
                <a:solidFill>
                  <a:srgbClr val="131416"/>
                </a:solidFill>
                <a:latin typeface="Calibri"/>
              </a:rPr>
              <a:t>Cómo programar en Java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(10.ª ed.). Pearson.</a:t>
            </a:r>
          </a:p>
          <a:p>
            <a:pPr algn="l" marL="365760" indent="-365760">
              <a:spcAft>
                <a:spcPts val="1400"/>
              </a:spcAft>
              <a:buClr>
                <a:srgbClr val="E8772E"/>
              </a:buClr>
              <a:buFont typeface="Arial"/>
              <a:buChar char="•"/>
            </a:pPr>
            <a:r>
              <a:rPr sz="2400" b="1" i="0">
                <a:solidFill>
                  <a:srgbClr val="131416"/>
                </a:solidFill>
                <a:latin typeface="Calibri"/>
              </a:rPr>
              <a:t>Schildt, H. (2021). </a:t>
            </a:r>
            <a:r>
              <a:rPr sz="2400" b="0" i="1">
                <a:solidFill>
                  <a:srgbClr val="131416"/>
                </a:solidFill>
                <a:latin typeface="Calibri"/>
              </a:rPr>
              <a:t>Java: The Complete Reference</a:t>
            </a:r>
            <a:r>
              <a:rPr sz="2400" b="0" i="0">
                <a:solidFill>
                  <a:srgbClr val="131416"/>
                </a:solidFill>
                <a:latin typeface="Calibri"/>
              </a:rPr>
              <a:t> (12.ª ed.). McGraw Hill.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23"/>
          <p:cNvGrpSpPr/>
          <p:nvPr/>
        </p:nvGrpSpPr>
        <p:grpSpPr>
          <a:xfrm>
            <a:off x="4437795" y="3274804"/>
            <a:ext cx="8658900" cy="2029500"/>
            <a:chOff x="0" y="-152400"/>
            <a:chExt cx="11545200" cy="2706000"/>
          </a:xfrm>
        </p:grpSpPr>
        <p:sp>
          <p:nvSpPr>
            <p:cNvPr id="500" name="Google Shape;500;p23"/>
            <p:cNvSpPr/>
            <p:nvPr/>
          </p:nvSpPr>
          <p:spPr>
            <a:xfrm>
              <a:off x="0" y="0"/>
              <a:ext cx="11545200" cy="2553600"/>
            </a:xfrm>
            <a:custGeom>
              <a:rect b="b" l="l" r="r" t="t"/>
              <a:pathLst>
                <a:path extrusionOk="0" h="2553600" w="11545200">
                  <a:moveTo>
                    <a:pt x="0" y="0"/>
                  </a:moveTo>
                  <a:lnTo>
                    <a:pt x="11545200" y="0"/>
                  </a:lnTo>
                  <a:lnTo>
                    <a:pt x="11545200" y="2553600"/>
                  </a:lnTo>
                  <a:lnTo>
                    <a:pt x="0" y="25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3"/>
            <p:cNvSpPr txBox="1"/>
            <p:nvPr/>
          </p:nvSpPr>
          <p:spPr>
            <a:xfrm>
              <a:off x="0" y="-152400"/>
              <a:ext cx="11545200" cy="27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48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¡GRACIAS POR SU  ATENCIÓN!</a:t>
              </a:r>
              <a:endParaRPr/>
            </a:p>
            <a:p>
              <a:pPr indent="0" lvl="0" marL="0" marR="0" rtl="0" algn="just">
                <a:lnSpc>
                  <a:spcPct val="286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502" name="Google Shape;502;p23"/>
          <p:cNvGrpSpPr/>
          <p:nvPr/>
        </p:nvGrpSpPr>
        <p:grpSpPr>
          <a:xfrm>
            <a:off x="5414714" y="5679497"/>
            <a:ext cx="6704991" cy="1177131"/>
            <a:chOff x="0" y="-371475"/>
            <a:chExt cx="8939988" cy="1569508"/>
          </a:xfrm>
        </p:grpSpPr>
        <p:sp>
          <p:nvSpPr>
            <p:cNvPr id="503" name="Google Shape;503;p23"/>
            <p:cNvSpPr/>
            <p:nvPr/>
          </p:nvSpPr>
          <p:spPr>
            <a:xfrm>
              <a:off x="0" y="0"/>
              <a:ext cx="8939988" cy="1198033"/>
            </a:xfrm>
            <a:custGeom>
              <a:rect b="b" l="l" r="r" t="t"/>
              <a:pathLst>
                <a:path extrusionOk="0" h="1198033" w="8939988">
                  <a:moveTo>
                    <a:pt x="0" y="0"/>
                  </a:moveTo>
                  <a:lnTo>
                    <a:pt x="8939988" y="0"/>
                  </a:lnTo>
                  <a:lnTo>
                    <a:pt x="8939988" y="1198033"/>
                  </a:lnTo>
                  <a:lnTo>
                    <a:pt x="0" y="1198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3"/>
            <p:cNvSpPr txBox="1"/>
            <p:nvPr/>
          </p:nvSpPr>
          <p:spPr>
            <a:xfrm>
              <a:off x="0" y="-371475"/>
              <a:ext cx="8939988" cy="15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999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/>
            </a:p>
          </p:txBody>
        </p:sp>
      </p:grpSp>
      <p:sp>
        <p:nvSpPr>
          <p:cNvPr id="505" name="Google Shape;505;p23"/>
          <p:cNvSpPr/>
          <p:nvPr/>
        </p:nvSpPr>
        <p:spPr>
          <a:xfrm>
            <a:off x="13963751" y="10287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6" r="-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6" name="Google Shape;506;p23"/>
          <p:cNvGrpSpPr/>
          <p:nvPr/>
        </p:nvGrpSpPr>
        <p:grpSpPr>
          <a:xfrm>
            <a:off x="2411098" y="7785435"/>
            <a:ext cx="13465804" cy="833755"/>
            <a:chOff x="0" y="-152400"/>
            <a:chExt cx="17954405" cy="1111673"/>
          </a:xfrm>
        </p:grpSpPr>
        <p:sp>
          <p:nvSpPr>
            <p:cNvPr id="507" name="Google Shape;507;p23"/>
            <p:cNvSpPr/>
            <p:nvPr/>
          </p:nvSpPr>
          <p:spPr>
            <a:xfrm>
              <a:off x="0" y="0"/>
              <a:ext cx="17954405" cy="959273"/>
            </a:xfrm>
            <a:custGeom>
              <a:rect b="b" l="l" r="r" t="t"/>
              <a:pathLst>
                <a:path extrusionOk="0" h="959273" w="17954405">
                  <a:moveTo>
                    <a:pt x="0" y="0"/>
                  </a:moveTo>
                  <a:lnTo>
                    <a:pt x="17954405" y="0"/>
                  </a:lnTo>
                  <a:lnTo>
                    <a:pt x="17954405" y="959273"/>
                  </a:lnTo>
                  <a:lnTo>
                    <a:pt x="0" y="9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23"/>
            <p:cNvSpPr txBox="1"/>
            <p:nvPr/>
          </p:nvSpPr>
          <p:spPr>
            <a:xfrm>
              <a:off x="0" y="-152400"/>
              <a:ext cx="17954405" cy="1111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RECUERDA QUE TENEMOS NUESTRO FORO SEMANAL DONDE PUEDES CONSULTAR CUALQUIER DUDA QUE TE SURJA EN LA SEMANA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