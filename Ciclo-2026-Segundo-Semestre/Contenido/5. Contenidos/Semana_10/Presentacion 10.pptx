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Plus Jakarta Sans"/>
      <p:regular r:id="rId33"/>
      <p:bold r:id="rId34"/>
      <p:italic r:id="rId35"/>
      <p:boldItalic r:id="rId36"/>
    </p:embeddedFont>
    <p:embeddedFont>
      <p:font typeface="JetBrains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2E4E74-7D40-475C-9940-2C89656CD0DE}">
  <a:tblStyle styleId="{D32E4E74-7D40-475C-9940-2C89656CD0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lusJakartaSan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lusJakartaSans-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bold.fntdata"/><Relationship Id="rId15" Type="http://schemas.openxmlformats.org/officeDocument/2006/relationships/slide" Target="slides/slide9.xml"/><Relationship Id="rId37" Type="http://schemas.openxmlformats.org/officeDocument/2006/relationships/font" Target="fonts/JetBrainsMono-regular.fntdata"/><Relationship Id="rId14" Type="http://schemas.openxmlformats.org/officeDocument/2006/relationships/slide" Target="slides/slide8.xml"/><Relationship Id="rId36" Type="http://schemas.openxmlformats.org/officeDocument/2006/relationships/font" Target="fonts/PlusJakartaSans-boldItalic.fntdata"/><Relationship Id="rId17" Type="http://schemas.openxmlformats.org/officeDocument/2006/relationships/slide" Target="slides/slide11.xml"/><Relationship Id="rId39" Type="http://schemas.openxmlformats.org/officeDocument/2006/relationships/font" Target="fonts/JetBrainsMono-italic.fntdata"/><Relationship Id="rId16" Type="http://schemas.openxmlformats.org/officeDocument/2006/relationships/slide" Target="slides/slide10.xml"/><Relationship Id="rId38" Type="http://schemas.openxmlformats.org/officeDocument/2006/relationships/font" Target="fonts/JetBrains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Relationship Id="rId8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733901"/>
            <a:ext cx="1066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5733901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981325" y="5976788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048250" y="5976788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335881" y="59055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505950" y="595312"/>
            <a:ext cx="742950" cy="295275"/>
          </a:xfrm>
          <a:prstGeom prst="roundRect">
            <a:avLst>
              <a:gd fmla="val 258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0382250" y="595312"/>
            <a:ext cx="1047750" cy="295275"/>
          </a:xfrm>
          <a:prstGeom prst="roundRect">
            <a:avLst>
              <a:gd fmla="val 258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33400"/>
            <a:ext cx="38338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5906" y="552450"/>
            <a:ext cx="143753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8825" y="681037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25125" y="681037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762000" y="2724596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LABORATORIO IPC 1 · SECCIÓN B · SESIÓN NO. 10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62000" y="3010346"/>
            <a:ext cx="11430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Interfaces Gráficas de Usuario Avanzadas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62000" y="3628429"/>
            <a:ext cx="7334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Layout Managers profesionales, componentes de datos y modelo de eventos de ratón en Java.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62000" y="5933926"/>
            <a:ext cx="229790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UNIDAD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62000" y="6114901"/>
            <a:ext cx="229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5: GUI y Eventos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3371850" y="5933926"/>
            <a:ext cx="1619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 ACTITUDINAL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371850" y="6114901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Responsabilidad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438775" y="5933926"/>
            <a:ext cx="21788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PRÁCTICA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438775" y="6114901"/>
            <a:ext cx="2178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Interactivo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9877425" y="661987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DTT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0753725" y="661987"/>
            <a:ext cx="819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COCOCYS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762000" y="233928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371600" y="2277367"/>
            <a:ext cx="10058400" cy="542925"/>
          </a:xfrm>
          <a:prstGeom prst="roundRect">
            <a:avLst>
              <a:gd fmla="val 210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62000" y="301555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1371600" y="2953642"/>
            <a:ext cx="10058400" cy="542925"/>
          </a:xfrm>
          <a:prstGeom prst="roundRect">
            <a:avLst>
              <a:gd fmla="val 210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62000" y="369183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371600" y="3629917"/>
            <a:ext cx="10058400" cy="542925"/>
          </a:xfrm>
          <a:prstGeom prst="roundRect">
            <a:avLst>
              <a:gd fmla="val 210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762000" y="436810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371600" y="4306192"/>
            <a:ext cx="10058400" cy="542925"/>
          </a:xfrm>
          <a:prstGeom prst="roundRect">
            <a:avLst>
              <a:gd fmla="val 210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762000" y="504438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371600" y="4982467"/>
            <a:ext cx="10058400" cy="542925"/>
          </a:xfrm>
          <a:prstGeom prst="roundRect">
            <a:avLst>
              <a:gd fmla="val 21052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HOJA DE RUTA ACADÉMICA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 de la Sesión No. 10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19125" y="233928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19125" y="301555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19125" y="369183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19125" y="436810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19125" y="504438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609725" y="2439292"/>
            <a:ext cx="37754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 Actitudinal: Responsabilidad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382000" y="2458342"/>
            <a:ext cx="3512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accesible y liberación de memoria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609725" y="3115567"/>
            <a:ext cx="29628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Administradores de Diseño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505825" y="3134617"/>
            <a:ext cx="3357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Border, Grid, Flow, Box y GridBagLayout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609725" y="3791842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Componentes Avanzados de Swing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077200" y="3810892"/>
            <a:ext cx="3893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JTable, JScrollPane, JTabbedPane y selectores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609725" y="4468117"/>
            <a:ext cx="458807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de Delegación y Eventos de Ratón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324850" y="4487167"/>
            <a:ext cx="35837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MouseListener, MotionListener y Adapters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609725" y="5144392"/>
            <a:ext cx="34754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Práctica: Dashboard Interactivo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8839200" y="5163442"/>
            <a:ext cx="2940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Construcción guiada en el hilo EDT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76200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39415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802630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37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52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" y="331470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4200" y="3314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7775" y="331470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DIMENSIÓN ACTITUDINAL · SABER SER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Valor de la Responsabilidad en Software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3822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Accesible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03822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Interfaces intuitivas y tolerantes a errores humanos.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467037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Recursos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67037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Liberación estricta de listeners en memoria.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30252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Código Modular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830252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Separación completa entre vista y lógica del sistema.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762000" y="2668190"/>
            <a:ext cx="5181600" cy="2504479"/>
          </a:xfrm>
          <a:prstGeom prst="roundRect">
            <a:avLst>
              <a:gd fmla="val 608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248400" y="2548235"/>
            <a:ext cx="5181600" cy="2744390"/>
          </a:xfrm>
          <a:prstGeom prst="roundRect">
            <a:avLst>
              <a:gd fmla="val 5553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1076325" y="2982515"/>
            <a:ext cx="476250" cy="276225"/>
          </a:xfrm>
          <a:prstGeom prst="roundRect">
            <a:avLst>
              <a:gd fmla="val 20689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6562725" y="2862560"/>
            <a:ext cx="666750" cy="276225"/>
          </a:xfrm>
          <a:prstGeom prst="roundRect">
            <a:avLst>
              <a:gd fmla="val 20689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CONTEXTO TECNOLÓGICO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Evolución Gráfica en Java: AWT vs. Swing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171575" y="3020615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AWT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666875" y="2987278"/>
            <a:ext cx="51006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Componentes Pesados (Heavyweight)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1076325" y="3430190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Pares nativos: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Delega el renderizado al sistema operativo.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76325" y="4024312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Inconsistencia visual: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Aspecto dispar entre Windows, Linux y Mac.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076325" y="4618434"/>
            <a:ext cx="569118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Rigidez: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Dificultad para personalizar estilos gráficos.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657975" y="290066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SWING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343775" y="2867322"/>
            <a:ext cx="47755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Componentes Ligeros (Lightweight)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562725" y="3310235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Java:</a:t>
            </a:r>
            <a:r>
              <a:rPr b="0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Renderizado directo sin componentes nativos.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562725" y="3904357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Pluggable Look &amp; Feel:</a:t>
            </a:r>
            <a:r>
              <a:rPr b="0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Estilo homogéneo e intercambiable.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562725" y="4498478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Extensibilidad:</a:t>
            </a:r>
            <a:r>
              <a:rPr b="0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Compatibilidad total con modelos dinámicos.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762000" y="2792908"/>
            <a:ext cx="5200650" cy="2255043"/>
          </a:xfrm>
          <a:prstGeom prst="roundRect">
            <a:avLst>
              <a:gd fmla="val 6758" name="adj"/>
            </a:avLst>
          </a:prstGeom>
          <a:solidFill>
            <a:srgbClr val="FEF2F2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229350" y="2792908"/>
            <a:ext cx="5200650" cy="2255043"/>
          </a:xfrm>
          <a:prstGeom prst="roundRect">
            <a:avLst>
              <a:gd fmla="val 6758" name="adj"/>
            </a:avLst>
          </a:prstGeom>
          <a:solidFill>
            <a:srgbClr val="F0FDF4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312628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675" y="312628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BUENAS PRÁCTICAS DE INGENIERÍA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Peligro de setLayout(null)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419225" y="3107233"/>
            <a:ext cx="38629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Absoluto (setBounds)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076325" y="3545383"/>
            <a:ext cx="5715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Rigidez total:</a:t>
            </a:r>
            <a:r>
              <a:rPr b="0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Coordenadas fijas en píxeles.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76325" y="3899594"/>
            <a:ext cx="46672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Solapamiento:</a:t>
            </a:r>
            <a:r>
              <a:rPr b="0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Deformación ante cambios de resolución.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76325" y="4493716"/>
            <a:ext cx="5715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Prohibición:</a:t>
            </a:r>
            <a:r>
              <a:rPr b="0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Práctica descalificada en proyectos reales.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886575" y="3107233"/>
            <a:ext cx="37379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Layout Managers Dinámicos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543675" y="3545383"/>
            <a:ext cx="56483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automático:</a:t>
            </a: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Ajuste fluido al redimensionar.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543675" y="3899594"/>
            <a:ext cx="46672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Multiplataforma:</a:t>
            </a: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Respeto por las fuentes de cada sistema.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543675" y="4493716"/>
            <a:ext cx="56483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Escalabilidad:</a:t>
            </a: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Estructuración limpia por subpaneles.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5962650" y="2980432"/>
            <a:ext cx="5467350" cy="1879996"/>
          </a:xfrm>
          <a:prstGeom prst="roundRect">
            <a:avLst>
              <a:gd fmla="val 810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62000" y="2583358"/>
            <a:ext cx="4857750" cy="1251346"/>
          </a:xfrm>
          <a:prstGeom prst="roundRect">
            <a:avLst>
              <a:gd fmla="val 106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762000" y="4006155"/>
            <a:ext cx="4857750" cy="1251346"/>
          </a:xfrm>
          <a:prstGeom prst="roundRect">
            <a:avLst>
              <a:gd fmla="val 106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FUNDAMENTOS ARQUITECTÓNICOS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es un Layout Manager?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267450" y="3285232"/>
            <a:ext cx="5924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REGLA DE RESPONSABILIDAD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267450" y="3609082"/>
            <a:ext cx="59245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Contenedor Nunca Impone Tamaños Fijos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267450" y="4058542"/>
            <a:ext cx="495300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layout manager negocia el espacio disponible según las pistas de tamaño de cada componente hijo.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000125" y="2821483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 java.awt.LayoutManager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000125" y="3116758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Contrato de software para calcular tamaño y posición de cada widget.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000125" y="4244280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Tres Dimensiones Clave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1000125" y="4539555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getPreferredSize()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getMinimumSize()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getMaximumSize()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6479827" y="2825055"/>
            <a:ext cx="4950172" cy="219075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762000" y="2029717"/>
            <a:ext cx="5374927" cy="1219200"/>
          </a:xfrm>
          <a:prstGeom prst="roundRect">
            <a:avLst>
              <a:gd fmla="val 109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62000" y="3420367"/>
            <a:ext cx="5374927" cy="1000125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762000" y="4591942"/>
            <a:ext cx="5374927" cy="1219200"/>
          </a:xfrm>
          <a:prstGeom prst="roundRect">
            <a:avLst>
              <a:gd fmla="val 109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6756052" y="3425130"/>
            <a:ext cx="4397722" cy="1314450"/>
          </a:xfrm>
          <a:prstGeom prst="roundRect">
            <a:avLst>
              <a:gd fmla="val 724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7387976" y="3615630"/>
            <a:ext cx="904875" cy="409575"/>
          </a:xfrm>
          <a:prstGeom prst="roundRect">
            <a:avLst>
              <a:gd fmla="val 18604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407151" y="3615630"/>
            <a:ext cx="1028700" cy="409575"/>
          </a:xfrm>
          <a:prstGeom prst="roundRect">
            <a:avLst>
              <a:gd fmla="val 18604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9550151" y="3615630"/>
            <a:ext cx="971550" cy="409575"/>
          </a:xfrm>
          <a:prstGeom prst="roundRect">
            <a:avLst>
              <a:gd fmla="val 1860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8330951" y="4139505"/>
            <a:ext cx="1247775" cy="409575"/>
          </a:xfrm>
          <a:prstGeom prst="roundRect">
            <a:avLst>
              <a:gd fmla="val 18604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GESTORES DE DISTRIBUCIÓN BÁSICOS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FlowLayout: Flujo Secuencial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756052" y="3101280"/>
            <a:ext cx="54359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Simulación de Contenedor FlowLayout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00125" y="2267842"/>
            <a:ext cx="64295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Distribución en Renglones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1000125" y="2572642"/>
            <a:ext cx="499392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Acomoda elementos de izquierda a derecha. Salta de línea automáticamente.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000125" y="3658492"/>
            <a:ext cx="64295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Alineaciones Disponibles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1000125" y="3963292"/>
            <a:ext cx="61233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FlowLayout.LEFT, FlowLayout.CENTER y FlowLayout.RIGHT.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1000125" y="4830067"/>
            <a:ext cx="64295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Uso Ideal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000125" y="5134867"/>
            <a:ext cx="499392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Barras superiores de botones, formularios simples y paneles de filtro.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559426" y="3729930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Guardar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578601" y="3729930"/>
            <a:ext cx="781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Actualizar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9721601" y="3729930"/>
            <a:ext cx="723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Cancelar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502401" y="4253805"/>
            <a:ext cx="1000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Exportar PDF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6031557" y="2539305"/>
            <a:ext cx="5398442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31557" y="3491805"/>
            <a:ext cx="5398442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031557" y="4444305"/>
            <a:ext cx="5398442" cy="819150"/>
          </a:xfrm>
          <a:prstGeom prst="roundRect">
            <a:avLst>
              <a:gd fmla="val 13953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77380"/>
            <a:ext cx="4926657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86905"/>
            <a:ext cx="4907607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GESTORES DE DISTRIBUCIÓN BÁSICOS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BorderLayout: Las 5 Regiones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231582" y="2720280"/>
            <a:ext cx="59604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 &amp; SOUTH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231582" y="2977455"/>
            <a:ext cx="59604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Ocupan todo el ancho. Altura según su contenido preferido.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231582" y="3672780"/>
            <a:ext cx="59604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WEST &amp; EAST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231582" y="3929955"/>
            <a:ext cx="59604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Ocupan los laterales verticales. Ancho según su contenido.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231582" y="4625280"/>
            <a:ext cx="59604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CENTER (Región Dominante)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231582" y="4882455"/>
            <a:ext cx="59604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Absorbe todo el espacio remanente al redimensionar la ventana.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6521797" y="2620267"/>
            <a:ext cx="4908202" cy="2600325"/>
          </a:xfrm>
          <a:prstGeom prst="roundRect">
            <a:avLst>
              <a:gd fmla="val 586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62000" y="2263080"/>
            <a:ext cx="5416897" cy="990600"/>
          </a:xfrm>
          <a:prstGeom prst="roundRect">
            <a:avLst>
              <a:gd fmla="val 134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762000" y="3425130"/>
            <a:ext cx="5416897" cy="990600"/>
          </a:xfrm>
          <a:prstGeom prst="roundRect">
            <a:avLst>
              <a:gd fmla="val 134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762000" y="4587180"/>
            <a:ext cx="5416897" cy="990600"/>
          </a:xfrm>
          <a:prstGeom prst="roundRect">
            <a:avLst>
              <a:gd fmla="val 134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6759922" y="3144142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8262639" y="3144142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9765357" y="3144142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759922" y="3782317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8262639" y="3782317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9765357" y="3782317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759922" y="4420492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8262639" y="4420492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9765357" y="4420492"/>
            <a:ext cx="1426517" cy="561975"/>
          </a:xfrm>
          <a:prstGeom prst="roundRect">
            <a:avLst>
              <a:gd fmla="val 1355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GESTORES DE DISTRIBUCIÓN BÁSICOS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GridLayout: Cuadrículas Simétricas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759922" y="2858392"/>
            <a:ext cx="54320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Matriz GridLayout(3, 3)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000125" y="2501205"/>
            <a:ext cx="648459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Celdas de Tamaño Idéntico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000125" y="2796480"/>
            <a:ext cx="61758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 el espacio en filas y columnas exactamente iguales.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000125" y="3663255"/>
            <a:ext cx="648459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Fórmula del Constructor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000125" y="3958530"/>
            <a:ext cx="61758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GridLayout(filas, columnas, hgap, vgap)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000125" y="4825305"/>
            <a:ext cx="648459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Casos de Aplicación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000125" y="5120580"/>
            <a:ext cx="61758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Teclados numéricos, tableros de juego y galerías de métricas.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753057" y="3315592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255775" y="3315592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9758492" y="3315592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753057" y="3953767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8255775" y="3953767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9758492" y="3953767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753057" y="4591942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255775" y="4591942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9758492" y="4591942"/>
            <a:ext cx="14402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/>
          <p:nvPr/>
        </p:nvSpPr>
        <p:spPr>
          <a:xfrm>
            <a:off x="762000" y="2752278"/>
            <a:ext cx="3378249" cy="2336303"/>
          </a:xfrm>
          <a:prstGeom prst="roundRect">
            <a:avLst>
              <a:gd fmla="val 6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406949" y="2752278"/>
            <a:ext cx="3378249" cy="2336303"/>
          </a:xfrm>
          <a:prstGeom prst="roundRect">
            <a:avLst>
              <a:gd fmla="val 6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8051899" y="2876550"/>
            <a:ext cx="3378249" cy="2087760"/>
          </a:xfrm>
          <a:prstGeom prst="roundRect">
            <a:avLst>
              <a:gd fmla="val 72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30666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74" y="30666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8124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50" y="3190428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6999" y="319042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4336" y="3314700"/>
            <a:ext cx="1047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GESTORES DE DISTRIBUCIÓN AVANZADOS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BoxLayout: Ejes y Espaciadores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1038225" y="3657153"/>
            <a:ext cx="370886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Apilamiento Unidimensional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1038225" y="4028628"/>
            <a:ext cx="2921049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Alineación en eje vertical (PAGE_AXIS) o eje horizontal (LINE_AXIS).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4683174" y="3657153"/>
            <a:ext cx="370886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Espaciadores Elásticos (Glue)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4683174" y="4028628"/>
            <a:ext cx="2921049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Box.createVerticalGlue()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absorbe el espacio vacío empujando elementos.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8328124" y="3781425"/>
            <a:ext cx="370886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Espaciadores Rígidos (Strut)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8328124" y="4152900"/>
            <a:ext cx="2921049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Box.createRigidArea(Dimension)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fija una separación en píxeles.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/>
          <p:nvPr/>
        </p:nvSpPr>
        <p:spPr>
          <a:xfrm>
            <a:off x="6031557" y="2611933"/>
            <a:ext cx="5398442" cy="1213246"/>
          </a:xfrm>
          <a:prstGeom prst="roundRect">
            <a:avLst>
              <a:gd fmla="val 109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6031557" y="3977580"/>
            <a:ext cx="5398442" cy="1213246"/>
          </a:xfrm>
          <a:prstGeom prst="roundRect">
            <a:avLst>
              <a:gd fmla="val 109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7" name="Google Shape;3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77380"/>
            <a:ext cx="4926657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86905"/>
            <a:ext cx="4907607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GESTORES DE DISTRIBUCIÓN AVANZADOS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GridBagLayout: El Estándar Industrial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6250632" y="2831008"/>
            <a:ext cx="59413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Rejilla Dinámica Asimétrica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250632" y="3126283"/>
            <a:ext cx="50555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celdas de diferentes anchos y alturas según su contenido.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250632" y="4196655"/>
            <a:ext cx="59413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Fusión de Celdas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250632" y="4491930"/>
            <a:ext cx="50555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componente puede abarcar múltiples columnas o filas sin romper la grilla.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"/>
          <p:cNvSpPr/>
          <p:nvPr/>
        </p:nvSpPr>
        <p:spPr>
          <a:xfrm>
            <a:off x="762000" y="2558355"/>
            <a:ext cx="10668000" cy="26860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24"/>
          <p:cNvGraphicFramePr/>
          <p:nvPr/>
        </p:nvGraphicFramePr>
        <p:xfrm>
          <a:off x="762000" y="2558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{D32E4E74-7D40-475C-9940-2C89656CD0DE}</a:tableStyleId>
              </a:tblPr>
              <a:tblGrid>
                <a:gridCol w="3252050"/>
                <a:gridCol w="1233200"/>
                <a:gridCol w="617325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Propiedad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Función en el Canvas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gridx, gridy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Coordenada de columna y fila en la rejilla.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gridwidth, gridheight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Cantidad de celdas adyacentes que abarca.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weightx, weighty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double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Distribución de espacio extra al redimensionar.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fill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Expansión del componente (NONE, HORIZONTAL, BOTH).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Margen externo en píxeles (top, left, bottom, right).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2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CONFIGURACIÓN FINA DE GRIDBAGLAYOUT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Propiedades de GridBagConstraints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/>
          <p:nvPr/>
        </p:nvSpPr>
        <p:spPr>
          <a:xfrm>
            <a:off x="5962650" y="2856160"/>
            <a:ext cx="5467350" cy="2128539"/>
          </a:xfrm>
          <a:prstGeom prst="roundRect">
            <a:avLst>
              <a:gd fmla="val 715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762000" y="2583358"/>
            <a:ext cx="4857750" cy="1251346"/>
          </a:xfrm>
          <a:prstGeom prst="roundRect">
            <a:avLst>
              <a:gd fmla="val 106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762000" y="4006155"/>
            <a:ext cx="4857750" cy="1251346"/>
          </a:xfrm>
          <a:prstGeom prst="roundRect">
            <a:avLst>
              <a:gd fmla="val 106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ESTRATEGIA DE DISEÑO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Composición Modular por Paneles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267450" y="3160960"/>
            <a:ext cx="5924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ESTRUCTURA RECOMENDADA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6267450" y="3484810"/>
            <a:ext cx="59245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JFrame (BorderLayout)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6267450" y="3934271"/>
            <a:ext cx="4953000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NORTH: JPanel con FlowLayout (Filtros)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WEST: JPanel con BoxLayout (Navegación)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CENTER: JPanel con JScrollPane (Datos)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1000125" y="2821483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Principio Divide y Vencerás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1000125" y="3116758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intente resolver toda la interfaz con un único gestor complejo.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1000125" y="4244280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Anidamiento de JPanel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1000125" y="4539555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subpanel cuenta con su propio layout independiente.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/>
          <p:nvPr/>
        </p:nvSpPr>
        <p:spPr>
          <a:xfrm>
            <a:off x="6257925" y="2839342"/>
            <a:ext cx="5172075" cy="2124075"/>
          </a:xfrm>
          <a:prstGeom prst="roundRect">
            <a:avLst>
              <a:gd fmla="val 627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762000" y="2611933"/>
            <a:ext cx="5153025" cy="1213246"/>
          </a:xfrm>
          <a:prstGeom prst="roundRect">
            <a:avLst>
              <a:gd fmla="val 109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762000" y="3977580"/>
            <a:ext cx="5153025" cy="1213246"/>
          </a:xfrm>
          <a:prstGeom prst="roundRect">
            <a:avLst>
              <a:gd fmla="val 109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6267450" y="2848867"/>
            <a:ext cx="5153025" cy="400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26"/>
          <p:cNvGraphicFramePr/>
          <p:nvPr/>
        </p:nvGraphicFramePr>
        <p:xfrm>
          <a:off x="6267450" y="3248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{D32E4E74-7D40-475C-9940-2C89656CD0DE}</a:tableStyleId>
              </a:tblPr>
              <a:tblGrid>
                <a:gridCol w="1697525"/>
                <a:gridCol w="2073175"/>
                <a:gridCol w="1382325"/>
              </a:tblGrid>
              <a:tr h="42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Carné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Estudiante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2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202400123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García, Andrea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202400456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López, Carlos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202400789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Morales, Sofía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2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COMPONENTES AVANZADOS DE SWING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Manejo Tabular: JTable y Modelos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981075" y="2831008"/>
            <a:ext cx="618827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DefaultTableModel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981075" y="3126283"/>
            <a:ext cx="4810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Desacopla el almacenamiento de datos del renderizado visual de celdas.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981075" y="4196655"/>
            <a:ext cx="618827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Actualización en Tiempo Real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981075" y="4491930"/>
            <a:ext cx="4810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Métodos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model.addRow()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model.removeRow()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notifican cambios.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6438900" y="2963167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JTable en JScrollPane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0334625" y="2967930"/>
            <a:ext cx="1200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Registros: 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/>
          <p:nvPr/>
        </p:nvSpPr>
        <p:spPr>
          <a:xfrm>
            <a:off x="762000" y="2752278"/>
            <a:ext cx="3403550" cy="2336303"/>
          </a:xfrm>
          <a:prstGeom prst="roundRect">
            <a:avLst>
              <a:gd fmla="val 65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439415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802630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30666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37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52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2050" y="319042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8487" y="33147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6350" y="33147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COMPONENTES AVANZADOS DE SWING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Visualización y Scroll: JScrollPane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1038225" y="3657153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Viewport Dinámico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038225" y="4028628"/>
            <a:ext cx="2946350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Ventana móvil que proyecta solo la porción visible del componente hijo.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467037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Soporte de Encabezados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467037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 JScrollPane, JTable pierde los nombres de columnas.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830252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Políticas de Scroll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830252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Configuración AS_NEEDED, ALWAYS y NEVER según la vista.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"/>
          <p:cNvSpPr/>
          <p:nvPr/>
        </p:nvSpPr>
        <p:spPr>
          <a:xfrm>
            <a:off x="5962650" y="2980432"/>
            <a:ext cx="5467350" cy="1879996"/>
          </a:xfrm>
          <a:prstGeom prst="roundRect">
            <a:avLst>
              <a:gd fmla="val 810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762000" y="2578596"/>
            <a:ext cx="4857750" cy="1251346"/>
          </a:xfrm>
          <a:prstGeom prst="roundRect">
            <a:avLst>
              <a:gd fmla="val 106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762000" y="4001392"/>
            <a:ext cx="4857750" cy="1260871"/>
          </a:xfrm>
          <a:prstGeom prst="roundRect">
            <a:avLst>
              <a:gd fmla="val 1057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COMPONENTES AVANZADOS DE SWING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Navegación Modular: JTabbedPane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6267450" y="3285232"/>
            <a:ext cx="5924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ESCUCHA DE EVENTOS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6267450" y="3609082"/>
            <a:ext cx="59245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ChangeListener en Pestañas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6267450" y="4058542"/>
            <a:ext cx="495300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Detecta el cambio de pestaña para refrescar datos automáticamente mediante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getSelectedIndex()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1000125" y="2816721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Múltiples Vistas Superpuestas</a:t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1000125" y="3111996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alternar paneles sin abrir múltiples ventanas secundarias.</a:t>
            </a:r>
            <a:endParaRPr/>
          </a:p>
        </p:txBody>
      </p:sp>
      <p:sp>
        <p:nvSpPr>
          <p:cNvPr id="401" name="Google Shape;401;p28"/>
          <p:cNvSpPr txBox="1"/>
          <p:nvPr/>
        </p:nvSpPr>
        <p:spPr>
          <a:xfrm>
            <a:off x="1000125" y="4239517"/>
            <a:ext cx="57507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addTab(titulo, icono, panel)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1000125" y="4544317"/>
            <a:ext cx="4476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Asocia iconos gráficos y tooltips descriptivos a cada pestaña.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"/>
          <p:cNvSpPr/>
          <p:nvPr/>
        </p:nvSpPr>
        <p:spPr>
          <a:xfrm>
            <a:off x="762000" y="2552997"/>
            <a:ext cx="5181600" cy="2734865"/>
          </a:xfrm>
          <a:prstGeom prst="roundRect">
            <a:avLst>
              <a:gd fmla="val 557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6248400" y="2552997"/>
            <a:ext cx="5181600" cy="2734865"/>
          </a:xfrm>
          <a:prstGeom prst="roundRect">
            <a:avLst>
              <a:gd fmla="val 557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9" name="Google Shape;4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288637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886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COMPONENTES AVANZADOS DE SWING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Selección Dinámica: JComboBox y JSpinner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1390650" y="2867322"/>
            <a:ext cx="162520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JComboBox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1076325" y="3305472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Tipado genérico: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Maneja objetos directamente sin casteos inseguros.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1076325" y="3899594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DefaultComboBoxModel: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Modificación dinámica de opciones en tiempo de ejecución.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1076325" y="4493716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ItemListener: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Captura precisa de selección de elementos.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6905625" y="2867322"/>
            <a:ext cx="12101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JSpinner</a:t>
            </a:r>
            <a:endParaRPr/>
          </a:p>
        </p:txBody>
      </p:sp>
      <p:sp>
        <p:nvSpPr>
          <p:cNvPr id="418" name="Google Shape;418;p29"/>
          <p:cNvSpPr txBox="1"/>
          <p:nvPr/>
        </p:nvSpPr>
        <p:spPr>
          <a:xfrm>
            <a:off x="6562725" y="3305472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SpinnerNumberModel: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Rango numérico con pasos acotados y seguros.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6562725" y="3899594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SpinnerDateModel: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Selector de fechas con validación integrada.</a:t>
            </a:r>
            <a:endParaRPr/>
          </a:p>
        </p:txBody>
      </p:sp>
      <p:sp>
        <p:nvSpPr>
          <p:cNvPr id="420" name="Google Shape;420;p29"/>
          <p:cNvSpPr txBox="1"/>
          <p:nvPr/>
        </p:nvSpPr>
        <p:spPr>
          <a:xfrm>
            <a:off x="6562725" y="4493716"/>
            <a:ext cx="4648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de entrada: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Impide errores tipográficos del usuario.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76200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4394150" y="2876550"/>
            <a:ext cx="3403550" cy="2087760"/>
          </a:xfrm>
          <a:prstGeom prst="roundRect">
            <a:avLst>
              <a:gd fmla="val 72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8026300" y="2752278"/>
            <a:ext cx="3403550" cy="2336303"/>
          </a:xfrm>
          <a:prstGeom prst="roundRect">
            <a:avLst>
              <a:gd fmla="val 6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8" name="Google Shape;4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375" y="3190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525" y="30666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762" y="33147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4200" y="3314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063" y="3190428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INTERACCIÓN CON EL SISTEMA</a:t>
            </a:r>
            <a:endParaRPr/>
          </a:p>
        </p:txBody>
      </p:sp>
      <p:sp>
        <p:nvSpPr>
          <p:cNvPr id="435" name="Google Shape;435;p30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Carga y Guardado: JFileChooser</a:t>
            </a:r>
            <a:endParaRPr/>
          </a:p>
        </p:txBody>
      </p:sp>
      <p:sp>
        <p:nvSpPr>
          <p:cNvPr id="436" name="Google Shape;436;p30"/>
          <p:cNvSpPr txBox="1"/>
          <p:nvPr/>
        </p:nvSpPr>
        <p:spPr>
          <a:xfrm>
            <a:off x="103822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Diálogo Modal Nativo</a:t>
            </a:r>
            <a:endParaRPr/>
          </a:p>
        </p:txBody>
      </p:sp>
      <p:sp>
        <p:nvSpPr>
          <p:cNvPr id="437" name="Google Shape;437;p30"/>
          <p:cNvSpPr txBox="1"/>
          <p:nvPr/>
        </p:nvSpPr>
        <p:spPr>
          <a:xfrm>
            <a:off x="103822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Navegación nativa por el árbol de directorios del disco.</a:t>
            </a:r>
            <a:endParaRPr/>
          </a:p>
        </p:txBody>
      </p:sp>
      <p:sp>
        <p:nvSpPr>
          <p:cNvPr id="438" name="Google Shape;438;p30"/>
          <p:cNvSpPr txBox="1"/>
          <p:nvPr/>
        </p:nvSpPr>
        <p:spPr>
          <a:xfrm>
            <a:off x="4670375" y="3781425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Filtros de Extensión</a:t>
            </a:r>
            <a:endParaRPr/>
          </a:p>
        </p:txBody>
      </p:sp>
      <p:sp>
        <p:nvSpPr>
          <p:cNvPr id="439" name="Google Shape;439;p30"/>
          <p:cNvSpPr txBox="1"/>
          <p:nvPr/>
        </p:nvSpPr>
        <p:spPr>
          <a:xfrm>
            <a:off x="4670375" y="4152900"/>
            <a:ext cx="294635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FileNameExtensionFilter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archivos (.csv, .json, .txt).</a:t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8302525" y="3657153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de Estado</a:t>
            </a:r>
            <a:endParaRPr/>
          </a:p>
        </p:txBody>
      </p:sp>
      <p:sp>
        <p:nvSpPr>
          <p:cNvPr id="441" name="Google Shape;441;p30"/>
          <p:cNvSpPr txBox="1"/>
          <p:nvPr/>
        </p:nvSpPr>
        <p:spPr>
          <a:xfrm>
            <a:off x="8302525" y="4028628"/>
            <a:ext cx="2946350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Comprobación de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JFileChooser.APPROVE_OPTION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antes de leer.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"/>
          <p:cNvSpPr/>
          <p:nvPr/>
        </p:nvSpPr>
        <p:spPr>
          <a:xfrm>
            <a:off x="6031557" y="2539305"/>
            <a:ext cx="5398442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6031557" y="3491805"/>
            <a:ext cx="5398442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031557" y="4444305"/>
            <a:ext cx="5398442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9" name="Google Shape;4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77380"/>
            <a:ext cx="4926657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86905"/>
            <a:ext cx="4907607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ARQUITECTURA DE SOFTWARE EN JAVA</a:t>
            </a:r>
            <a:endParaRPr/>
          </a:p>
        </p:txBody>
      </p:sp>
      <p:sp>
        <p:nvSpPr>
          <p:cNvPr id="452" name="Google Shape;452;p31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de Delegación de Eventos</a:t>
            </a:r>
            <a:endParaRPr/>
          </a:p>
        </p:txBody>
      </p:sp>
      <p:sp>
        <p:nvSpPr>
          <p:cNvPr id="453" name="Google Shape;453;p31"/>
          <p:cNvSpPr txBox="1"/>
          <p:nvPr/>
        </p:nvSpPr>
        <p:spPr>
          <a:xfrm>
            <a:off x="6231582" y="2720280"/>
            <a:ext cx="59604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Fuente (Event Source)</a:t>
            </a:r>
            <a:endParaRPr/>
          </a:p>
        </p:txBody>
      </p:sp>
      <p:sp>
        <p:nvSpPr>
          <p:cNvPr id="454" name="Google Shape;454;p31"/>
          <p:cNvSpPr txBox="1"/>
          <p:nvPr/>
        </p:nvSpPr>
        <p:spPr>
          <a:xfrm>
            <a:off x="6231582" y="2977455"/>
            <a:ext cx="59604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 gráfico receptor del estímulo del usuario.</a:t>
            </a:r>
            <a:endParaRPr/>
          </a:p>
        </p:txBody>
      </p:sp>
      <p:sp>
        <p:nvSpPr>
          <p:cNvPr id="455" name="Google Shape;455;p31"/>
          <p:cNvSpPr txBox="1"/>
          <p:nvPr/>
        </p:nvSpPr>
        <p:spPr>
          <a:xfrm>
            <a:off x="6231582" y="3672780"/>
            <a:ext cx="59604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Objeto de Evento</a:t>
            </a:r>
            <a:endParaRPr/>
          </a:p>
        </p:txBody>
      </p:sp>
      <p:sp>
        <p:nvSpPr>
          <p:cNvPr id="456" name="Google Shape;456;p31"/>
          <p:cNvSpPr txBox="1"/>
          <p:nvPr/>
        </p:nvSpPr>
        <p:spPr>
          <a:xfrm>
            <a:off x="6231582" y="3929955"/>
            <a:ext cx="59604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Empaqueta coordenadas, timestamp y botón accionado.</a:t>
            </a:r>
            <a:endParaRPr/>
          </a:p>
        </p:txBody>
      </p:sp>
      <p:sp>
        <p:nvSpPr>
          <p:cNvPr id="457" name="Google Shape;457;p31"/>
          <p:cNvSpPr txBox="1"/>
          <p:nvPr/>
        </p:nvSpPr>
        <p:spPr>
          <a:xfrm>
            <a:off x="6231582" y="4625280"/>
            <a:ext cx="59604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Oyente (Listener / Adapter)</a:t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6231582" y="4882455"/>
            <a:ext cx="59604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Receptor desacoplado que ejecuta la lógica en respuesta.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"/>
          <p:cNvSpPr/>
          <p:nvPr/>
        </p:nvSpPr>
        <p:spPr>
          <a:xfrm>
            <a:off x="762000" y="3210817"/>
            <a:ext cx="2524125" cy="1419225"/>
          </a:xfrm>
          <a:prstGeom prst="roundRect">
            <a:avLst>
              <a:gd fmla="val 939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3476625" y="3315592"/>
            <a:ext cx="2524125" cy="1209675"/>
          </a:xfrm>
          <a:prstGeom prst="roundRect">
            <a:avLst>
              <a:gd fmla="val 110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6191250" y="3315592"/>
            <a:ext cx="2524125" cy="1209675"/>
          </a:xfrm>
          <a:prstGeom prst="roundRect">
            <a:avLst>
              <a:gd fmla="val 110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8905875" y="3315592"/>
            <a:ext cx="2524125" cy="1209675"/>
          </a:xfrm>
          <a:prstGeom prst="roundRect">
            <a:avLst>
              <a:gd fmla="val 110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INTERACCIÓN DE USUARIO</a:t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Eventos de Ratón: MouseListener</a:t>
            </a:r>
            <a:endParaRPr/>
          </a:p>
        </p:txBody>
      </p:sp>
      <p:sp>
        <p:nvSpPr>
          <p:cNvPr id="469" name="Google Shape;469;p32"/>
          <p:cNvSpPr txBox="1"/>
          <p:nvPr/>
        </p:nvSpPr>
        <p:spPr>
          <a:xfrm>
            <a:off x="962025" y="344894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mouseClicked</a:t>
            </a:r>
            <a:endParaRPr/>
          </a:p>
        </p:txBody>
      </p:sp>
      <p:sp>
        <p:nvSpPr>
          <p:cNvPr id="470" name="Google Shape;470;p32"/>
          <p:cNvSpPr txBox="1"/>
          <p:nvPr/>
        </p:nvSpPr>
        <p:spPr>
          <a:xfrm>
            <a:off x="962025" y="3763267"/>
            <a:ext cx="2219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Presión y liberación completa en la misma coordenada.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3676650" y="355371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mousePressed</a:t>
            </a:r>
            <a:endParaRPr/>
          </a:p>
        </p:txBody>
      </p:sp>
      <p:sp>
        <p:nvSpPr>
          <p:cNvPr id="472" name="Google Shape;472;p32"/>
          <p:cNvSpPr txBox="1"/>
          <p:nvPr/>
        </p:nvSpPr>
        <p:spPr>
          <a:xfrm>
            <a:off x="3676650" y="3868042"/>
            <a:ext cx="22193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Pulsación inicial del botón físico del ratón.</a:t>
            </a:r>
            <a:endParaRPr/>
          </a:p>
        </p:txBody>
      </p:sp>
      <p:sp>
        <p:nvSpPr>
          <p:cNvPr id="473" name="Google Shape;473;p32"/>
          <p:cNvSpPr txBox="1"/>
          <p:nvPr/>
        </p:nvSpPr>
        <p:spPr>
          <a:xfrm>
            <a:off x="6391275" y="355371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mouseReleased</a:t>
            </a:r>
            <a:endParaRPr/>
          </a:p>
        </p:txBody>
      </p:sp>
      <p:sp>
        <p:nvSpPr>
          <p:cNvPr id="474" name="Google Shape;474;p32"/>
          <p:cNvSpPr txBox="1"/>
          <p:nvPr/>
        </p:nvSpPr>
        <p:spPr>
          <a:xfrm>
            <a:off x="6391275" y="3868042"/>
            <a:ext cx="22193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Liberación del botón tras una pulsación.</a:t>
            </a:r>
            <a:endParaRPr/>
          </a:p>
        </p:txBody>
      </p:sp>
      <p:sp>
        <p:nvSpPr>
          <p:cNvPr id="475" name="Google Shape;475;p32"/>
          <p:cNvSpPr txBox="1"/>
          <p:nvPr/>
        </p:nvSpPr>
        <p:spPr>
          <a:xfrm>
            <a:off x="9105900" y="355371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mouseEntered</a:t>
            </a:r>
            <a:endParaRPr/>
          </a:p>
        </p:txBody>
      </p:sp>
      <p:sp>
        <p:nvSpPr>
          <p:cNvPr id="476" name="Google Shape;476;p32"/>
          <p:cNvSpPr txBox="1"/>
          <p:nvPr/>
        </p:nvSpPr>
        <p:spPr>
          <a:xfrm>
            <a:off x="9105900" y="3868042"/>
            <a:ext cx="22193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Cursor ingresa a los límites visuales del componente.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/>
          <p:nvPr/>
        </p:nvSpPr>
        <p:spPr>
          <a:xfrm>
            <a:off x="762000" y="2962721"/>
            <a:ext cx="5181600" cy="1915417"/>
          </a:xfrm>
          <a:prstGeom prst="roundRect">
            <a:avLst>
              <a:gd fmla="val 79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6248400" y="2838450"/>
            <a:ext cx="5181600" cy="2163960"/>
          </a:xfrm>
          <a:prstGeom prst="roundRect">
            <a:avLst>
              <a:gd fmla="val 70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1076325" y="4106614"/>
            <a:ext cx="4552950" cy="457200"/>
          </a:xfrm>
          <a:prstGeom prst="roundRect">
            <a:avLst>
              <a:gd fmla="val 208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6562725" y="4230885"/>
            <a:ext cx="4552950" cy="457200"/>
          </a:xfrm>
          <a:prstGeom prst="roundRect">
            <a:avLst>
              <a:gd fmla="val 20833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INTERACCIÓN DE USUARIO</a:t>
            </a:r>
            <a:endParaRPr/>
          </a:p>
        </p:txBody>
      </p:sp>
      <p:sp>
        <p:nvSpPr>
          <p:cNvPr id="486" name="Google Shape;486;p33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Trayectoria y Coordenadas: MouseMotionListener</a:t>
            </a:r>
            <a:endParaRPr/>
          </a:p>
        </p:txBody>
      </p:sp>
      <p:sp>
        <p:nvSpPr>
          <p:cNvPr id="487" name="Google Shape;487;p33"/>
          <p:cNvSpPr txBox="1"/>
          <p:nvPr/>
        </p:nvSpPr>
        <p:spPr>
          <a:xfrm>
            <a:off x="1076325" y="3277046"/>
            <a:ext cx="597574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mouseMoved(MouseEvent e)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1076325" y="3705671"/>
            <a:ext cx="5691187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dispara ante cada cambio de píxel sin pulsar botones.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1247775" y="4239964"/>
            <a:ext cx="430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x = e.getX(); int y = e.getY();</a:t>
            </a:r>
            <a:endParaRPr/>
          </a:p>
        </p:txBody>
      </p:sp>
      <p:sp>
        <p:nvSpPr>
          <p:cNvPr id="490" name="Google Shape;490;p33"/>
          <p:cNvSpPr txBox="1"/>
          <p:nvPr/>
        </p:nvSpPr>
        <p:spPr>
          <a:xfrm>
            <a:off x="6562725" y="3152775"/>
            <a:ext cx="5629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mouseDragged(MouseEvent e)</a:t>
            </a:r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6562725" y="3581400"/>
            <a:ext cx="4648200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dispara cuando el usuario desplaza el ratón manteniendo el clic sostenido.</a:t>
            </a:r>
            <a:endParaRPr/>
          </a:p>
        </p:txBody>
      </p:sp>
      <p:sp>
        <p:nvSpPr>
          <p:cNvPr id="492" name="Google Shape;492;p33"/>
          <p:cNvSpPr txBox="1"/>
          <p:nvPr/>
        </p:nvSpPr>
        <p:spPr>
          <a:xfrm>
            <a:off x="6734175" y="4364235"/>
            <a:ext cx="430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6653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Ideal para dibujo o arrastre de elementos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/>
          <p:nvPr/>
        </p:nvSpPr>
        <p:spPr>
          <a:xfrm>
            <a:off x="6000750" y="2901255"/>
            <a:ext cx="5429250" cy="2038350"/>
          </a:xfrm>
          <a:prstGeom prst="roundRect">
            <a:avLst>
              <a:gd fmla="val 747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762000" y="2583358"/>
            <a:ext cx="4895850" cy="1251346"/>
          </a:xfrm>
          <a:prstGeom prst="roundRect">
            <a:avLst>
              <a:gd fmla="val 10656" name="adj"/>
            </a:avLst>
          </a:prstGeom>
          <a:solidFill>
            <a:srgbClr val="FEF2F2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4"/>
          <p:cNvSpPr/>
          <p:nvPr/>
        </p:nvSpPr>
        <p:spPr>
          <a:xfrm>
            <a:off x="762000" y="4006155"/>
            <a:ext cx="4895850" cy="1251346"/>
          </a:xfrm>
          <a:prstGeom prst="roundRect">
            <a:avLst>
              <a:gd fmla="val 10656" name="adj"/>
            </a:avLst>
          </a:prstGeom>
          <a:solidFill>
            <a:srgbClr val="F0FDF4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PATRONES DE SIMPLIFICACIÓN</a:t>
            </a:r>
            <a:endParaRPr/>
          </a:p>
        </p:txBody>
      </p:sp>
      <p:sp>
        <p:nvSpPr>
          <p:cNvPr id="501" name="Google Shape;501;p34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Optimización con MouseAdapter</a:t>
            </a:r>
            <a:endParaRPr/>
          </a:p>
        </p:txBody>
      </p:sp>
      <p:sp>
        <p:nvSpPr>
          <p:cNvPr id="502" name="Google Shape;502;p34"/>
          <p:cNvSpPr txBox="1"/>
          <p:nvPr/>
        </p:nvSpPr>
        <p:spPr>
          <a:xfrm>
            <a:off x="6267450" y="3167955"/>
            <a:ext cx="5924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Código Limpio con MouseAdapter</a:t>
            </a:r>
            <a:endParaRPr/>
          </a:p>
        </p:txBody>
      </p:sp>
      <p:sp>
        <p:nvSpPr>
          <p:cNvPr id="503" name="Google Shape;503;p34"/>
          <p:cNvSpPr txBox="1"/>
          <p:nvPr/>
        </p:nvSpPr>
        <p:spPr>
          <a:xfrm>
            <a:off x="6267450" y="3472755"/>
            <a:ext cx="49911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panel.addMouseListener(new MouseAdapter() { @Override public void mouseClicked(MouseEvent e) { System.out.println("Clic en: " + e.getPoint()); } });</a:t>
            </a:r>
            <a:endParaRPr/>
          </a:p>
        </p:txBody>
      </p:sp>
      <p:sp>
        <p:nvSpPr>
          <p:cNvPr id="504" name="Google Shape;504;p34"/>
          <p:cNvSpPr txBox="1"/>
          <p:nvPr/>
        </p:nvSpPr>
        <p:spPr>
          <a:xfrm>
            <a:off x="1000125" y="2821483"/>
            <a:ext cx="5800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 de MouseListener</a:t>
            </a:r>
            <a:endParaRPr/>
          </a:p>
        </p:txBody>
      </p:sp>
      <p:sp>
        <p:nvSpPr>
          <p:cNvPr id="505" name="Google Shape;505;p34"/>
          <p:cNvSpPr txBox="1"/>
          <p:nvPr/>
        </p:nvSpPr>
        <p:spPr>
          <a:xfrm>
            <a:off x="1000125" y="3116758"/>
            <a:ext cx="45148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Obliga a implementar 5 métodos aunque solo se necesite un clic.</a:t>
            </a:r>
            <a:endParaRPr/>
          </a:p>
        </p:txBody>
      </p:sp>
      <p:sp>
        <p:nvSpPr>
          <p:cNvPr id="506" name="Google Shape;506;p34"/>
          <p:cNvSpPr txBox="1"/>
          <p:nvPr/>
        </p:nvSpPr>
        <p:spPr>
          <a:xfrm>
            <a:off x="1000125" y="4244280"/>
            <a:ext cx="5800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Solución con MouseAdapter</a:t>
            </a:r>
            <a:endParaRPr/>
          </a:p>
        </p:txBody>
      </p:sp>
      <p:sp>
        <p:nvSpPr>
          <p:cNvPr id="507" name="Google Shape;507;p34"/>
          <p:cNvSpPr txBox="1"/>
          <p:nvPr/>
        </p:nvSpPr>
        <p:spPr>
          <a:xfrm>
            <a:off x="1000125" y="4539555"/>
            <a:ext cx="45148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Clase abstracta que provee implementaciones vacías de los métodos.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/>
          <p:nvPr/>
        </p:nvSpPr>
        <p:spPr>
          <a:xfrm>
            <a:off x="6000750" y="2901255"/>
            <a:ext cx="5429250" cy="2038350"/>
          </a:xfrm>
          <a:prstGeom prst="roundRect">
            <a:avLst>
              <a:gd fmla="val 747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762000" y="2583358"/>
            <a:ext cx="4895850" cy="1251346"/>
          </a:xfrm>
          <a:prstGeom prst="roundRect">
            <a:avLst>
              <a:gd fmla="val 106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762000" y="4006155"/>
            <a:ext cx="4895850" cy="1251346"/>
          </a:xfrm>
          <a:prstGeom prst="roundRect">
            <a:avLst>
              <a:gd fmla="val 106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CONCURRENCIA EN INTERFACES GRÁFICAS</a:t>
            </a:r>
            <a:endParaRPr/>
          </a:p>
        </p:txBody>
      </p:sp>
      <p:sp>
        <p:nvSpPr>
          <p:cNvPr id="516" name="Google Shape;516;p35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Hilo EDT (Event Dispatch Thread)</a:t>
            </a:r>
            <a:endParaRPr/>
          </a:p>
        </p:txBody>
      </p:sp>
      <p:sp>
        <p:nvSpPr>
          <p:cNvPr id="517" name="Google Shape;517;p35"/>
          <p:cNvSpPr txBox="1"/>
          <p:nvPr/>
        </p:nvSpPr>
        <p:spPr>
          <a:xfrm>
            <a:off x="6267450" y="3167955"/>
            <a:ext cx="5924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Inicialización Segura</a:t>
            </a:r>
            <a:endParaRPr/>
          </a:p>
        </p:txBody>
      </p:sp>
      <p:sp>
        <p:nvSpPr>
          <p:cNvPr id="518" name="Google Shape;518;p35"/>
          <p:cNvSpPr txBox="1"/>
          <p:nvPr/>
        </p:nvSpPr>
        <p:spPr>
          <a:xfrm>
            <a:off x="6267450" y="3472755"/>
            <a:ext cx="49911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main(String[] args) { SwingUtilities.invokeLater(() -&gt; { DashboardFrame frame = new DashboardFrame(); frame.setVisible(true); }); }</a:t>
            </a:r>
            <a:endParaRPr/>
          </a:p>
        </p:txBody>
      </p:sp>
      <p:sp>
        <p:nvSpPr>
          <p:cNvPr id="519" name="Google Shape;519;p35"/>
          <p:cNvSpPr txBox="1"/>
          <p:nvPr/>
        </p:nvSpPr>
        <p:spPr>
          <a:xfrm>
            <a:off x="1000125" y="2821483"/>
            <a:ext cx="5800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Swing no es Thread-Safe</a:t>
            </a:r>
            <a:endParaRPr/>
          </a:p>
        </p:txBody>
      </p:sp>
      <p:sp>
        <p:nvSpPr>
          <p:cNvPr id="520" name="Google Shape;520;p35"/>
          <p:cNvSpPr txBox="1"/>
          <p:nvPr/>
        </p:nvSpPr>
        <p:spPr>
          <a:xfrm>
            <a:off x="1000125" y="3116758"/>
            <a:ext cx="45148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Todas las operaciones gráficas deben ejecutarse en un hilo exclusivo.</a:t>
            </a:r>
            <a:endParaRPr/>
          </a:p>
        </p:txBody>
      </p:sp>
      <p:sp>
        <p:nvSpPr>
          <p:cNvPr id="521" name="Google Shape;521;p35"/>
          <p:cNvSpPr txBox="1"/>
          <p:nvPr/>
        </p:nvSpPr>
        <p:spPr>
          <a:xfrm>
            <a:off x="1000125" y="4244280"/>
            <a:ext cx="5800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 de Oro en Arranque</a:t>
            </a:r>
            <a:endParaRPr/>
          </a:p>
        </p:txBody>
      </p:sp>
      <p:sp>
        <p:nvSpPr>
          <p:cNvPr id="522" name="Google Shape;522;p35"/>
          <p:cNvSpPr txBox="1"/>
          <p:nvPr/>
        </p:nvSpPr>
        <p:spPr>
          <a:xfrm>
            <a:off x="1000125" y="4539555"/>
            <a:ext cx="45148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Invocar la ventana principal mediante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SwingUtilities.invokeLater()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762000" y="2880419"/>
            <a:ext cx="5162550" cy="2041921"/>
          </a:xfrm>
          <a:prstGeom prst="roundRect">
            <a:avLst>
              <a:gd fmla="val 746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6267450" y="3004691"/>
            <a:ext cx="5162550" cy="1793378"/>
          </a:xfrm>
          <a:prstGeom prst="roundRect">
            <a:avLst>
              <a:gd fmla="val 849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CASO PRÁCTICO EN CLASE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762000" y="800100"/>
            <a:ext cx="114300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del Dashboard Interactivo</a:t>
            </a:r>
            <a:endParaRPr/>
          </a:p>
        </p:txBody>
      </p:sp>
      <p:sp>
        <p:nvSpPr>
          <p:cNvPr id="531" name="Google Shape;531;p36"/>
          <p:cNvSpPr txBox="1"/>
          <p:nvPr/>
        </p:nvSpPr>
        <p:spPr>
          <a:xfrm>
            <a:off x="1076325" y="3194744"/>
            <a:ext cx="59507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Distribución Espacial</a:t>
            </a:r>
            <a:endParaRPr/>
          </a:p>
        </p:txBody>
      </p:sp>
      <p:sp>
        <p:nvSpPr>
          <p:cNvPr id="532" name="Google Shape;532;p36"/>
          <p:cNvSpPr txBox="1"/>
          <p:nvPr/>
        </p:nvSpPr>
        <p:spPr>
          <a:xfrm>
            <a:off x="1076325" y="3613844"/>
            <a:ext cx="4629150" cy="99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Filtros con FlowLayout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WEST: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Navegación con BoxLayout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JTable en JScrollPane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SOUTH: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Estado y MouseMotionListener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6581775" y="3319016"/>
            <a:ext cx="5610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Criterios de Evaluación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6581775" y="3738116"/>
            <a:ext cx="4629150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Cero layouts nulos:</a:t>
            </a:r>
            <a:r>
              <a:rPr b="0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Uso estricto de gestores.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Composición:</a:t>
            </a:r>
            <a:r>
              <a:rPr b="0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Mínimo 3 subpaneles combinados.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Interactividad:</a:t>
            </a:r>
            <a:r>
              <a:rPr b="0" i="0" lang="en-US" sz="13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Telemetría de ratón en tiempo real.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"/>
          <p:cNvSpPr/>
          <p:nvPr/>
        </p:nvSpPr>
        <p:spPr>
          <a:xfrm>
            <a:off x="2990850" y="5924550"/>
            <a:ext cx="6210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2990850" y="5924550"/>
            <a:ext cx="62103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41" name="Google Shape;5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297459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025" y="2459384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7"/>
          <p:cNvSpPr txBox="1"/>
          <p:nvPr/>
        </p:nvSpPr>
        <p:spPr>
          <a:xfrm>
            <a:off x="-285750" y="533400"/>
            <a:ext cx="1276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Universidad de San Carlos de Guatemala · Facultad de Ingeniería · ECYS </a:t>
            </a:r>
            <a:endParaRPr/>
          </a:p>
        </p:txBody>
      </p:sp>
      <p:sp>
        <p:nvSpPr>
          <p:cNvPr id="544" name="Google Shape;544;p37"/>
          <p:cNvSpPr txBox="1"/>
          <p:nvPr/>
        </p:nvSpPr>
        <p:spPr>
          <a:xfrm>
            <a:off x="2583060" y="3059459"/>
            <a:ext cx="702587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¿Dudas o Comentarios?</a:t>
            </a:r>
            <a:endParaRPr/>
          </a:p>
        </p:txBody>
      </p:sp>
      <p:sp>
        <p:nvSpPr>
          <p:cNvPr id="545" name="Google Shape;545;p37"/>
          <p:cNvSpPr txBox="1"/>
          <p:nvPr/>
        </p:nvSpPr>
        <p:spPr>
          <a:xfrm>
            <a:off x="2047875" y="3760440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Aprovecha el espacio para resolver dudas prácticas o utiliza el foro oficial semanal en la plataforma UEDI.</a:t>
            </a:r>
            <a:endParaRPr/>
          </a:p>
        </p:txBody>
      </p:sp>
      <p:sp>
        <p:nvSpPr>
          <p:cNvPr id="546" name="Google Shape;546;p37"/>
          <p:cNvSpPr txBox="1"/>
          <p:nvPr/>
        </p:nvSpPr>
        <p:spPr>
          <a:xfrm>
            <a:off x="2847975" y="6138862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FIUSAC</a:t>
            </a:r>
            <a:endParaRPr/>
          </a:p>
        </p:txBody>
      </p:sp>
      <p:sp>
        <p:nvSpPr>
          <p:cNvPr id="547" name="Google Shape;547;p37"/>
          <p:cNvSpPr txBox="1"/>
          <p:nvPr/>
        </p:nvSpPr>
        <p:spPr>
          <a:xfrm>
            <a:off x="3571875" y="6124575"/>
            <a:ext cx="371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48" name="Google Shape;548;p37"/>
          <p:cNvSpPr txBox="1"/>
          <p:nvPr/>
        </p:nvSpPr>
        <p:spPr>
          <a:xfrm>
            <a:off x="3924300" y="6138862"/>
            <a:ext cx="590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ECYS</a:t>
            </a:r>
            <a:endParaRPr/>
          </a:p>
        </p:txBody>
      </p:sp>
      <p:sp>
        <p:nvSpPr>
          <p:cNvPr id="549" name="Google Shape;549;p37"/>
          <p:cNvSpPr txBox="1"/>
          <p:nvPr/>
        </p:nvSpPr>
        <p:spPr>
          <a:xfrm>
            <a:off x="4495800" y="6124575"/>
            <a:ext cx="371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50" name="Google Shape;550;p37"/>
          <p:cNvSpPr txBox="1"/>
          <p:nvPr/>
        </p:nvSpPr>
        <p:spPr>
          <a:xfrm>
            <a:off x="4848225" y="6138862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DTT</a:t>
            </a:r>
            <a:endParaRPr/>
          </a:p>
        </p:txBody>
      </p:sp>
      <p:sp>
        <p:nvSpPr>
          <p:cNvPr id="551" name="Google Shape;551;p37"/>
          <p:cNvSpPr txBox="1"/>
          <p:nvPr/>
        </p:nvSpPr>
        <p:spPr>
          <a:xfrm>
            <a:off x="5343525" y="6124575"/>
            <a:ext cx="371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52" name="Google Shape;552;p37"/>
          <p:cNvSpPr txBox="1"/>
          <p:nvPr/>
        </p:nvSpPr>
        <p:spPr>
          <a:xfrm>
            <a:off x="5695950" y="6138862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COCOCYS</a:t>
            </a:r>
            <a:endParaRPr/>
          </a:p>
        </p:txBody>
      </p:sp>
      <p:sp>
        <p:nvSpPr>
          <p:cNvPr id="553" name="Google Shape;553;p37"/>
          <p:cNvSpPr txBox="1"/>
          <p:nvPr/>
        </p:nvSpPr>
        <p:spPr>
          <a:xfrm>
            <a:off x="6496050" y="6124575"/>
            <a:ext cx="371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554" name="Google Shape;554;p37"/>
          <p:cNvSpPr txBox="1"/>
          <p:nvPr/>
        </p:nvSpPr>
        <p:spPr>
          <a:xfrm>
            <a:off x="6715125" y="6138862"/>
            <a:ext cx="2762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IPC 1 · Segundo Semestre 2026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8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8"/>
          <p:cNvSpPr/>
          <p:nvPr/>
        </p:nvSpPr>
        <p:spPr>
          <a:xfrm>
            <a:off x="571500" y="31718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8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8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71" name="Google Shape;5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431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4" name="Google Shape;57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47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5" name="Google Shape;575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86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8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577" name="Google Shape;577;p38"/>
          <p:cNvSpPr txBox="1"/>
          <p:nvPr/>
        </p:nvSpPr>
        <p:spPr>
          <a:xfrm>
            <a:off x="1666875" y="1038225"/>
            <a:ext cx="5786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https://ddo.usac.edu.gt/wp-content/uploads/2024/03/Logo-Ingenieria.jpg</a:t>
            </a:r>
            <a:endParaRPr/>
          </a:p>
        </p:txBody>
      </p:sp>
      <p:sp>
        <p:nvSpPr>
          <p:cNvPr id="578" name="Google Shape;578;p38"/>
          <p:cNvSpPr txBox="1"/>
          <p:nvPr/>
        </p:nvSpPr>
        <p:spPr>
          <a:xfrm>
            <a:off x="1666875" y="1238250"/>
            <a:ext cx="2286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ddo.usac.edu.gt</a:t>
            </a:r>
            <a:endParaRPr/>
          </a:p>
        </p:txBody>
      </p:sp>
      <p:sp>
        <p:nvSpPr>
          <p:cNvPr id="579" name="Google Shape;579;p38"/>
          <p:cNvSpPr txBox="1"/>
          <p:nvPr/>
        </p:nvSpPr>
        <p:spPr>
          <a:xfrm>
            <a:off x="1666875" y="1809750"/>
            <a:ext cx="5238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https://dtt-ecys.org/static/build/images/ecys/logo-ecys-fiusac.png</a:t>
            </a:r>
            <a:endParaRPr/>
          </a:p>
        </p:txBody>
      </p:sp>
      <p:sp>
        <p:nvSpPr>
          <p:cNvPr id="580" name="Google Shape;580;p38"/>
          <p:cNvSpPr txBox="1"/>
          <p:nvPr/>
        </p:nvSpPr>
        <p:spPr>
          <a:xfrm>
            <a:off x="1666875" y="2009775"/>
            <a:ext cx="1916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dtt-ecys.org</a:t>
            </a:r>
            <a:endParaRPr/>
          </a:p>
        </p:txBody>
      </p:sp>
      <p:sp>
        <p:nvSpPr>
          <p:cNvPr id="581" name="Google Shape;581;p38"/>
          <p:cNvSpPr txBox="1"/>
          <p:nvPr/>
        </p:nvSpPr>
        <p:spPr>
          <a:xfrm>
            <a:off x="1666875" y="2581275"/>
            <a:ext cx="8715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https://download.java.net/java/early_access/genzgc/docs/api/java.desktop/java/awt/doc-files/BorderLayout-1.gif</a:t>
            </a:r>
            <a:endParaRPr/>
          </a:p>
        </p:txBody>
      </p:sp>
      <p:sp>
        <p:nvSpPr>
          <p:cNvPr id="582" name="Google Shape;582;p38"/>
          <p:cNvSpPr txBox="1"/>
          <p:nvPr/>
        </p:nvSpPr>
        <p:spPr>
          <a:xfrm>
            <a:off x="1666875" y="2781300"/>
            <a:ext cx="2428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download.java.net</a:t>
            </a:r>
            <a:endParaRPr/>
          </a:p>
        </p:txBody>
      </p:sp>
      <p:sp>
        <p:nvSpPr>
          <p:cNvPr id="583" name="Google Shape;583;p38"/>
          <p:cNvSpPr txBox="1"/>
          <p:nvPr/>
        </p:nvSpPr>
        <p:spPr>
          <a:xfrm>
            <a:off x="1666875" y="3352800"/>
            <a:ext cx="700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https://docs.oracle.com/javase/tutorial/figures/uiswing/layout/GridBagLayoutDemoGrid.jpg</a:t>
            </a:r>
            <a:endParaRPr/>
          </a:p>
        </p:txBody>
      </p:sp>
      <p:sp>
        <p:nvSpPr>
          <p:cNvPr id="584" name="Google Shape;584;p38"/>
          <p:cNvSpPr txBox="1"/>
          <p:nvPr/>
        </p:nvSpPr>
        <p:spPr>
          <a:xfrm>
            <a:off x="1666875" y="3552825"/>
            <a:ext cx="2309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docs.oracle.com</a:t>
            </a:r>
            <a:endParaRPr/>
          </a:p>
        </p:txBody>
      </p:sp>
      <p:sp>
        <p:nvSpPr>
          <p:cNvPr id="585" name="Google Shape;585;p38"/>
          <p:cNvSpPr txBox="1"/>
          <p:nvPr/>
        </p:nvSpPr>
        <p:spPr>
          <a:xfrm>
            <a:off x="1666875" y="4124325"/>
            <a:ext cx="7286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https://files.codingninjas.in/article_images/delegation-event-model-in-java-1-1677955882.webp</a:t>
            </a:r>
            <a:endParaRPr/>
          </a:p>
        </p:txBody>
      </p:sp>
      <p:sp>
        <p:nvSpPr>
          <p:cNvPr id="586" name="Google Shape;586;p38"/>
          <p:cNvSpPr txBox="1"/>
          <p:nvPr/>
        </p:nvSpPr>
        <p:spPr>
          <a:xfrm>
            <a:off x="1666875" y="4324350"/>
            <a:ext cx="2262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www.naukri.com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