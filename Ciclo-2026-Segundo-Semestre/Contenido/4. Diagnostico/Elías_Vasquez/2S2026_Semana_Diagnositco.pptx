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10287000" cx="18288000"/>
  <p:notesSz cx="6858000" cy="9144000"/>
  <p:embeddedFontLst>
    <p:embeddedFont>
      <p:font typeface="Open Sans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1" roundtripDataSignature="AMtx7mjUm25p78CvAFl/fB2rZ7imYEdN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OpenSans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-italic.fntdata"/><Relationship Id="rId6" Type="http://schemas.openxmlformats.org/officeDocument/2006/relationships/slide" Target="slides/slide1.xml"/><Relationship Id="rId18" Type="http://schemas.openxmlformats.org/officeDocument/2006/relationships/font" Target="fonts/OpenSa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4" name="Google Shape;8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1" name="Google Shape;151;p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8" name="Google Shape;158;p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p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3" name="Google Shape;17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 1">
  <p:cSld name="CUSTOM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ec0f923e3f_0_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8" name="Google Shape;38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9" name="Google Shape;39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9" name="Google Shape;59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0" name="Google Shape;60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7" name="Google Shape;6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" name="Google Shape;87;p1"/>
          <p:cNvSpPr/>
          <p:nvPr/>
        </p:nvSpPr>
        <p:spPr>
          <a:xfrm>
            <a:off x="1969850" y="3030151"/>
            <a:ext cx="15055872" cy="3260981"/>
          </a:xfrm>
          <a:custGeom>
            <a:rect b="b" l="l" r="r" t="t"/>
            <a:pathLst>
              <a:path extrusionOk="0" h="1811656" w="9002016">
                <a:moveTo>
                  <a:pt x="0" y="0"/>
                </a:moveTo>
                <a:lnTo>
                  <a:pt x="9002016" y="0"/>
                </a:lnTo>
                <a:lnTo>
                  <a:pt x="9002016" y="1811656"/>
                </a:lnTo>
                <a:lnTo>
                  <a:pt x="0" y="18116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88" name="Google Shape;88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670025" y="1766775"/>
            <a:ext cx="9524676" cy="18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 txBox="1"/>
          <p:nvPr/>
        </p:nvSpPr>
        <p:spPr>
          <a:xfrm>
            <a:off x="5792614" y="6291132"/>
            <a:ext cx="67029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Ingeniería de Ciencias Y Sistemas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348657" y="9201150"/>
            <a:ext cx="6545100" cy="11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40"/>
              <a:buFont typeface="Arial"/>
              <a:buNone/>
            </a:pPr>
            <a:r>
              <a:rPr b="1" lang="en-US" sz="3140">
                <a:latin typeface="Open Sans"/>
                <a:ea typeface="Open Sans"/>
                <a:cs typeface="Open Sans"/>
                <a:sym typeface="Open Sans"/>
              </a:rPr>
              <a:t>Elías Abraham Vasquez Soto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40"/>
              <a:buFont typeface="Arial"/>
              <a:buNone/>
            </a:pPr>
            <a:r>
              <a:t/>
            </a:r>
            <a:endParaRPr b="1" i="0" sz="314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2904236" y="3801950"/>
            <a:ext cx="13187100" cy="15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lang="en-US" sz="4200">
                <a:latin typeface="Open Sans"/>
                <a:ea typeface="Open Sans"/>
                <a:cs typeface="Open Sans"/>
                <a:sym typeface="Open Sans"/>
              </a:rPr>
              <a:t>INTRODUCCIÓN A LA PROGRAMACIÓN Y COMPUTACIÓN 1</a:t>
            </a:r>
            <a:endParaRPr b="1" i="0" sz="4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/>
          <p:nvPr/>
        </p:nvSpPr>
        <p:spPr>
          <a:xfrm>
            <a:off x="0" y="27878"/>
            <a:ext cx="18288000" cy="10401300"/>
          </a:xfrm>
          <a:custGeom>
            <a:rect b="b" l="l" r="r" t="t"/>
            <a:pathLst>
              <a:path extrusionOk="0" h="10401300" w="18288000">
                <a:moveTo>
                  <a:pt x="0" y="0"/>
                </a:moveTo>
                <a:lnTo>
                  <a:pt x="18288000" y="0"/>
                </a:lnTo>
                <a:lnTo>
                  <a:pt x="18288000" y="10401300"/>
                </a:lnTo>
                <a:lnTo>
                  <a:pt x="0" y="10401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7" name="Google Shape;97;p2"/>
          <p:cNvSpPr txBox="1"/>
          <p:nvPr/>
        </p:nvSpPr>
        <p:spPr>
          <a:xfrm>
            <a:off x="3102001" y="2985175"/>
            <a:ext cx="12084000" cy="32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99"/>
              <a:buFont typeface="Arial"/>
              <a:buNone/>
            </a:pPr>
            <a:r>
              <a:rPr b="1" i="0" lang="en-US" sz="8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Semana de Diagnóstico</a:t>
            </a:r>
            <a:endParaRPr b="1" i="0" sz="879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/>
          <p:nvPr/>
        </p:nvSpPr>
        <p:spPr>
          <a:xfrm>
            <a:off x="4000075" y="2756063"/>
            <a:ext cx="9896507" cy="7627980"/>
          </a:xfrm>
          <a:custGeom>
            <a:rect b="b" l="l" r="r" t="t"/>
            <a:pathLst>
              <a:path extrusionOk="0" h="5913163" w="9896507">
                <a:moveTo>
                  <a:pt x="0" y="0"/>
                </a:moveTo>
                <a:lnTo>
                  <a:pt x="9896507" y="0"/>
                </a:lnTo>
                <a:lnTo>
                  <a:pt x="9896507" y="5913163"/>
                </a:lnTo>
                <a:lnTo>
                  <a:pt x="0" y="59131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3" name="Google Shape;103;p3"/>
          <p:cNvSpPr/>
          <p:nvPr/>
        </p:nvSpPr>
        <p:spPr>
          <a:xfrm>
            <a:off x="3493371" y="-730682"/>
            <a:ext cx="11301259" cy="5127946"/>
          </a:xfrm>
          <a:custGeom>
            <a:rect b="b" l="l" r="r" t="t"/>
            <a:pathLst>
              <a:path extrusionOk="0" h="5127946" w="11301259">
                <a:moveTo>
                  <a:pt x="0" y="0"/>
                </a:moveTo>
                <a:lnTo>
                  <a:pt x="11301258" y="0"/>
                </a:lnTo>
                <a:lnTo>
                  <a:pt x="11301258" y="5127946"/>
                </a:lnTo>
                <a:lnTo>
                  <a:pt x="0" y="51279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4" name="Google Shape;104;p3"/>
          <p:cNvSpPr/>
          <p:nvPr/>
        </p:nvSpPr>
        <p:spPr>
          <a:xfrm>
            <a:off x="4875920" y="3204230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5" name="Google Shape;105;p3"/>
          <p:cNvSpPr txBox="1"/>
          <p:nvPr/>
        </p:nvSpPr>
        <p:spPr>
          <a:xfrm>
            <a:off x="5720910" y="3500263"/>
            <a:ext cx="488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1. Presentación del tutor</a:t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4875920" y="4232850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7" name="Google Shape;107;p3"/>
          <p:cNvSpPr txBox="1"/>
          <p:nvPr/>
        </p:nvSpPr>
        <p:spPr>
          <a:xfrm>
            <a:off x="5695422" y="4589013"/>
            <a:ext cx="706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2. Evaluación de Conocimientos Previos                             </a:t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4824745" y="5310921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9" name="Google Shape;109;p3"/>
          <p:cNvSpPr/>
          <p:nvPr/>
        </p:nvSpPr>
        <p:spPr>
          <a:xfrm>
            <a:off x="4824745" y="6413615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0" name="Google Shape;110;p3"/>
          <p:cNvSpPr/>
          <p:nvPr/>
        </p:nvSpPr>
        <p:spPr>
          <a:xfrm>
            <a:off x="4824745" y="7516297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20"/>
                </a:lnTo>
                <a:lnTo>
                  <a:pt x="0" y="824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1" name="Google Shape;111;p3"/>
          <p:cNvSpPr txBox="1"/>
          <p:nvPr/>
        </p:nvSpPr>
        <p:spPr>
          <a:xfrm>
            <a:off x="5720893" y="5677738"/>
            <a:ext cx="7922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3. Presentación de los Estudiantes                                </a:t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2" name="Google Shape;112;p3"/>
          <p:cNvSpPr txBox="1"/>
          <p:nvPr/>
        </p:nvSpPr>
        <p:spPr>
          <a:xfrm>
            <a:off x="5682599" y="6710914"/>
            <a:ext cx="592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4.  Horarios de Calificación                          </a:t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3" name="Google Shape;113;p3"/>
          <p:cNvSpPr txBox="1"/>
          <p:nvPr/>
        </p:nvSpPr>
        <p:spPr>
          <a:xfrm>
            <a:off x="5720892" y="7744063"/>
            <a:ext cx="805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5. Programa del Curso                 					</a:t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4" name="Google Shape;114;p3"/>
          <p:cNvSpPr txBox="1"/>
          <p:nvPr/>
        </p:nvSpPr>
        <p:spPr>
          <a:xfrm>
            <a:off x="5307667" y="8717000"/>
            <a:ext cx="805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6. Evaluación de Conocimientos del Curso Actual                                  </a:t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5" name="Google Shape;115;p3"/>
          <p:cNvSpPr txBox="1"/>
          <p:nvPr/>
        </p:nvSpPr>
        <p:spPr>
          <a:xfrm>
            <a:off x="4618192" y="9689925"/>
            <a:ext cx="805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7. Tarea de fortalecimiento académico                                 </a:t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4824745" y="8444722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20"/>
                </a:lnTo>
                <a:lnTo>
                  <a:pt x="0" y="824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7" name="Google Shape;117;p3"/>
          <p:cNvSpPr/>
          <p:nvPr/>
        </p:nvSpPr>
        <p:spPr>
          <a:xfrm>
            <a:off x="4875920" y="9462172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20"/>
                </a:lnTo>
                <a:lnTo>
                  <a:pt x="0" y="824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"/>
          <p:cNvSpPr txBox="1"/>
          <p:nvPr/>
        </p:nvSpPr>
        <p:spPr>
          <a:xfrm>
            <a:off x="489650" y="731175"/>
            <a:ext cx="11466900" cy="20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1. Presentación del tutor</a:t>
            </a:r>
            <a:endParaRPr b="1" i="0" sz="5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t/>
            </a:r>
            <a:endParaRPr b="1" i="0" sz="5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3" name="Google Shape;123;p4"/>
          <p:cNvSpPr txBox="1"/>
          <p:nvPr/>
        </p:nvSpPr>
        <p:spPr>
          <a:xfrm>
            <a:off x="1651700" y="2249825"/>
            <a:ext cx="9742500" cy="70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Open Sans"/>
                <a:ea typeface="Open Sans"/>
                <a:cs typeface="Open Sans"/>
                <a:sym typeface="Open Sans"/>
              </a:rPr>
              <a:t>Programador e instructor de programación con experiencia en desarrollo de software y formación de nuevos programadores.</a:t>
            </a:r>
            <a:endParaRPr sz="2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Open Sans"/>
                <a:ea typeface="Open Sans"/>
                <a:cs typeface="Open Sans"/>
                <a:sym typeface="Open Sans"/>
              </a:rPr>
              <a:t>F</a:t>
            </a:r>
            <a:r>
              <a:rPr lang="en-US" sz="2400">
                <a:latin typeface="Open Sans"/>
                <a:ea typeface="Open Sans"/>
                <a:cs typeface="Open Sans"/>
                <a:sym typeface="Open Sans"/>
              </a:rPr>
              <a:t>ormación y experiencia</a:t>
            </a:r>
            <a:endParaRPr sz="2400"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SzPts val="2400"/>
              <a:buFont typeface="Open Sans"/>
              <a:buChar char="●"/>
            </a:pPr>
            <a:r>
              <a:rPr lang="en-US" sz="2400">
                <a:latin typeface="Open Sans"/>
                <a:ea typeface="Open Sans"/>
                <a:cs typeface="Open Sans"/>
                <a:sym typeface="Open Sans"/>
              </a:rPr>
              <a:t>Estudiante de Ingeniería  en Ciencias y Sistemas</a:t>
            </a:r>
            <a:endParaRPr sz="2400"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SzPts val="2400"/>
              <a:buFont typeface="Open Sans"/>
              <a:buChar char="●"/>
            </a:pPr>
            <a:r>
              <a:rPr lang="en-US" sz="2400">
                <a:latin typeface="Open Sans"/>
                <a:ea typeface="Open Sans"/>
                <a:cs typeface="Open Sans"/>
                <a:sym typeface="Open Sans"/>
              </a:rPr>
              <a:t>Experiencia profesional en desarrollo de software (especialmente backend).</a:t>
            </a:r>
            <a:endParaRPr sz="2400"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SzPts val="2400"/>
              <a:buFont typeface="Open Sans"/>
              <a:buChar char="●"/>
            </a:pPr>
            <a:r>
              <a:rPr lang="en-US" sz="2400">
                <a:latin typeface="Open Sans"/>
                <a:ea typeface="Open Sans"/>
                <a:cs typeface="Open Sans"/>
                <a:sym typeface="Open Sans"/>
              </a:rPr>
              <a:t>Experiencia en Mainframe y COBOL.</a:t>
            </a:r>
            <a:endParaRPr sz="2400"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SzPts val="2400"/>
              <a:buFont typeface="Open Sans"/>
              <a:buChar char="●"/>
            </a:pPr>
            <a:r>
              <a:rPr lang="en-US" sz="2400">
                <a:latin typeface="Open Sans"/>
                <a:ea typeface="Open Sans"/>
                <a:cs typeface="Open Sans"/>
                <a:sym typeface="Open Sans"/>
              </a:rPr>
              <a:t>Certificación PCAP (Python Certified Associate Programmer), AWS Cloud Practitioner y múltiples de mainframe otorgadas por IBM.</a:t>
            </a:r>
            <a:endParaRPr sz="2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latin typeface="Open Sans"/>
                <a:ea typeface="Open Sans"/>
                <a:cs typeface="Open Sans"/>
                <a:sym typeface="Open Sans"/>
              </a:rPr>
              <a:t>Correo:</a:t>
            </a:r>
            <a:r>
              <a:rPr lang="en-US" sz="2400">
                <a:latin typeface="Open Sans"/>
                <a:ea typeface="Open Sans"/>
                <a:cs typeface="Open Sans"/>
                <a:sym typeface="Open Sans"/>
              </a:rPr>
              <a:t> 3034289450108@ingenieria.usac.edu.gt*</a:t>
            </a:r>
            <a:endParaRPr sz="2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latin typeface="Open Sans"/>
                <a:ea typeface="Open Sans"/>
                <a:cs typeface="Open Sans"/>
                <a:sym typeface="Open Sans"/>
              </a:rPr>
              <a:t>* El único medio de comunicación será a través de anuncios de UEDI</a:t>
            </a:r>
            <a:endParaRPr sz="24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24" name="Google Shape;124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85700" y="2456325"/>
            <a:ext cx="5506550" cy="550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1300" y="390350"/>
            <a:ext cx="1470400" cy="147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"/>
          <p:cNvSpPr txBox="1"/>
          <p:nvPr/>
        </p:nvSpPr>
        <p:spPr>
          <a:xfrm>
            <a:off x="2042550" y="1118800"/>
            <a:ext cx="142029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2. Evaluación de Conocimientos Previos                             </a:t>
            </a:r>
            <a:endParaRPr b="1" i="0" sz="56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31" name="Google Shape;131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300" y="390350"/>
            <a:ext cx="1470400" cy="147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48413" y="4116150"/>
            <a:ext cx="5591175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5"/>
          <p:cNvSpPr txBox="1"/>
          <p:nvPr/>
        </p:nvSpPr>
        <p:spPr>
          <a:xfrm>
            <a:off x="3503100" y="6277850"/>
            <a:ext cx="11281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900">
                <a:latin typeface="Open Sans"/>
                <a:ea typeface="Open Sans"/>
                <a:cs typeface="Open Sans"/>
                <a:sym typeface="Open Sans"/>
              </a:rPr>
              <a:t>Diagnóstico - Introducción a los Algoritmos y Flujo de Datos</a:t>
            </a:r>
            <a:endParaRPr b="1" i="0" sz="29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"/>
          <p:cNvSpPr txBox="1"/>
          <p:nvPr/>
        </p:nvSpPr>
        <p:spPr>
          <a:xfrm>
            <a:off x="489650" y="596275"/>
            <a:ext cx="17588400" cy="20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3. Presentación de los Estudiantes </a:t>
            </a:r>
            <a:endParaRPr b="1" i="0" sz="5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t/>
            </a:r>
            <a:endParaRPr b="1" i="0" sz="5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6"/>
          <p:cNvSpPr txBox="1"/>
          <p:nvPr/>
        </p:nvSpPr>
        <p:spPr>
          <a:xfrm>
            <a:off x="5887696" y="2906155"/>
            <a:ext cx="679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Presentación aleatori</a:t>
            </a:r>
            <a:r>
              <a:rPr b="1" lang="en-US" sz="2400">
                <a:latin typeface="Open Sans"/>
                <a:ea typeface="Open Sans"/>
                <a:cs typeface="Open Sans"/>
                <a:sym typeface="Open Sans"/>
              </a:rPr>
              <a:t>a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 5 estudiantes</a:t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40" name="Google Shape;140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300" y="390350"/>
            <a:ext cx="1470400" cy="147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27075" y="3275446"/>
            <a:ext cx="9275150" cy="568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"/>
          <p:cNvSpPr txBox="1"/>
          <p:nvPr/>
        </p:nvSpPr>
        <p:spPr>
          <a:xfrm>
            <a:off x="489650" y="596275"/>
            <a:ext cx="16070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4.  Horarios de Calificación                          </a:t>
            </a:r>
            <a:endParaRPr b="1" i="0" sz="5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47" name="Google Shape;147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300" y="390350"/>
            <a:ext cx="1470400" cy="147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7"/>
          <p:cNvPicPr preferRelativeResize="0"/>
          <p:nvPr/>
        </p:nvPicPr>
        <p:blipFill rotWithShape="1">
          <a:blip r:embed="rId4">
            <a:alphaModFix/>
          </a:blip>
          <a:srcRect b="14038" l="0" r="0" t="0"/>
          <a:stretch/>
        </p:blipFill>
        <p:spPr>
          <a:xfrm>
            <a:off x="3285250" y="2403925"/>
            <a:ext cx="10479498" cy="6005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"/>
          <p:cNvSpPr txBox="1"/>
          <p:nvPr/>
        </p:nvSpPr>
        <p:spPr>
          <a:xfrm>
            <a:off x="489650" y="596275"/>
            <a:ext cx="11466900" cy="20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5. Programa del Curso </a:t>
            </a:r>
            <a:endParaRPr b="1" i="0" sz="5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t/>
            </a:r>
            <a:endParaRPr b="1" i="0" sz="5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54" name="Google Shape;154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300" y="390350"/>
            <a:ext cx="1470400" cy="147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05600" y="2665075"/>
            <a:ext cx="4876800" cy="487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"/>
          <p:cNvSpPr txBox="1"/>
          <p:nvPr/>
        </p:nvSpPr>
        <p:spPr>
          <a:xfrm>
            <a:off x="3410550" y="969200"/>
            <a:ext cx="11466900" cy="20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5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6. Evaluación de Conocimientos del Curso Actual                                  </a:t>
            </a:r>
            <a:endParaRPr b="1" i="0" sz="56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61" name="Google Shape;161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48413" y="4340925"/>
            <a:ext cx="5591175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9"/>
          <p:cNvSpPr txBox="1"/>
          <p:nvPr/>
        </p:nvSpPr>
        <p:spPr>
          <a:xfrm>
            <a:off x="3410550" y="6515850"/>
            <a:ext cx="114669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900">
                <a:latin typeface="Open Sans"/>
                <a:ea typeface="Open Sans"/>
                <a:cs typeface="Open Sans"/>
                <a:sym typeface="Open Sans"/>
              </a:rPr>
              <a:t>Diagnóstico - Introducción a la Programaci</a:t>
            </a:r>
            <a:r>
              <a:rPr b="1" lang="en-US" sz="2900">
                <a:latin typeface="Open Sans"/>
                <a:ea typeface="Open Sans"/>
                <a:cs typeface="Open Sans"/>
                <a:sym typeface="Open Sans"/>
              </a:rPr>
              <a:t>ón y Computación 1</a:t>
            </a:r>
            <a:endParaRPr b="1" i="0" sz="29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63" name="Google Shape;163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1300" y="390350"/>
            <a:ext cx="1470400" cy="147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"/>
          <p:cNvSpPr txBox="1"/>
          <p:nvPr/>
        </p:nvSpPr>
        <p:spPr>
          <a:xfrm>
            <a:off x="489650" y="596275"/>
            <a:ext cx="18288000" cy="20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7. Tarea de fortalecimiento académico </a:t>
            </a:r>
            <a:endParaRPr b="1" i="0" sz="5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t/>
            </a:r>
            <a:endParaRPr b="1" i="0" sz="5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9" name="Google Shape;169;p10"/>
          <p:cNvSpPr txBox="1"/>
          <p:nvPr/>
        </p:nvSpPr>
        <p:spPr>
          <a:xfrm>
            <a:off x="1411655" y="2192150"/>
            <a:ext cx="15464700" cy="60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Open Sans"/>
                <a:ea typeface="Open Sans"/>
                <a:cs typeface="Open Sans"/>
                <a:sym typeface="Open Sans"/>
              </a:rPr>
              <a:t>Objetivo:</a:t>
            </a:r>
            <a:r>
              <a:rPr lang="en-US" sz="2400">
                <a:latin typeface="Open Sans"/>
                <a:ea typeface="Open Sans"/>
                <a:cs typeface="Open Sans"/>
                <a:sym typeface="Open Sans"/>
              </a:rPr>
              <a:t> reforzar los conocimientos fundamentales adquiridos en el curso prerrequisito.</a:t>
            </a:r>
            <a:endParaRPr sz="2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Open Sans"/>
                <a:ea typeface="Open Sans"/>
                <a:cs typeface="Open Sans"/>
                <a:sym typeface="Open Sans"/>
              </a:rPr>
              <a:t>Esta actividad servirá como un repaso de conceptos clave y permitirá a los estudiantes practicar antes de iniciar formalmente los contenidos de IPC1.</a:t>
            </a:r>
            <a:endParaRPr sz="2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Instrucciones</a:t>
            </a:r>
            <a:r>
              <a:rPr b="1"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: 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Resolver cuestionario de conceptos básicos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Elaborar pseudocódigo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Crear programa básico en Java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Identificar conceptos POO: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Crear clase sencilla en Java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Ver enunciado de la tarea en UEDI.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70" name="Google Shape;1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300" y="390350"/>
            <a:ext cx="1470400" cy="147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2"/>
          <p:cNvSpPr/>
          <p:nvPr/>
        </p:nvSpPr>
        <p:spPr>
          <a:xfrm>
            <a:off x="915620" y="118050"/>
            <a:ext cx="16659109" cy="10287000"/>
          </a:xfrm>
          <a:custGeom>
            <a:rect b="b" l="l" r="r" t="t"/>
            <a:pathLst>
              <a:path extrusionOk="0" h="10287000" w="16659109">
                <a:moveTo>
                  <a:pt x="0" y="0"/>
                </a:moveTo>
                <a:lnTo>
                  <a:pt x="16659110" y="0"/>
                </a:lnTo>
                <a:lnTo>
                  <a:pt x="1665911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